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79565"/>
  </p:normalViewPr>
  <p:slideViewPr>
    <p:cSldViewPr snapToGrid="0" snapToObjects="1">
      <p:cViewPr>
        <p:scale>
          <a:sx n="103" d="100"/>
          <a:sy n="103" d="100"/>
        </p:scale>
        <p:origin x="832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61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numbered gap is closed by the tagged activities on the Closing the gaps slide: gap 1 by activities 1 and 6, gap 2 by activity 2, gap 3 by 3a/3b/3c, gap 4 by activity 4, gap 5 by activity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cells and the Standard article that mandates them: 2-2 risk tiering; 2-3 design (2-3-1c AI capability, 2-3-1d human oversight, 2-3-2 data fit-for-use); 2-4 approval (2-4-3 BCP, 2-4-6 vendor TPRM); 2-5 implementation (2-5-2 override/appeal, 2-5-3 monitoring plan, 2-5-6 rollback, 2-5-9 incident tracking); 2-6 testing (2-6-2c fail safely, 2-6-4 test sets auditable, 2-6-6 escalate to GCRMC); 2-7 privacy; 2-9 fairness; 2-11 ongoing monitoring (annual minimums); 2-12 operation and use. Baseline test set = golden dataset (same artifact). Cell-to-activity mapping is on the Gap mapping sheet of AI_RACI_7Activities.xlsx.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need to achieve (moved from the v7 table):</a:t>
            </a:r>
          </a:p>
          <a:p>
            <a:endParaRPr lang="en-US" dirty="0"/>
          </a:p>
          <a:p>
            <a:r>
              <a:rPr lang="en-US" dirty="0"/>
              <a:t>1 Weekly / monthly monitoring: catch model/input drift between the Standard's annual review points, on a weekly/monthly cadence. IT team calculates and populates the monitoring data (accuracy, override rates, input distribution); Ops Team Lead reviews and interprets. Operations team (A) makes sure the check is performed. R&amp;C on thresholds. GCRMC on breaches.</a:t>
            </a:r>
          </a:p>
          <a:p>
            <a:endParaRPr lang="en-US" dirty="0"/>
          </a:p>
          <a:p>
            <a:r>
              <a:rPr lang="en-US" dirty="0"/>
              <a:t>2 Override-rate-per-field: use the rate at which analysts override each field as the earliest indicator the model is degrading, ahead of the next scheduled accuracy test.</a:t>
            </a:r>
          </a:p>
          <a:p>
            <a:endParaRPr lang="en-US" dirty="0"/>
          </a:p>
          <a:p>
            <a:r>
              <a:rPr lang="en-US" dirty="0"/>
              <a:t>3a Phased rollout, design: a defined graduated release plan (10&gt;25&gt;50&gt;100%) with explicit gate criteria, a tested rollback path, and an auditable decision log. IT team (A) because rollback mechanism and decision log are build items.</a:t>
            </a:r>
          </a:p>
          <a:p>
            <a:endParaRPr lang="en-US" dirty="0"/>
          </a:p>
          <a:p>
            <a:r>
              <a:rPr lang="en-US" dirty="0"/>
              <a:t>3b Re-validate: confirm accuracy holds at each traffic level before promoting; 10% performance does not guarantee 100%.</a:t>
            </a:r>
          </a:p>
          <a:p>
            <a:endParaRPr lang="en-US" dirty="0"/>
          </a:p>
          <a:p>
            <a:r>
              <a:rPr lang="en-US" dirty="0"/>
              <a:t>3c Approval per increase: a formal go decision per gate (not a single up-front approval) before traffic is raised. R&amp;C sign-off at each gate is folded in here (R&amp;C is Consulted on every gate).</a:t>
            </a:r>
          </a:p>
          <a:p>
            <a:endParaRPr lang="en-US" dirty="0"/>
          </a:p>
          <a:p>
            <a:r>
              <a:rPr lang="en-US" dirty="0"/>
              <a:t>4 HITL erosion: detect and reverse decay in oversight quality over time (analysts default-accepting AI, reason codes left blank), via override-log spot-checks in Phase 5 and Phase 6.</a:t>
            </a:r>
          </a:p>
          <a:p>
            <a:endParaRPr lang="en-US" dirty="0"/>
          </a:p>
          <a:p>
            <a:r>
              <a:rPr lang="en-US" dirty="0"/>
              <a:t>5 Monthly run-metrics pack: one pack of numbers the operations team manages the use case from each month (accuracy, override rates, input mix, AI-routed vs. manual, incidents, open actions). The upward GCRMC report is a cut of this pack.</a:t>
            </a:r>
          </a:p>
          <a:p>
            <a:endParaRPr lang="en-US" dirty="0"/>
          </a:p>
          <a:p>
            <a:r>
              <a:rPr lang="en-US" dirty="0"/>
              <a:t>6 Operational watch &amp; prompt upkeep: ongoing vigilance for new/unexpected input types and data drift; keep prompt examples current; ensure the solution clearly shows AI-routed vs. manual cases. IT team (A) because prompt changes and the AI-routed flag are solution changes.</a:t>
            </a:r>
          </a:p>
          <a:p>
            <a:endParaRPr lang="en-US" dirty="0"/>
          </a:p>
          <a:p>
            <a:r>
              <a:rPr lang="en-US" dirty="0"/>
              <a:t>Role notes: AI Business Owner is 1LOD business (Standard 2-1). Operations team = the operations line team that owns the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6320" y="137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AS-IS     </a:t>
            </a: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  AI lifecycle controls     Closing the gaps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AI use cases for Wholesale Operations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Artificial-Intelligence-Governance-</a:t>
            </a:r>
            <a:r>
              <a:rPr lang="en-US" sz="850" i="1" dirty="0" err="1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Policy_EN</a:t>
            </a: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(aligned to Article 9)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91440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Objective: </a:t>
            </a: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safely running Operations AI use cases in production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1338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344168"/>
            <a:ext cx="54864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Nomura already has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1737360"/>
            <a:ext cx="3246120" cy="2651760"/>
          </a:xfrm>
          <a:prstGeom prst="rect">
            <a:avLst/>
          </a:prstGeom>
          <a:noFill/>
          <a:ln w="9525">
            <a:solidFill>
              <a:srgbClr val="5B6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1828800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Governance Policy + Standard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23160"/>
            <a:ext cx="297180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and Tiering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and Accountability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Privacy, Security, and Prohibited Use Controls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and Ethical Safeguards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Transparency, Explainability, and Fairness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Validation, and Enforcement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096512"/>
            <a:ext cx="2971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 Gov Policy &amp; Standard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4773168" y="173736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10328" y="1828800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NTI (New Technology Integration) Process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10328" y="2423160"/>
            <a:ext cx="297180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910328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via TDG portal (AI, Cloud Data, InfoSec)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+ third-party model review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data transfer + risk flags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approval chain ending at TDG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RCSA linkage captured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910328" y="4096512"/>
            <a:ext cx="2971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NTI filing &amp; approval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110728" y="2697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8677656" y="1737360"/>
            <a:ext cx="32461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5B66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14816" y="1828800"/>
            <a:ext cx="2971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ORM (Operational Risk Management)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14816" y="2423160"/>
            <a:ext cx="2971800" cy="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814816" y="2487168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Lines of Defense: RCO, ORM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Framework: Event Reporting, RCSA, KRI, Scenario Analysis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10-category operational risk taxonomy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2LOD oversight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Acceptance governance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814816" y="4096512"/>
            <a:ext cx="2971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ORM Framework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11480" y="4663440"/>
            <a:ext cx="113385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Underpinned by the 9 Responsible &amp; Trustworthy AI Principles (AI Governance Policy, Article 9)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" y="5074920"/>
            <a:ext cx="2157984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" y="516636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21208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5074920"/>
            <a:ext cx="1609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Reliability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06624" y="5074920"/>
            <a:ext cx="2157984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16352" y="516636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2816352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209544" y="5074920"/>
            <a:ext cx="1609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01768" y="5074920"/>
            <a:ext cx="2157984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111496" y="516636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111496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504688" y="5074920"/>
            <a:ext cx="1609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96912" y="5074920"/>
            <a:ext cx="2157984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06640" y="516636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406640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799832" y="5074920"/>
            <a:ext cx="1609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592056" y="5074920"/>
            <a:ext cx="2157984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701784" y="516636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701784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094976" y="5074920"/>
            <a:ext cx="160934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5715000"/>
            <a:ext cx="273177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21208" y="580644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521208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" y="5715000"/>
            <a:ext cx="218313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80410" y="5715000"/>
            <a:ext cx="273177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3390138" y="580644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3390138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3783330" y="5715000"/>
            <a:ext cx="218313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49340" y="5715000"/>
            <a:ext cx="273177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59068" y="580644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6259068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652260" y="5715000"/>
            <a:ext cx="218313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018270" y="5715000"/>
            <a:ext cx="2731770" cy="502920"/>
          </a:xfrm>
          <a:prstGeom prst="rect">
            <a:avLst/>
          </a:prstGeom>
          <a:solidFill>
            <a:srgbClr val="F4F6F8"/>
          </a:solidFill>
          <a:ln w="6350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127998" y="5806440"/>
            <a:ext cx="320040" cy="32004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9127998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9521190" y="5715000"/>
            <a:ext cx="218313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Contestability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589520" y="1325880"/>
            <a:ext cx="4069080" cy="292608"/>
          </a:xfrm>
          <a:prstGeom prst="rect">
            <a:avLst/>
          </a:prstGeom>
          <a:solidFill>
            <a:srgbClr val="FFF2CC"/>
          </a:solidFill>
          <a:ln w="9525">
            <a:solidFill>
              <a:srgbClr val="C8A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7589520" y="1325880"/>
            <a:ext cx="4069080" cy="292608"/>
          </a:xfrm>
          <a:prstGeom prst="rect">
            <a:avLst/>
          </a:prstGeom>
          <a:solidFill>
            <a:srgbClr val="FFFF00"/>
          </a:solidFill>
          <a:ln/>
        </p:spPr>
        <p:txBody>
          <a:bodyPr wrap="square" lIns="635" tIns="635" rIns="635" bIns="635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</a:t>
            </a:r>
            <a:r>
              <a:rPr lang="en-US" sz="8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NTI and ORM source placeholders with the Confluence links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6320" y="137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AS-IS     </a:t>
            </a:r>
            <a:r>
              <a:rPr lang="en-US" sz="9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    </a:t>
            </a: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lifecycle controls     Closing the gaps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to be addressed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446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Disclaimer / Annotations: aligned to NIST AI RMF Generative AI Profile, https://nvlpubs.nist.gov/nistpubs/ai/NIST.AI.600-1.pdf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91440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and Standard mandate </a:t>
            </a:r>
            <a:r>
              <a:rPr lang="en-US" sz="1300" b="1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r>
              <a:rPr lang="en-US" sz="13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control and </a:t>
            </a:r>
            <a:r>
              <a:rPr lang="en-US" sz="1300" b="1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</a:t>
            </a:r>
            <a:r>
              <a:rPr lang="en-US" sz="13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monitoring must happen. The gap is the operations line team's </a:t>
            </a:r>
            <a:r>
              <a:rPr lang="en-US" sz="1300" b="1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"how" and "cadence"</a:t>
            </a:r>
            <a:r>
              <a:rPr lang="en-US" sz="13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once the AI use case is live, plus techniques the Standard does not name.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4846320" cy="502920"/>
          </a:xfrm>
          <a:prstGeom prst="rect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48463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94360" y="2148840"/>
            <a:ext cx="44805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HOW the Standard does not specify: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274320" cy="27432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526030"/>
            <a:ext cx="41605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line team monitoring duties on a weekly / monthly cadence (Standard sets only annual minimums; weekly/monthly duties undefined)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255264"/>
            <a:ext cx="274320" cy="27432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2980" y="3291840"/>
            <a:ext cx="41605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rate per field as the earliest drift signal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50208"/>
            <a:ext cx="274320" cy="27432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9436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973068"/>
            <a:ext cx="41605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traffic rollout (10 &gt; 25 &gt; 50 &gt; 100%) with formal review gates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645152"/>
            <a:ext cx="274320" cy="27432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9436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4681728"/>
            <a:ext cx="4160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human-in-the-loop quality erosion over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340096"/>
            <a:ext cx="274320" cy="274320"/>
          </a:xfrm>
          <a:prstGeom prst="ellips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5340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5294376"/>
            <a:ext cx="41605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 pack: content and cadence for the line team.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GCRMC = Group CIO Risk Management Committee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rot="5400000">
            <a:off x="5440680" y="3611880"/>
            <a:ext cx="457200" cy="411480"/>
          </a:xfrm>
          <a:prstGeom prst="triangle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12648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control layers to address the gaps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26480" y="1920240"/>
            <a:ext cx="5623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1920240"/>
            <a:ext cx="685800" cy="914400"/>
          </a:xfrm>
          <a:prstGeom prst="rect">
            <a:avLst/>
          </a:prstGeom>
          <a:solidFill>
            <a:srgbClr val="1B2140"/>
          </a:solidFill>
          <a:ln w="12700">
            <a:solidFill>
              <a:srgbClr val="1B21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126480" y="192024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2304288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to the model, prompt design, and how outputs are stored and handled. Lineage/ Logs on AI decision making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5623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26480" y="2971800"/>
            <a:ext cx="685800" cy="914400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126480" y="29718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3044952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4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355848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selection, accuracy vs. baseline, and drift detection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4023360"/>
            <a:ext cx="5623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6480" y="4023360"/>
            <a:ext cx="685800" cy="914400"/>
          </a:xfrm>
          <a:prstGeom prst="rect">
            <a:avLst/>
          </a:prstGeom>
          <a:solidFill>
            <a:srgbClr val="C00019"/>
          </a:solidFill>
          <a:ln w="12700">
            <a:solidFill>
              <a:srgbClr val="C0001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126480" y="402336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4096512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4407408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action boundaries, override mechanism, and fallback if AI use case is down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126480" y="5074920"/>
            <a:ext cx="5623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126480" y="5074920"/>
            <a:ext cx="6858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126480" y="507492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6949440" y="5458968"/>
            <a:ext cx="47091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RACI, RCSA, KRIs, and audit trail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6320" y="137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AS-IS     The Gap     </a:t>
            </a:r>
            <a:r>
              <a:rPr lang="en-US" sz="9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lifecycle controls     </a:t>
            </a: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lifecycle controls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896112"/>
            <a:ext cx="11338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AI-specific controls depicted. 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11338560" cy="46786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PHASE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DATA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5A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OPERATIONS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1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GOVERNANCE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Initiation &amp; 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data sensitivity &amp; permissibility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AI capability needed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steps for AI vs. must-stay-human steps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RACI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data quality &amp; availability for the use case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'good output'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 existing control points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in NTI intake 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fallback to current manual process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R&amp;C on use case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rowSpan="3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Design &amp; Build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prompt structure with balanced examples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model from approved options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action boundaries &amp; human-in-the-loop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NTI &amp; TPRM tickets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up data access per permissibility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confidence thresholds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override / feedback / appeal mechanism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RCSA update for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output handling: storage, access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baseline test 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kill switch + rollback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AI action boundaries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Testing &amp; UAT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Finalise &amp; lock the baseline test 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accuracy testing vs.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override mechanism &amp; verify logging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per RACI on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prompt quality against the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&amp; agree confidence thresholds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fallback by simulating an outage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the RCSA update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with adversarial &amp; outlier inputs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testing; rebalance examples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action boundaries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test data recorded &amp; auditable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known failure modes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Prod Parallel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for unexpected input types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[6]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AI vs. analyst outcomes daily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analyst feedback on AI 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per RACI before go-live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output logging in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accuracy vs.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override logs work in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go-live gate criteria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[3a]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systematic differences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fallback works in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2LOD / R&amp;C review of parallel results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parallel accuracy as 2nd reference point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Go-Live (Phased Rollout)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for new input types as traffic scales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[6]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accuracy report at each stage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AI-routed vs. manual cases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[6]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gates, rollback path, decision log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[3a]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logging at each 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override rate per field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[2]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Spot-check override log reason quality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[4]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approval per RACI before each increase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[3c]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Re-validate accuracy at each volume step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[3b]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downstream action without analyst confirmation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 sign-off at each gate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[3c]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bias check if prompt updated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 / rollback if accuracy below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880">
                <a:tc rowSpan="5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F3C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Steady State &amp;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for data drift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[6]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accuracy &amp; override tracking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Spot-check override log reason quality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[4]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metrics review (weekly/monthly)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[5]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Periodically refresh prompt examples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[6]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regression test vs. baseline</a:t>
                      </a: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[1]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trust &amp; comprehension surveys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improve/decline reported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 review of logging &amp; retention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baseline test set review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fallback periodically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review: RCSA, test sets, third-party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Re-check permissibility if a new data type appears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Re-test on vendor model update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action boundaries vs. scope creep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change re-enters lifecycle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bias re-check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4572" marB="457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6053328"/>
            <a:ext cx="320040" cy="201168"/>
          </a:xfrm>
          <a:prstGeom prst="rect">
            <a:avLst/>
          </a:prstGeom>
          <a:solidFill>
            <a:srgbClr val="FFF2CC"/>
          </a:solidFill>
          <a:ln w="9525">
            <a:solidFill>
              <a:srgbClr val="C8A9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04672" y="6067936"/>
            <a:ext cx="286343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gaps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80560" y="6053328"/>
            <a:ext cx="320040" cy="201168"/>
          </a:xfrm>
          <a:prstGeom prst="rect">
            <a:avLst/>
          </a:prstGeom>
          <a:solidFill>
            <a:srgbClr val="D9F2DC"/>
          </a:solidFill>
          <a:ln w="9525">
            <a:solidFill>
              <a:srgbClr val="1E7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46320" y="6058163"/>
            <a:ext cx="4114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AI-specific: already in policy / standard / NTI / ORM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575121" y="6010656"/>
            <a:ext cx="2863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4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[n] = activity number on the next slide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46320" y="1371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AS-IS     The Gap     AI lifecycle controls     </a:t>
            </a:r>
            <a:r>
              <a:rPr lang="en-US" sz="9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36576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00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gaps: activities, metrics and ownership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9144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Responsible     </a:t>
            </a:r>
            <a:r>
              <a:rPr lang="en-US" sz="11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Accountable     </a:t>
            </a:r>
            <a:r>
              <a:rPr lang="en-US" sz="11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Consulted     </a:t>
            </a:r>
            <a:r>
              <a:rPr lang="en-US" sz="1100" b="1" dirty="0">
                <a:solidFill>
                  <a:srgbClr val="C00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Informed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11338560" cy="467258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Gap (Gap slide)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Activity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Matrix cells closed (Lifecycle slide)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Metric tracked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Monitoring cadence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/ monthly monitoring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Validate AI vs. analyst outcomes daily; Flag systematic differences; Record parallel accuracy; Weekly accuracy report at each stage; Weekly accuracy &amp; override tracking; Monthly regression test vs.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vs. baseline by field (weekly); input-category mix vs. baseline, % shift (weekly); AI-routed case volume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Override rate as drift signal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Override-rate-per-field as drift signal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Track override rate per field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rate per field (weekly) and week-on-week delta; flag a field rising three weeks running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Phased rollout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rollout: design gates, rollback, decision 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Define go-live gate criteria; Define gates, rollback path, decision log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criteria signed off before go-live (Y/N); rollback tested and time-to-rollback; % of gates with a logged 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 and 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Phased rollout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rollout: re-validate accuracy at each step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Re-validate accuracy at each volume step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and exception rate at each traffic level vs. gate threshold; rollbacks triggered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Phased rollout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 rollout: approval before each increase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Formal approval per RACI before each increase; R&amp;C sign-off at each 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traffic increases with a documented go decision (target 100%)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Human-in-the-loop erosion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erosion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Spot-check override log reason quality (Phase 5 and Phase 6)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overrides with blank or generic reason code; AI-output acceptance rate trend; median review time per case; spot-check pass 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Operational metrics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run-metrics pack for the use case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Operational metrics review (weekly/monthly)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issued on cadence (% on time); breaches escalated within SLA; pack carries the metrics above plus incidents and open actions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Monitoring cadence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watch &amp; prompt upkeep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C000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</a:t>
                      </a: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Monitor for unexpected input types; Monitor for new input types as traffic scales; Show AI-routed vs. manual cases; Monitor for data drift; Periodically refresh prompt examples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or unseen input types per period; drift index vs. baseline; days since prompt examples refreshed; 100% of cases carry the AI-routed / manual flag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Team Lead and 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team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24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GCRMC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1480" y="59893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GCRMC</a:t>
            </a:r>
            <a:r>
              <a:rPr lang="en-US" sz="85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Group CIO Risk Management Committee (AI Governance Standard, Article 1-1). Informed of performance declines and breaches per Articles 2-11-5 and 2-12-10.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2182</Words>
  <Application>Microsoft Macintosh PowerPoint</Application>
  <PresentationFormat>Widescreen</PresentationFormat>
  <Paragraphs>288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x59078@365mmt.com</cp:lastModifiedBy>
  <cp:revision>4</cp:revision>
  <dcterms:created xsi:type="dcterms:W3CDTF">2026-09-04T07:37:23Z</dcterms:created>
  <dcterms:modified xsi:type="dcterms:W3CDTF">2026-09-04T08:04:06Z</dcterms:modified>
</cp:coreProperties>
</file>