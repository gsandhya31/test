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an AI use case moves in a straight line: the business writes a requirement, a central engineer builds it, IT deploys it after a 145-day approval cycle, and the business receives a tool it did not shape and does not manage. That worked for RPA. It does not work for agents, because agents keep changing after go-live: thresholds set, overrides reviewed, knowledge refreshed. That is operational work, not IT work.
Six things change, row by row. Define: the business owner keeps the outcome instead of handing over a requirement. Build: an engineer sits inside the ops team and composes from reusable agents rather than coding per BU. Deploy: pre-approved guardrails and a staged rollout replace 145 days of one-off approvals. Run: agents do the routine work and people move to exceptions. Supervise: today's team lead becomes the agent manager, accountable for the agent's output as for a team member's. Risk: a risk partner sits in the team and monitoring is continuous rather than an annual review.
Why it matters: operations is 60-70% of a bank's cost base; 84% of companies have not redesigned jobs for AI; only 21% have redesigned workflows, and that is the practice most tied to bottom-line impact; and McKinsey already sees teams of two to five people supervising 50-100 agents.
Terminology, if asked: the left side is the classic software development lifecycle (ISO 12207); the right is the AI system lifecycle (ISO 5338), which extends it with evaluation, staged activation and continuous supervision. References [1]-[6]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Thirty-seven projects are in flight across SABRE AI and Analytics - eight in discovery, thirteen in development, six in testing, six in production-parallel, one in production, three on hold - and nearly sixty percent sit in two BUs, SSG and Reg Ops.
The columns show how that work is organised today: BU by BU. Every card is an AI project. Red tiles are agents in build or live, with their agent type - Name &amp; Forms is an instruction-capture engine that is now adding compare-and-match; ASAM Automation closes unworthy screening alerts with name-matching, being expanded across CSG-KYC, IWM and GM. Grey tiles are projects still in discovery (SSI Evolution, Structured MO) or whose agent type is to be confirmed (Semi STP, TIDE). Only one component is shared.
The strip is the point of the slide: the same agent type is being built in more than one BU - instruction capture in three, data validation and exception triage in two each.
The outcome row is what that costs: no scale beyond the BU, no reuse, no view of cost per use, non-standard builds across teams and regions, and guardrails re-implemented per build. That is the problem the future-state slide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on the earlier slides is the easy part. BCG's finding across AI leaders is that they put 10% of the effort into algorithms, 20% into data and technology and 70% into people, process and culture. This plan is weighted the same way, across four levers.
People: roles change, not just tools - so we redesign roles with career paths and give everyone at least five hours of AI training with coaching, the threshold BCG links to sustained use. Prosci finds 63% of rollout problems are human, not technical.
Process: value comes from redesigning the workflow around the agent; only 21% of firms have done it, and it is the practice most tied to bottom-line impact. Every use case ships with a new SOP, and the approval cycle comes down from 145 days to under 60.
Technology: one platform, built once and reused. A single delivery path from FY26, releases every eight weeks - the pace JPMorgan runs its LLM Suite - and usage metering from FY27. Today we have zero shared components and 15 of 37 projects in production.
Risk: governance decides what survives the pilot - Gartner expected 30% of gen-AI pilots to be abandoned for weak data, controls or value case. A risk partner sits in every team and a named executive owns AI governance.
The chevrons show how it lands across Assist, Orchestrate and Autonomize. References [1]-[6]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hyperlink" Target="https://www.mckinsey.com/capabilities/operations/our-insights/ai-in-asia-reimagining-banking-operations-through-agentic-ai" TargetMode="External"/><Relationship Id="rId14" Type="http://schemas.openxmlformats.org/officeDocument/2006/relationships/hyperlink" Target="https://www.deloitte.com/us/en/insights/topics/talent/operating-models-for-humans-ai-agents.html" TargetMode="External"/><Relationship Id="rId15" Type="http://schemas.openxmlformats.org/officeDocument/2006/relationships/hyperlink" Target="https://www.mckinsey.com/capabilities/quantumblack/our-insights/the-state-of-ai-how-organizations-are-rewiring-to-capture-value" TargetMode="External"/><Relationship Id="rId16" Type="http://schemas.openxmlformats.org/officeDocument/2006/relationships/hyperlink" Target="https://www.mckinsey.com/capabilities/people-and-organizational-performance/our-insights/the-agentic-organization-contours-of-the-next-paradigm-for-the-ai-era" TargetMode="External"/><Relationship Id="rId17" Type="http://schemas.openxmlformats.org/officeDocument/2006/relationships/hyperlink" Target="https://www.iso.org/standard/63712.html" TargetMode="External"/><Relationship Id="rId18" Type="http://schemas.openxmlformats.org/officeDocument/2006/relationships/hyperlink" Target="https://www.iso.org/standard/81118.html"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9" Type="http://schemas.openxmlformats.org/officeDocument/2006/relationships/slideLayout" Target="../slideLayouts/slideLayout1.xml"/><Relationship Id="rId2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image" Target="../media/image-2-26.png"/><Relationship Id="rId27" Type="http://schemas.openxmlformats.org/officeDocument/2006/relationships/image" Target="../media/image-2-27.png"/><Relationship Id="rId28" Type="http://schemas.openxmlformats.org/officeDocument/2006/relationships/slideLayout" Target="../slideLayouts/slideLayout1.xml"/><Relationship Id="rId2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hyperlink" Target="https://www.bcg.com/publications/2025/closing-the-ai-impact-gap" TargetMode="External"/><Relationship Id="rId6" Type="http://schemas.openxmlformats.org/officeDocument/2006/relationships/hyperlink" Target="https://www.bcg.com/publications/2025/ai-at-work-momentum-builds-but-gaps-remain" TargetMode="External"/><Relationship Id="rId7" Type="http://schemas.openxmlformats.org/officeDocument/2006/relationships/hyperlink" Target="https://www.mckinsey.com/capabilities/quantumblack/our-insights/the-state-of-ai-how-organizations-are-rewiring-to-capture-value" TargetMode="External"/><Relationship Id="rId8" Type="http://schemas.openxmlformats.org/officeDocument/2006/relationships/hyperlink" Target="https://www.prosci.com/blog/adkar-for-ai-adoption" TargetMode="External"/><Relationship Id="rId9" Type="http://schemas.openxmlformats.org/officeDocument/2006/relationships/hyperlink" Target="https://www.gartner.com/en/newsroom/press-releases/2024-07-29-gartner-predicts-30-percent-of-generative-ai-projects-will-be-abandoned-after-proof-of-concept-by-end-of-2025" TargetMode="External"/><Relationship Id="rId10" Type="http://schemas.openxmlformats.org/officeDocument/2006/relationships/hyperlink" Target="https://www.artificialintelligence-news.com/news/jpmorgan-chase-ai-strategy-2025/"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74320"/>
            <a:ext cx="8412480" cy="457200"/>
          </a:xfrm>
          <a:prstGeom prst="rect">
            <a:avLst/>
          </a:prstGeom>
          <a:noFill/>
          <a:ln/>
        </p:spPr>
        <p:txBody>
          <a:bodyPr wrap="square" lIns="0" tIns="0" rIns="0" bIns="0" rtlCol="0" anchor="t"/>
          <a:lstStyle/>
          <a:p>
            <a:pPr indent="0" marL="0">
              <a:buNone/>
            </a:pPr>
            <a:r>
              <a:rPr lang="en-US" sz="1800" b="1" dirty="0">
                <a:solidFill>
                  <a:srgbClr val="BC0018"/>
                </a:solidFill>
                <a:latin typeface="Calibri" pitchFamily="34" charset="0"/>
                <a:ea typeface="Calibri" pitchFamily="34" charset="-122"/>
                <a:cs typeface="Calibri" pitchFamily="34" charset="-120"/>
              </a:rPr>
              <a:t>AI | How work and its execution evolves</a:t>
            </a:r>
            <a:endParaRPr lang="en-US" sz="1800" dirty="0"/>
          </a:p>
        </p:txBody>
      </p:sp>
      <p:sp>
        <p:nvSpPr>
          <p:cNvPr id="3" name="Text 1"/>
          <p:cNvSpPr txBox="1"/>
          <p:nvPr/>
        </p:nvSpPr>
        <p:spPr>
          <a:xfrm>
            <a:off x="365760" y="777240"/>
            <a:ext cx="8412480" cy="201168"/>
          </a:xfrm>
          <a:prstGeom prst="rect">
            <a:avLst/>
          </a:prstGeom>
          <a:noFill/>
          <a:ln/>
        </p:spPr>
        <p:txBody>
          <a:bodyPr wrap="square" lIns="0" tIns="0" rIns="0" bIns="0" rtlCol="0" anchor="ctr"/>
          <a:lstStyle/>
          <a:p>
            <a:pPr indent="0" marL="0">
              <a:buNone/>
            </a:pPr>
            <a:r>
              <a:rPr lang="en-US" sz="800" spc="100" kern="0" dirty="0">
                <a:solidFill>
                  <a:srgbClr val="5B6673"/>
                </a:solidFill>
                <a:latin typeface="Calibri" pitchFamily="34" charset="0"/>
                <a:ea typeface="Calibri" pitchFamily="34" charset="-122"/>
                <a:cs typeface="Calibri" pitchFamily="34" charset="-120"/>
              </a:rPr>
              <a:t>FROM A SOFTWARE DELIVERY LIFECYCLE [5]  ·  TO AN AI SYSTEM LIFECYCLE [6]  ·  SIX THINGS CHANGE</a:t>
            </a:r>
            <a:endParaRPr lang="en-US" sz="800" dirty="0"/>
          </a:p>
        </p:txBody>
      </p:sp>
      <p:sp>
        <p:nvSpPr>
          <p:cNvPr id="4" name="Shape 2"/>
          <p:cNvSpPr/>
          <p:nvPr/>
        </p:nvSpPr>
        <p:spPr>
          <a:xfrm>
            <a:off x="365760" y="1097280"/>
            <a:ext cx="4114800" cy="384048"/>
          </a:xfrm>
          <a:prstGeom prst="rect">
            <a:avLst/>
          </a:prstGeom>
          <a:solidFill>
            <a:srgbClr val="5F6B75"/>
          </a:solidFill>
          <a:ln w="12700">
            <a:solidFill>
              <a:srgbClr val="5F6B75"/>
            </a:solidFill>
            <a:prstDash val="solid"/>
          </a:ln>
        </p:spPr>
      </p:sp>
      <p:sp>
        <p:nvSpPr>
          <p:cNvPr id="5" name="Text 3"/>
          <p:cNvSpPr txBox="1"/>
          <p:nvPr/>
        </p:nvSpPr>
        <p:spPr>
          <a:xfrm>
            <a:off x="475488" y="1097280"/>
            <a:ext cx="3931920"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TODAY  </a:t>
            </a:r>
            <a:r>
              <a:rPr lang="en-US" sz="1000" dirty="0">
                <a:solidFill>
                  <a:srgbClr val="FFFFFF"/>
                </a:solidFill>
                <a:latin typeface="Calibri" pitchFamily="34" charset="0"/>
                <a:ea typeface="Calibri" pitchFamily="34" charset="-122"/>
                <a:cs typeface="Calibri" pitchFamily="34" charset="-120"/>
              </a:rPr>
              <a:t>build a tool, hand it over</a:t>
            </a:r>
            <a:endParaRPr lang="en-US" sz="1000" dirty="0"/>
          </a:p>
        </p:txBody>
      </p:sp>
      <p:sp>
        <p:nvSpPr>
          <p:cNvPr id="6" name="Shape 4"/>
          <p:cNvSpPr/>
          <p:nvPr/>
        </p:nvSpPr>
        <p:spPr>
          <a:xfrm>
            <a:off x="4663440" y="1097280"/>
            <a:ext cx="4114800" cy="384048"/>
          </a:xfrm>
          <a:prstGeom prst="rect">
            <a:avLst/>
          </a:prstGeom>
          <a:solidFill>
            <a:srgbClr val="BC0018"/>
          </a:solidFill>
          <a:ln w="12700">
            <a:solidFill>
              <a:srgbClr val="BC0018"/>
            </a:solidFill>
            <a:prstDash val="solid"/>
          </a:ln>
        </p:spPr>
      </p:sp>
      <p:sp>
        <p:nvSpPr>
          <p:cNvPr id="7" name="Text 5"/>
          <p:cNvSpPr txBox="1"/>
          <p:nvPr/>
        </p:nvSpPr>
        <p:spPr>
          <a:xfrm>
            <a:off x="4773168" y="1097280"/>
            <a:ext cx="3931920"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TOMORROW  </a:t>
            </a:r>
            <a:r>
              <a:rPr lang="en-US" sz="1000" dirty="0">
                <a:solidFill>
                  <a:srgbClr val="FFFFFF"/>
                </a:solidFill>
                <a:latin typeface="Calibri" pitchFamily="34" charset="0"/>
                <a:ea typeface="Calibri" pitchFamily="34" charset="-122"/>
                <a:cs typeface="Calibri" pitchFamily="34" charset="-120"/>
              </a:rPr>
              <a:t>compose agents, supervise continuously</a:t>
            </a:r>
            <a:endParaRPr lang="en-US" sz="1000" dirty="0"/>
          </a:p>
        </p:txBody>
      </p:sp>
      <p:sp>
        <p:nvSpPr>
          <p:cNvPr id="8" name="Shape 6"/>
          <p:cNvSpPr/>
          <p:nvPr/>
        </p:nvSpPr>
        <p:spPr>
          <a:xfrm>
            <a:off x="365760" y="1572768"/>
            <a:ext cx="4114800" cy="438912"/>
          </a:xfrm>
          <a:prstGeom prst="rect">
            <a:avLst/>
          </a:prstGeom>
          <a:solidFill>
            <a:srgbClr val="F4F6F8"/>
          </a:solidFill>
          <a:ln w="12700">
            <a:solidFill>
              <a:srgbClr val="F4F6F8"/>
            </a:solidFill>
            <a:prstDash val="solid"/>
          </a:ln>
        </p:spPr>
      </p:sp>
      <p:sp>
        <p:nvSpPr>
          <p:cNvPr id="9" name="Shape 7"/>
          <p:cNvSpPr/>
          <p:nvPr/>
        </p:nvSpPr>
        <p:spPr>
          <a:xfrm>
            <a:off x="457200" y="1645920"/>
            <a:ext cx="292608" cy="292608"/>
          </a:xfrm>
          <a:prstGeom prst="rect">
            <a:avLst/>
          </a:prstGeom>
          <a:solidFill>
            <a:srgbClr val="5F6B75"/>
          </a:solidFill>
          <a:ln w="12700">
            <a:solidFill>
              <a:srgbClr val="5F6B75"/>
            </a:solidFill>
            <a:prstDash val="solid"/>
          </a:ln>
        </p:spPr>
      </p:sp>
      <p:pic>
        <p:nvPicPr>
          <p:cNvPr id="10" name="Image 0" descr="preencoded.png">    </p:cNvPr>
          <p:cNvPicPr>
            <a:picLocks noChangeAspect="1"/>
          </p:cNvPicPr>
          <p:nvPr/>
        </p:nvPicPr>
        <p:blipFill>
          <a:blip r:embed="rId1"/>
          <a:stretch>
            <a:fillRect/>
          </a:stretch>
        </p:blipFill>
        <p:spPr>
          <a:xfrm>
            <a:off x="502920" y="1691640"/>
            <a:ext cx="201168" cy="201168"/>
          </a:xfrm>
          <a:prstGeom prst="rect">
            <a:avLst/>
          </a:prstGeom>
        </p:spPr>
      </p:pic>
      <p:sp>
        <p:nvSpPr>
          <p:cNvPr id="11" name="Text 8"/>
          <p:cNvSpPr txBox="1"/>
          <p:nvPr/>
        </p:nvSpPr>
        <p:spPr>
          <a:xfrm>
            <a:off x="841248" y="1572768"/>
            <a:ext cx="3566160" cy="438912"/>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Define
</a:t>
            </a:r>
            <a:r>
              <a:rPr lang="en-US" sz="900" dirty="0">
                <a:solidFill>
                  <a:srgbClr val="5B6673"/>
                </a:solidFill>
                <a:latin typeface="Calibri" pitchFamily="34" charset="0"/>
                <a:ea typeface="Calibri" pitchFamily="34" charset="-122"/>
                <a:cs typeface="Calibri" pitchFamily="34" charset="-120"/>
              </a:rPr>
              <a:t>Business writes a requirement, then waits</a:t>
            </a:r>
            <a:endParaRPr lang="en-US" sz="900" dirty="0"/>
          </a:p>
        </p:txBody>
      </p:sp>
      <p:sp>
        <p:nvSpPr>
          <p:cNvPr id="12" name="Shape 9"/>
          <p:cNvSpPr/>
          <p:nvPr/>
        </p:nvSpPr>
        <p:spPr>
          <a:xfrm>
            <a:off x="4663440" y="1572768"/>
            <a:ext cx="4114800" cy="438912"/>
          </a:xfrm>
          <a:prstGeom prst="rect">
            <a:avLst/>
          </a:prstGeom>
          <a:solidFill>
            <a:srgbClr val="FFFFFF"/>
          </a:solidFill>
          <a:ln w="9525">
            <a:solidFill>
              <a:srgbClr val="D8DEE4"/>
            </a:solidFill>
            <a:prstDash val="solid"/>
          </a:ln>
        </p:spPr>
      </p:sp>
      <p:sp>
        <p:nvSpPr>
          <p:cNvPr id="13" name="Shape 10"/>
          <p:cNvSpPr/>
          <p:nvPr/>
        </p:nvSpPr>
        <p:spPr>
          <a:xfrm>
            <a:off x="4754880" y="1645920"/>
            <a:ext cx="292608" cy="292608"/>
          </a:xfrm>
          <a:prstGeom prst="rect">
            <a:avLst/>
          </a:prstGeom>
          <a:solidFill>
            <a:srgbClr val="BC0018"/>
          </a:solidFill>
          <a:ln w="12700">
            <a:solidFill>
              <a:srgbClr val="BC0018"/>
            </a:solidFill>
            <a:prstDash val="solid"/>
          </a:ln>
        </p:spPr>
      </p:sp>
      <p:pic>
        <p:nvPicPr>
          <p:cNvPr id="14" name="Image 1" descr="preencoded.png">    </p:cNvPr>
          <p:cNvPicPr>
            <a:picLocks noChangeAspect="1"/>
          </p:cNvPicPr>
          <p:nvPr/>
        </p:nvPicPr>
        <p:blipFill>
          <a:blip r:embed="rId2"/>
          <a:stretch>
            <a:fillRect/>
          </a:stretch>
        </p:blipFill>
        <p:spPr>
          <a:xfrm>
            <a:off x="4800600" y="1691640"/>
            <a:ext cx="201168" cy="201168"/>
          </a:xfrm>
          <a:prstGeom prst="rect">
            <a:avLst/>
          </a:prstGeom>
        </p:spPr>
      </p:pic>
      <p:sp>
        <p:nvSpPr>
          <p:cNvPr id="15" name="Text 11"/>
          <p:cNvSpPr txBox="1"/>
          <p:nvPr/>
        </p:nvSpPr>
        <p:spPr>
          <a:xfrm>
            <a:off x="5138928" y="1572768"/>
            <a:ext cx="3566160" cy="438912"/>
          </a:xfrm>
          <a:prstGeom prst="rect">
            <a:avLst/>
          </a:prstGeom>
          <a:noFill/>
          <a:ln/>
        </p:spPr>
        <p:txBody>
          <a:bodyPr wrap="square" lIns="0" tIns="0" rIns="0" bIns="0" rtlCol="0" anchor="ctr"/>
          <a:lstStyle/>
          <a:p>
            <a:pPr indent="0" marL="0">
              <a:buNone/>
            </a:pPr>
            <a:r>
              <a:rPr lang="en-US" sz="900" b="1" dirty="0">
                <a:solidFill>
                  <a:srgbClr val="BC0018"/>
                </a:solidFill>
                <a:latin typeface="Calibri" pitchFamily="34" charset="0"/>
                <a:ea typeface="Calibri" pitchFamily="34" charset="-122"/>
                <a:cs typeface="Calibri" pitchFamily="34" charset="-120"/>
              </a:rPr>
              <a:t>Define
</a:t>
            </a:r>
            <a:r>
              <a:rPr lang="en-US" sz="900" dirty="0">
                <a:solidFill>
                  <a:srgbClr val="1B2431"/>
                </a:solidFill>
                <a:latin typeface="Calibri" pitchFamily="34" charset="0"/>
                <a:ea typeface="Calibri" pitchFamily="34" charset="-122"/>
                <a:cs typeface="Calibri" pitchFamily="34" charset="-120"/>
              </a:rPr>
              <a:t>Business owner keeps the outcome and evolves it</a:t>
            </a:r>
            <a:endParaRPr lang="en-US" sz="900" dirty="0"/>
          </a:p>
        </p:txBody>
      </p:sp>
      <p:sp>
        <p:nvSpPr>
          <p:cNvPr id="16" name="Text 12"/>
          <p:cNvSpPr txBox="1"/>
          <p:nvPr/>
        </p:nvSpPr>
        <p:spPr>
          <a:xfrm>
            <a:off x="4434840" y="1572768"/>
            <a:ext cx="182880" cy="438912"/>
          </a:xfrm>
          <a:prstGeom prst="rect">
            <a:avLst/>
          </a:prstGeom>
          <a:noFill/>
          <a:ln/>
        </p:spPr>
        <p:txBody>
          <a:bodyPr wrap="square" lIns="0" tIns="0" rIns="0" bIns="0" rtlCol="0" anchor="ctr"/>
          <a:lstStyle/>
          <a:p>
            <a:pPr algn="ctr" indent="0" marL="0">
              <a:buNone/>
            </a:pPr>
            <a:r>
              <a:rPr lang="en-US" sz="1400" b="1" dirty="0">
                <a:solidFill>
                  <a:srgbClr val="BC0018"/>
                </a:solidFill>
                <a:latin typeface="Calibri" pitchFamily="34" charset="0"/>
                <a:ea typeface="Calibri" pitchFamily="34" charset="-122"/>
                <a:cs typeface="Calibri" pitchFamily="34" charset="-120"/>
              </a:rPr>
              <a:t>›</a:t>
            </a:r>
            <a:endParaRPr lang="en-US" sz="1400" dirty="0"/>
          </a:p>
        </p:txBody>
      </p:sp>
      <p:sp>
        <p:nvSpPr>
          <p:cNvPr id="17" name="Shape 13"/>
          <p:cNvSpPr/>
          <p:nvPr/>
        </p:nvSpPr>
        <p:spPr>
          <a:xfrm>
            <a:off x="365760" y="2084832"/>
            <a:ext cx="4114800" cy="438912"/>
          </a:xfrm>
          <a:prstGeom prst="rect">
            <a:avLst/>
          </a:prstGeom>
          <a:solidFill>
            <a:srgbClr val="F4F6F8"/>
          </a:solidFill>
          <a:ln w="12700">
            <a:solidFill>
              <a:srgbClr val="F4F6F8"/>
            </a:solidFill>
            <a:prstDash val="solid"/>
          </a:ln>
        </p:spPr>
      </p:sp>
      <p:sp>
        <p:nvSpPr>
          <p:cNvPr id="18" name="Shape 14"/>
          <p:cNvSpPr/>
          <p:nvPr/>
        </p:nvSpPr>
        <p:spPr>
          <a:xfrm>
            <a:off x="457200" y="2157984"/>
            <a:ext cx="292608" cy="292608"/>
          </a:xfrm>
          <a:prstGeom prst="rect">
            <a:avLst/>
          </a:prstGeom>
          <a:solidFill>
            <a:srgbClr val="5F6B75"/>
          </a:solidFill>
          <a:ln w="12700">
            <a:solidFill>
              <a:srgbClr val="5F6B75"/>
            </a:solidFill>
            <a:prstDash val="solid"/>
          </a:ln>
        </p:spPr>
      </p:sp>
      <p:pic>
        <p:nvPicPr>
          <p:cNvPr id="19" name="Image 2" descr="preencoded.png">    </p:cNvPr>
          <p:cNvPicPr>
            <a:picLocks noChangeAspect="1"/>
          </p:cNvPicPr>
          <p:nvPr/>
        </p:nvPicPr>
        <p:blipFill>
          <a:blip r:embed="rId3"/>
          <a:stretch>
            <a:fillRect/>
          </a:stretch>
        </p:blipFill>
        <p:spPr>
          <a:xfrm>
            <a:off x="502920" y="2203704"/>
            <a:ext cx="201168" cy="201168"/>
          </a:xfrm>
          <a:prstGeom prst="rect">
            <a:avLst/>
          </a:prstGeom>
        </p:spPr>
      </p:pic>
      <p:sp>
        <p:nvSpPr>
          <p:cNvPr id="20" name="Text 15"/>
          <p:cNvSpPr txBox="1"/>
          <p:nvPr/>
        </p:nvSpPr>
        <p:spPr>
          <a:xfrm>
            <a:off x="841248" y="2084832"/>
            <a:ext cx="3566160" cy="438912"/>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Build
</a:t>
            </a:r>
            <a:r>
              <a:rPr lang="en-US" sz="900" dirty="0">
                <a:solidFill>
                  <a:srgbClr val="5B6673"/>
                </a:solidFill>
                <a:latin typeface="Calibri" pitchFamily="34" charset="0"/>
                <a:ea typeface="Calibri" pitchFamily="34" charset="-122"/>
                <a:cs typeface="Calibri" pitchFamily="34" charset="-120"/>
              </a:rPr>
              <a:t>Central IT builds — once per BU</a:t>
            </a:r>
            <a:endParaRPr lang="en-US" sz="900" dirty="0"/>
          </a:p>
        </p:txBody>
      </p:sp>
      <p:sp>
        <p:nvSpPr>
          <p:cNvPr id="21" name="Shape 16"/>
          <p:cNvSpPr/>
          <p:nvPr/>
        </p:nvSpPr>
        <p:spPr>
          <a:xfrm>
            <a:off x="4663440" y="2084832"/>
            <a:ext cx="4114800" cy="438912"/>
          </a:xfrm>
          <a:prstGeom prst="rect">
            <a:avLst/>
          </a:prstGeom>
          <a:solidFill>
            <a:srgbClr val="FFFFFF"/>
          </a:solidFill>
          <a:ln w="9525">
            <a:solidFill>
              <a:srgbClr val="D8DEE4"/>
            </a:solidFill>
            <a:prstDash val="solid"/>
          </a:ln>
        </p:spPr>
      </p:sp>
      <p:sp>
        <p:nvSpPr>
          <p:cNvPr id="22" name="Shape 17"/>
          <p:cNvSpPr/>
          <p:nvPr/>
        </p:nvSpPr>
        <p:spPr>
          <a:xfrm>
            <a:off x="4754880" y="2157984"/>
            <a:ext cx="292608" cy="292608"/>
          </a:xfrm>
          <a:prstGeom prst="rect">
            <a:avLst/>
          </a:prstGeom>
          <a:solidFill>
            <a:srgbClr val="BC0018"/>
          </a:solidFill>
          <a:ln w="12700">
            <a:solidFill>
              <a:srgbClr val="BC0018"/>
            </a:solidFill>
            <a:prstDash val="solid"/>
          </a:ln>
        </p:spPr>
      </p:sp>
      <p:pic>
        <p:nvPicPr>
          <p:cNvPr id="23" name="Image 3" descr="preencoded.png">    </p:cNvPr>
          <p:cNvPicPr>
            <a:picLocks noChangeAspect="1"/>
          </p:cNvPicPr>
          <p:nvPr/>
        </p:nvPicPr>
        <p:blipFill>
          <a:blip r:embed="rId4"/>
          <a:stretch>
            <a:fillRect/>
          </a:stretch>
        </p:blipFill>
        <p:spPr>
          <a:xfrm>
            <a:off x="4800600" y="2203704"/>
            <a:ext cx="201168" cy="201168"/>
          </a:xfrm>
          <a:prstGeom prst="rect">
            <a:avLst/>
          </a:prstGeom>
        </p:spPr>
      </p:pic>
      <p:sp>
        <p:nvSpPr>
          <p:cNvPr id="24" name="Text 18"/>
          <p:cNvSpPr txBox="1"/>
          <p:nvPr/>
        </p:nvSpPr>
        <p:spPr>
          <a:xfrm>
            <a:off x="5138928" y="2084832"/>
            <a:ext cx="3566160" cy="438912"/>
          </a:xfrm>
          <a:prstGeom prst="rect">
            <a:avLst/>
          </a:prstGeom>
          <a:noFill/>
          <a:ln/>
        </p:spPr>
        <p:txBody>
          <a:bodyPr wrap="square" lIns="0" tIns="0" rIns="0" bIns="0" rtlCol="0" anchor="ctr"/>
          <a:lstStyle/>
          <a:p>
            <a:pPr indent="0" marL="0">
              <a:buNone/>
            </a:pPr>
            <a:r>
              <a:rPr lang="en-US" sz="900" b="1" dirty="0">
                <a:solidFill>
                  <a:srgbClr val="BC0018"/>
                </a:solidFill>
                <a:latin typeface="Calibri" pitchFamily="34" charset="0"/>
                <a:ea typeface="Calibri" pitchFamily="34" charset="-122"/>
                <a:cs typeface="Calibri" pitchFamily="34" charset="-120"/>
              </a:rPr>
              <a:t>Build
</a:t>
            </a:r>
            <a:r>
              <a:rPr lang="en-US" sz="900" dirty="0">
                <a:solidFill>
                  <a:srgbClr val="1B2431"/>
                </a:solidFill>
                <a:latin typeface="Calibri" pitchFamily="34" charset="0"/>
                <a:ea typeface="Calibri" pitchFamily="34" charset="-122"/>
                <a:cs typeface="Calibri" pitchFamily="34" charset="-120"/>
              </a:rPr>
              <a:t>Engineer sits in the ops team; builds from reusable agents</a:t>
            </a:r>
            <a:endParaRPr lang="en-US" sz="900" dirty="0"/>
          </a:p>
        </p:txBody>
      </p:sp>
      <p:sp>
        <p:nvSpPr>
          <p:cNvPr id="25" name="Text 19"/>
          <p:cNvSpPr txBox="1"/>
          <p:nvPr/>
        </p:nvSpPr>
        <p:spPr>
          <a:xfrm>
            <a:off x="4434840" y="2084832"/>
            <a:ext cx="182880" cy="438912"/>
          </a:xfrm>
          <a:prstGeom prst="rect">
            <a:avLst/>
          </a:prstGeom>
          <a:noFill/>
          <a:ln/>
        </p:spPr>
        <p:txBody>
          <a:bodyPr wrap="square" lIns="0" tIns="0" rIns="0" bIns="0" rtlCol="0" anchor="ctr"/>
          <a:lstStyle/>
          <a:p>
            <a:pPr algn="ctr" indent="0" marL="0">
              <a:buNone/>
            </a:pPr>
            <a:r>
              <a:rPr lang="en-US" sz="1400" b="1" dirty="0">
                <a:solidFill>
                  <a:srgbClr val="BC0018"/>
                </a:solidFill>
                <a:latin typeface="Calibri" pitchFamily="34" charset="0"/>
                <a:ea typeface="Calibri" pitchFamily="34" charset="-122"/>
                <a:cs typeface="Calibri" pitchFamily="34" charset="-120"/>
              </a:rPr>
              <a:t>›</a:t>
            </a:r>
            <a:endParaRPr lang="en-US" sz="1400" dirty="0"/>
          </a:p>
        </p:txBody>
      </p:sp>
      <p:sp>
        <p:nvSpPr>
          <p:cNvPr id="26" name="Shape 20"/>
          <p:cNvSpPr/>
          <p:nvPr/>
        </p:nvSpPr>
        <p:spPr>
          <a:xfrm>
            <a:off x="365760" y="2596896"/>
            <a:ext cx="4114800" cy="438912"/>
          </a:xfrm>
          <a:prstGeom prst="rect">
            <a:avLst/>
          </a:prstGeom>
          <a:solidFill>
            <a:srgbClr val="F4F6F8"/>
          </a:solidFill>
          <a:ln w="12700">
            <a:solidFill>
              <a:srgbClr val="F4F6F8"/>
            </a:solidFill>
            <a:prstDash val="solid"/>
          </a:ln>
        </p:spPr>
      </p:sp>
      <p:sp>
        <p:nvSpPr>
          <p:cNvPr id="27" name="Shape 21"/>
          <p:cNvSpPr/>
          <p:nvPr/>
        </p:nvSpPr>
        <p:spPr>
          <a:xfrm>
            <a:off x="457200" y="2670048"/>
            <a:ext cx="292608" cy="292608"/>
          </a:xfrm>
          <a:prstGeom prst="rect">
            <a:avLst/>
          </a:prstGeom>
          <a:solidFill>
            <a:srgbClr val="5F6B75"/>
          </a:solidFill>
          <a:ln w="12700">
            <a:solidFill>
              <a:srgbClr val="5F6B75"/>
            </a:solidFill>
            <a:prstDash val="solid"/>
          </a:ln>
        </p:spPr>
      </p:sp>
      <p:pic>
        <p:nvPicPr>
          <p:cNvPr id="28" name="Image 4" descr="preencoded.png">    </p:cNvPr>
          <p:cNvPicPr>
            <a:picLocks noChangeAspect="1"/>
          </p:cNvPicPr>
          <p:nvPr/>
        </p:nvPicPr>
        <p:blipFill>
          <a:blip r:embed="rId5"/>
          <a:stretch>
            <a:fillRect/>
          </a:stretch>
        </p:blipFill>
        <p:spPr>
          <a:xfrm>
            <a:off x="502920" y="2715768"/>
            <a:ext cx="201168" cy="201168"/>
          </a:xfrm>
          <a:prstGeom prst="rect">
            <a:avLst/>
          </a:prstGeom>
        </p:spPr>
      </p:pic>
      <p:sp>
        <p:nvSpPr>
          <p:cNvPr id="29" name="Text 22"/>
          <p:cNvSpPr txBox="1"/>
          <p:nvPr/>
        </p:nvSpPr>
        <p:spPr>
          <a:xfrm>
            <a:off x="841248" y="2596896"/>
            <a:ext cx="3566160" cy="438912"/>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Deploy
</a:t>
            </a:r>
            <a:r>
              <a:rPr lang="en-US" sz="900" dirty="0">
                <a:solidFill>
                  <a:srgbClr val="5B6673"/>
                </a:solidFill>
                <a:latin typeface="Calibri" pitchFamily="34" charset="0"/>
                <a:ea typeface="Calibri" pitchFamily="34" charset="-122"/>
                <a:cs typeface="Calibri" pitchFamily="34" charset="-120"/>
              </a:rPr>
              <a:t>145 days of one-off approvals</a:t>
            </a:r>
            <a:endParaRPr lang="en-US" sz="900" dirty="0"/>
          </a:p>
        </p:txBody>
      </p:sp>
      <p:sp>
        <p:nvSpPr>
          <p:cNvPr id="30" name="Shape 23"/>
          <p:cNvSpPr/>
          <p:nvPr/>
        </p:nvSpPr>
        <p:spPr>
          <a:xfrm>
            <a:off x="4663440" y="2596896"/>
            <a:ext cx="4114800" cy="438912"/>
          </a:xfrm>
          <a:prstGeom prst="rect">
            <a:avLst/>
          </a:prstGeom>
          <a:solidFill>
            <a:srgbClr val="FFFFFF"/>
          </a:solidFill>
          <a:ln w="9525">
            <a:solidFill>
              <a:srgbClr val="D8DEE4"/>
            </a:solidFill>
            <a:prstDash val="solid"/>
          </a:ln>
        </p:spPr>
      </p:sp>
      <p:sp>
        <p:nvSpPr>
          <p:cNvPr id="31" name="Shape 24"/>
          <p:cNvSpPr/>
          <p:nvPr/>
        </p:nvSpPr>
        <p:spPr>
          <a:xfrm>
            <a:off x="4754880" y="2670048"/>
            <a:ext cx="292608" cy="292608"/>
          </a:xfrm>
          <a:prstGeom prst="rect">
            <a:avLst/>
          </a:prstGeom>
          <a:solidFill>
            <a:srgbClr val="BC0018"/>
          </a:solidFill>
          <a:ln w="12700">
            <a:solidFill>
              <a:srgbClr val="BC0018"/>
            </a:solidFill>
            <a:prstDash val="solid"/>
          </a:ln>
        </p:spPr>
      </p:sp>
      <p:pic>
        <p:nvPicPr>
          <p:cNvPr id="32" name="Image 5" descr="preencoded.png">    </p:cNvPr>
          <p:cNvPicPr>
            <a:picLocks noChangeAspect="1"/>
          </p:cNvPicPr>
          <p:nvPr/>
        </p:nvPicPr>
        <p:blipFill>
          <a:blip r:embed="rId6"/>
          <a:stretch>
            <a:fillRect/>
          </a:stretch>
        </p:blipFill>
        <p:spPr>
          <a:xfrm>
            <a:off x="4800600" y="2715768"/>
            <a:ext cx="201168" cy="201168"/>
          </a:xfrm>
          <a:prstGeom prst="rect">
            <a:avLst/>
          </a:prstGeom>
        </p:spPr>
      </p:pic>
      <p:sp>
        <p:nvSpPr>
          <p:cNvPr id="33" name="Text 25"/>
          <p:cNvSpPr txBox="1"/>
          <p:nvPr/>
        </p:nvSpPr>
        <p:spPr>
          <a:xfrm>
            <a:off x="5138928" y="2596896"/>
            <a:ext cx="3566160" cy="438912"/>
          </a:xfrm>
          <a:prstGeom prst="rect">
            <a:avLst/>
          </a:prstGeom>
          <a:noFill/>
          <a:ln/>
        </p:spPr>
        <p:txBody>
          <a:bodyPr wrap="square" lIns="0" tIns="0" rIns="0" bIns="0" rtlCol="0" anchor="ctr"/>
          <a:lstStyle/>
          <a:p>
            <a:pPr indent="0" marL="0">
              <a:buNone/>
            </a:pPr>
            <a:r>
              <a:rPr lang="en-US" sz="900" b="1" dirty="0">
                <a:solidFill>
                  <a:srgbClr val="BC0018"/>
                </a:solidFill>
                <a:latin typeface="Calibri" pitchFamily="34" charset="0"/>
                <a:ea typeface="Calibri" pitchFamily="34" charset="-122"/>
                <a:cs typeface="Calibri" pitchFamily="34" charset="-120"/>
              </a:rPr>
              <a:t>Deploy
</a:t>
            </a:r>
            <a:r>
              <a:rPr lang="en-US" sz="900" dirty="0">
                <a:solidFill>
                  <a:srgbClr val="1B2431"/>
                </a:solidFill>
                <a:latin typeface="Calibri" pitchFamily="34" charset="0"/>
                <a:ea typeface="Calibri" pitchFamily="34" charset="-122"/>
                <a:cs typeface="Calibri" pitchFamily="34" charset="-120"/>
              </a:rPr>
              <a:t>Pre-approved guardrails; staged rollout</a:t>
            </a:r>
            <a:endParaRPr lang="en-US" sz="900" dirty="0"/>
          </a:p>
        </p:txBody>
      </p:sp>
      <p:sp>
        <p:nvSpPr>
          <p:cNvPr id="34" name="Text 26"/>
          <p:cNvSpPr txBox="1"/>
          <p:nvPr/>
        </p:nvSpPr>
        <p:spPr>
          <a:xfrm>
            <a:off x="4434840" y="2596896"/>
            <a:ext cx="182880" cy="438912"/>
          </a:xfrm>
          <a:prstGeom prst="rect">
            <a:avLst/>
          </a:prstGeom>
          <a:noFill/>
          <a:ln/>
        </p:spPr>
        <p:txBody>
          <a:bodyPr wrap="square" lIns="0" tIns="0" rIns="0" bIns="0" rtlCol="0" anchor="ctr"/>
          <a:lstStyle/>
          <a:p>
            <a:pPr algn="ctr" indent="0" marL="0">
              <a:buNone/>
            </a:pPr>
            <a:r>
              <a:rPr lang="en-US" sz="1400" b="1" dirty="0">
                <a:solidFill>
                  <a:srgbClr val="BC0018"/>
                </a:solidFill>
                <a:latin typeface="Calibri" pitchFamily="34" charset="0"/>
                <a:ea typeface="Calibri" pitchFamily="34" charset="-122"/>
                <a:cs typeface="Calibri" pitchFamily="34" charset="-120"/>
              </a:rPr>
              <a:t>›</a:t>
            </a:r>
            <a:endParaRPr lang="en-US" sz="1400" dirty="0"/>
          </a:p>
        </p:txBody>
      </p:sp>
      <p:sp>
        <p:nvSpPr>
          <p:cNvPr id="35" name="Shape 27"/>
          <p:cNvSpPr/>
          <p:nvPr/>
        </p:nvSpPr>
        <p:spPr>
          <a:xfrm>
            <a:off x="365760" y="3108960"/>
            <a:ext cx="4114800" cy="438912"/>
          </a:xfrm>
          <a:prstGeom prst="rect">
            <a:avLst/>
          </a:prstGeom>
          <a:solidFill>
            <a:srgbClr val="F4F6F8"/>
          </a:solidFill>
          <a:ln w="12700">
            <a:solidFill>
              <a:srgbClr val="F4F6F8"/>
            </a:solidFill>
            <a:prstDash val="solid"/>
          </a:ln>
        </p:spPr>
      </p:sp>
      <p:sp>
        <p:nvSpPr>
          <p:cNvPr id="36" name="Shape 28"/>
          <p:cNvSpPr/>
          <p:nvPr/>
        </p:nvSpPr>
        <p:spPr>
          <a:xfrm>
            <a:off x="457200" y="3182112"/>
            <a:ext cx="292608" cy="292608"/>
          </a:xfrm>
          <a:prstGeom prst="rect">
            <a:avLst/>
          </a:prstGeom>
          <a:solidFill>
            <a:srgbClr val="5F6B75"/>
          </a:solidFill>
          <a:ln w="12700">
            <a:solidFill>
              <a:srgbClr val="5F6B75"/>
            </a:solidFill>
            <a:prstDash val="solid"/>
          </a:ln>
        </p:spPr>
      </p:sp>
      <p:pic>
        <p:nvPicPr>
          <p:cNvPr id="37" name="Image 6" descr="preencoded.png">    </p:cNvPr>
          <p:cNvPicPr>
            <a:picLocks noChangeAspect="1"/>
          </p:cNvPicPr>
          <p:nvPr/>
        </p:nvPicPr>
        <p:blipFill>
          <a:blip r:embed="rId7"/>
          <a:stretch>
            <a:fillRect/>
          </a:stretch>
        </p:blipFill>
        <p:spPr>
          <a:xfrm>
            <a:off x="502920" y="3227832"/>
            <a:ext cx="201168" cy="201168"/>
          </a:xfrm>
          <a:prstGeom prst="rect">
            <a:avLst/>
          </a:prstGeom>
        </p:spPr>
      </p:pic>
      <p:sp>
        <p:nvSpPr>
          <p:cNvPr id="38" name="Text 29"/>
          <p:cNvSpPr txBox="1"/>
          <p:nvPr/>
        </p:nvSpPr>
        <p:spPr>
          <a:xfrm>
            <a:off x="841248" y="3108960"/>
            <a:ext cx="3566160" cy="438912"/>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Run
</a:t>
            </a:r>
            <a:r>
              <a:rPr lang="en-US" sz="900" dirty="0">
                <a:solidFill>
                  <a:srgbClr val="5B6673"/>
                </a:solidFill>
                <a:latin typeface="Calibri" pitchFamily="34" charset="0"/>
                <a:ea typeface="Calibri" pitchFamily="34" charset="-122"/>
                <a:cs typeface="Calibri" pitchFamily="34" charset="-120"/>
              </a:rPr>
              <a:t>Analysts process every item</a:t>
            </a:r>
            <a:endParaRPr lang="en-US" sz="900" dirty="0"/>
          </a:p>
        </p:txBody>
      </p:sp>
      <p:sp>
        <p:nvSpPr>
          <p:cNvPr id="39" name="Shape 30"/>
          <p:cNvSpPr/>
          <p:nvPr/>
        </p:nvSpPr>
        <p:spPr>
          <a:xfrm>
            <a:off x="4663440" y="3108960"/>
            <a:ext cx="4114800" cy="438912"/>
          </a:xfrm>
          <a:prstGeom prst="rect">
            <a:avLst/>
          </a:prstGeom>
          <a:solidFill>
            <a:srgbClr val="FFFFFF"/>
          </a:solidFill>
          <a:ln w="9525">
            <a:solidFill>
              <a:srgbClr val="D8DEE4"/>
            </a:solidFill>
            <a:prstDash val="solid"/>
          </a:ln>
        </p:spPr>
      </p:sp>
      <p:sp>
        <p:nvSpPr>
          <p:cNvPr id="40" name="Shape 31"/>
          <p:cNvSpPr/>
          <p:nvPr/>
        </p:nvSpPr>
        <p:spPr>
          <a:xfrm>
            <a:off x="4754880" y="3182112"/>
            <a:ext cx="292608" cy="292608"/>
          </a:xfrm>
          <a:prstGeom prst="rect">
            <a:avLst/>
          </a:prstGeom>
          <a:solidFill>
            <a:srgbClr val="BC0018"/>
          </a:solidFill>
          <a:ln w="12700">
            <a:solidFill>
              <a:srgbClr val="BC0018"/>
            </a:solidFill>
            <a:prstDash val="solid"/>
          </a:ln>
        </p:spPr>
      </p:sp>
      <p:pic>
        <p:nvPicPr>
          <p:cNvPr id="41" name="Image 7" descr="preencoded.png">    </p:cNvPr>
          <p:cNvPicPr>
            <a:picLocks noChangeAspect="1"/>
          </p:cNvPicPr>
          <p:nvPr/>
        </p:nvPicPr>
        <p:blipFill>
          <a:blip r:embed="rId8"/>
          <a:stretch>
            <a:fillRect/>
          </a:stretch>
        </p:blipFill>
        <p:spPr>
          <a:xfrm>
            <a:off x="4800600" y="3227832"/>
            <a:ext cx="201168" cy="201168"/>
          </a:xfrm>
          <a:prstGeom prst="rect">
            <a:avLst/>
          </a:prstGeom>
        </p:spPr>
      </p:pic>
      <p:sp>
        <p:nvSpPr>
          <p:cNvPr id="42" name="Text 32"/>
          <p:cNvSpPr txBox="1"/>
          <p:nvPr/>
        </p:nvSpPr>
        <p:spPr>
          <a:xfrm>
            <a:off x="5138928" y="3108960"/>
            <a:ext cx="3566160" cy="438912"/>
          </a:xfrm>
          <a:prstGeom prst="rect">
            <a:avLst/>
          </a:prstGeom>
          <a:noFill/>
          <a:ln/>
        </p:spPr>
        <p:txBody>
          <a:bodyPr wrap="square" lIns="0" tIns="0" rIns="0" bIns="0" rtlCol="0" anchor="ctr"/>
          <a:lstStyle/>
          <a:p>
            <a:pPr indent="0" marL="0">
              <a:buNone/>
            </a:pPr>
            <a:r>
              <a:rPr lang="en-US" sz="900" b="1" dirty="0">
                <a:solidFill>
                  <a:srgbClr val="BC0018"/>
                </a:solidFill>
                <a:latin typeface="Calibri" pitchFamily="34" charset="0"/>
                <a:ea typeface="Calibri" pitchFamily="34" charset="-122"/>
                <a:cs typeface="Calibri" pitchFamily="34" charset="-120"/>
              </a:rPr>
              <a:t>Run
</a:t>
            </a:r>
            <a:r>
              <a:rPr lang="en-US" sz="900" dirty="0">
                <a:solidFill>
                  <a:srgbClr val="1B2431"/>
                </a:solidFill>
                <a:latin typeface="Calibri" pitchFamily="34" charset="0"/>
                <a:ea typeface="Calibri" pitchFamily="34" charset="-122"/>
                <a:cs typeface="Calibri" pitchFamily="34" charset="-120"/>
              </a:rPr>
              <a:t>Agents do the routine; people handle exceptions</a:t>
            </a:r>
            <a:endParaRPr lang="en-US" sz="900" dirty="0"/>
          </a:p>
        </p:txBody>
      </p:sp>
      <p:sp>
        <p:nvSpPr>
          <p:cNvPr id="43" name="Text 33"/>
          <p:cNvSpPr txBox="1"/>
          <p:nvPr/>
        </p:nvSpPr>
        <p:spPr>
          <a:xfrm>
            <a:off x="4434840" y="3108960"/>
            <a:ext cx="182880" cy="438912"/>
          </a:xfrm>
          <a:prstGeom prst="rect">
            <a:avLst/>
          </a:prstGeom>
          <a:noFill/>
          <a:ln/>
        </p:spPr>
        <p:txBody>
          <a:bodyPr wrap="square" lIns="0" tIns="0" rIns="0" bIns="0" rtlCol="0" anchor="ctr"/>
          <a:lstStyle/>
          <a:p>
            <a:pPr algn="ctr" indent="0" marL="0">
              <a:buNone/>
            </a:pPr>
            <a:r>
              <a:rPr lang="en-US" sz="1400" b="1" dirty="0">
                <a:solidFill>
                  <a:srgbClr val="BC0018"/>
                </a:solidFill>
                <a:latin typeface="Calibri" pitchFamily="34" charset="0"/>
                <a:ea typeface="Calibri" pitchFamily="34" charset="-122"/>
                <a:cs typeface="Calibri" pitchFamily="34" charset="-120"/>
              </a:rPr>
              <a:t>›</a:t>
            </a:r>
            <a:endParaRPr lang="en-US" sz="1400" dirty="0"/>
          </a:p>
        </p:txBody>
      </p:sp>
      <p:sp>
        <p:nvSpPr>
          <p:cNvPr id="44" name="Shape 34"/>
          <p:cNvSpPr/>
          <p:nvPr/>
        </p:nvSpPr>
        <p:spPr>
          <a:xfrm>
            <a:off x="365760" y="3621024"/>
            <a:ext cx="4114800" cy="438912"/>
          </a:xfrm>
          <a:prstGeom prst="rect">
            <a:avLst/>
          </a:prstGeom>
          <a:solidFill>
            <a:srgbClr val="F4F6F8"/>
          </a:solidFill>
          <a:ln w="12700">
            <a:solidFill>
              <a:srgbClr val="F4F6F8"/>
            </a:solidFill>
            <a:prstDash val="solid"/>
          </a:ln>
        </p:spPr>
      </p:sp>
      <p:sp>
        <p:nvSpPr>
          <p:cNvPr id="45" name="Shape 35"/>
          <p:cNvSpPr/>
          <p:nvPr/>
        </p:nvSpPr>
        <p:spPr>
          <a:xfrm>
            <a:off x="457200" y="3694176"/>
            <a:ext cx="292608" cy="292608"/>
          </a:xfrm>
          <a:prstGeom prst="rect">
            <a:avLst/>
          </a:prstGeom>
          <a:solidFill>
            <a:srgbClr val="5F6B75"/>
          </a:solidFill>
          <a:ln w="12700">
            <a:solidFill>
              <a:srgbClr val="5F6B75"/>
            </a:solidFill>
            <a:prstDash val="solid"/>
          </a:ln>
        </p:spPr>
      </p:sp>
      <p:pic>
        <p:nvPicPr>
          <p:cNvPr id="46" name="Image 8" descr="preencoded.png">    </p:cNvPr>
          <p:cNvPicPr>
            <a:picLocks noChangeAspect="1"/>
          </p:cNvPicPr>
          <p:nvPr/>
        </p:nvPicPr>
        <p:blipFill>
          <a:blip r:embed="rId9"/>
          <a:stretch>
            <a:fillRect/>
          </a:stretch>
        </p:blipFill>
        <p:spPr>
          <a:xfrm>
            <a:off x="502920" y="3739896"/>
            <a:ext cx="201168" cy="201168"/>
          </a:xfrm>
          <a:prstGeom prst="rect">
            <a:avLst/>
          </a:prstGeom>
        </p:spPr>
      </p:pic>
      <p:sp>
        <p:nvSpPr>
          <p:cNvPr id="47" name="Text 36"/>
          <p:cNvSpPr txBox="1"/>
          <p:nvPr/>
        </p:nvSpPr>
        <p:spPr>
          <a:xfrm>
            <a:off x="841248" y="3621024"/>
            <a:ext cx="3566160" cy="438912"/>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Supervise
</a:t>
            </a:r>
            <a:r>
              <a:rPr lang="en-US" sz="900" dirty="0">
                <a:solidFill>
                  <a:srgbClr val="5B6673"/>
                </a:solidFill>
                <a:latin typeface="Calibri" pitchFamily="34" charset="0"/>
                <a:ea typeface="Calibri" pitchFamily="34" charset="-122"/>
                <a:cs typeface="Calibri" pitchFamily="34" charset="-120"/>
              </a:rPr>
              <a:t>Nobody "manages" the tool</a:t>
            </a:r>
            <a:endParaRPr lang="en-US" sz="900" dirty="0"/>
          </a:p>
        </p:txBody>
      </p:sp>
      <p:sp>
        <p:nvSpPr>
          <p:cNvPr id="48" name="Shape 37"/>
          <p:cNvSpPr/>
          <p:nvPr/>
        </p:nvSpPr>
        <p:spPr>
          <a:xfrm>
            <a:off x="4663440" y="3621024"/>
            <a:ext cx="4114800" cy="438912"/>
          </a:xfrm>
          <a:prstGeom prst="rect">
            <a:avLst/>
          </a:prstGeom>
          <a:solidFill>
            <a:srgbClr val="FFFFFF"/>
          </a:solidFill>
          <a:ln w="9525">
            <a:solidFill>
              <a:srgbClr val="D8DEE4"/>
            </a:solidFill>
            <a:prstDash val="solid"/>
          </a:ln>
        </p:spPr>
      </p:sp>
      <p:sp>
        <p:nvSpPr>
          <p:cNvPr id="49" name="Shape 38"/>
          <p:cNvSpPr/>
          <p:nvPr/>
        </p:nvSpPr>
        <p:spPr>
          <a:xfrm>
            <a:off x="4754880" y="3694176"/>
            <a:ext cx="292608" cy="292608"/>
          </a:xfrm>
          <a:prstGeom prst="rect">
            <a:avLst/>
          </a:prstGeom>
          <a:solidFill>
            <a:srgbClr val="BC0018"/>
          </a:solidFill>
          <a:ln w="12700">
            <a:solidFill>
              <a:srgbClr val="BC0018"/>
            </a:solidFill>
            <a:prstDash val="solid"/>
          </a:ln>
        </p:spPr>
      </p:sp>
      <p:pic>
        <p:nvPicPr>
          <p:cNvPr id="50" name="Image 9" descr="preencoded.png">    </p:cNvPr>
          <p:cNvPicPr>
            <a:picLocks noChangeAspect="1"/>
          </p:cNvPicPr>
          <p:nvPr/>
        </p:nvPicPr>
        <p:blipFill>
          <a:blip r:embed="rId10"/>
          <a:stretch>
            <a:fillRect/>
          </a:stretch>
        </p:blipFill>
        <p:spPr>
          <a:xfrm>
            <a:off x="4800600" y="3739896"/>
            <a:ext cx="201168" cy="201168"/>
          </a:xfrm>
          <a:prstGeom prst="rect">
            <a:avLst/>
          </a:prstGeom>
        </p:spPr>
      </p:pic>
      <p:sp>
        <p:nvSpPr>
          <p:cNvPr id="51" name="Text 39"/>
          <p:cNvSpPr txBox="1"/>
          <p:nvPr/>
        </p:nvSpPr>
        <p:spPr>
          <a:xfrm>
            <a:off x="5138928" y="3621024"/>
            <a:ext cx="3566160" cy="438912"/>
          </a:xfrm>
          <a:prstGeom prst="rect">
            <a:avLst/>
          </a:prstGeom>
          <a:noFill/>
          <a:ln/>
        </p:spPr>
        <p:txBody>
          <a:bodyPr wrap="square" lIns="0" tIns="0" rIns="0" bIns="0" rtlCol="0" anchor="ctr"/>
          <a:lstStyle/>
          <a:p>
            <a:pPr indent="0" marL="0">
              <a:buNone/>
            </a:pPr>
            <a:r>
              <a:rPr lang="en-US" sz="900" b="1" dirty="0">
                <a:solidFill>
                  <a:srgbClr val="BC0018"/>
                </a:solidFill>
                <a:latin typeface="Calibri" pitchFamily="34" charset="0"/>
                <a:ea typeface="Calibri" pitchFamily="34" charset="-122"/>
                <a:cs typeface="Calibri" pitchFamily="34" charset="-120"/>
              </a:rPr>
              <a:t>Supervise
</a:t>
            </a:r>
            <a:r>
              <a:rPr lang="en-US" sz="900" dirty="0">
                <a:solidFill>
                  <a:srgbClr val="1B2431"/>
                </a:solidFill>
                <a:latin typeface="Calibri" pitchFamily="34" charset="0"/>
                <a:ea typeface="Calibri" pitchFamily="34" charset="-122"/>
                <a:cs typeface="Calibri" pitchFamily="34" charset="-120"/>
              </a:rPr>
              <a:t>Team lead becomes the agent manager</a:t>
            </a:r>
            <a:endParaRPr lang="en-US" sz="900" dirty="0"/>
          </a:p>
        </p:txBody>
      </p:sp>
      <p:sp>
        <p:nvSpPr>
          <p:cNvPr id="52" name="Text 40"/>
          <p:cNvSpPr txBox="1"/>
          <p:nvPr/>
        </p:nvSpPr>
        <p:spPr>
          <a:xfrm>
            <a:off x="4434840" y="3621024"/>
            <a:ext cx="182880" cy="438912"/>
          </a:xfrm>
          <a:prstGeom prst="rect">
            <a:avLst/>
          </a:prstGeom>
          <a:noFill/>
          <a:ln/>
        </p:spPr>
        <p:txBody>
          <a:bodyPr wrap="square" lIns="0" tIns="0" rIns="0" bIns="0" rtlCol="0" anchor="ctr"/>
          <a:lstStyle/>
          <a:p>
            <a:pPr algn="ctr" indent="0" marL="0">
              <a:buNone/>
            </a:pPr>
            <a:r>
              <a:rPr lang="en-US" sz="1400" b="1" dirty="0">
                <a:solidFill>
                  <a:srgbClr val="BC0018"/>
                </a:solidFill>
                <a:latin typeface="Calibri" pitchFamily="34" charset="0"/>
                <a:ea typeface="Calibri" pitchFamily="34" charset="-122"/>
                <a:cs typeface="Calibri" pitchFamily="34" charset="-120"/>
              </a:rPr>
              <a:t>›</a:t>
            </a:r>
            <a:endParaRPr lang="en-US" sz="1400" dirty="0"/>
          </a:p>
        </p:txBody>
      </p:sp>
      <p:sp>
        <p:nvSpPr>
          <p:cNvPr id="53" name="Shape 41"/>
          <p:cNvSpPr/>
          <p:nvPr/>
        </p:nvSpPr>
        <p:spPr>
          <a:xfrm>
            <a:off x="365760" y="4133088"/>
            <a:ext cx="4114800" cy="438912"/>
          </a:xfrm>
          <a:prstGeom prst="rect">
            <a:avLst/>
          </a:prstGeom>
          <a:solidFill>
            <a:srgbClr val="F4F6F8"/>
          </a:solidFill>
          <a:ln w="12700">
            <a:solidFill>
              <a:srgbClr val="F4F6F8"/>
            </a:solidFill>
            <a:prstDash val="solid"/>
          </a:ln>
        </p:spPr>
      </p:sp>
      <p:sp>
        <p:nvSpPr>
          <p:cNvPr id="54" name="Shape 42"/>
          <p:cNvSpPr/>
          <p:nvPr/>
        </p:nvSpPr>
        <p:spPr>
          <a:xfrm>
            <a:off x="457200" y="4206240"/>
            <a:ext cx="292608" cy="292608"/>
          </a:xfrm>
          <a:prstGeom prst="rect">
            <a:avLst/>
          </a:prstGeom>
          <a:solidFill>
            <a:srgbClr val="5F6B75"/>
          </a:solidFill>
          <a:ln w="12700">
            <a:solidFill>
              <a:srgbClr val="5F6B75"/>
            </a:solidFill>
            <a:prstDash val="solid"/>
          </a:ln>
        </p:spPr>
      </p:sp>
      <p:pic>
        <p:nvPicPr>
          <p:cNvPr id="55" name="Image 10" descr="preencoded.png">    </p:cNvPr>
          <p:cNvPicPr>
            <a:picLocks noChangeAspect="1"/>
          </p:cNvPicPr>
          <p:nvPr/>
        </p:nvPicPr>
        <p:blipFill>
          <a:blip r:embed="rId11"/>
          <a:stretch>
            <a:fillRect/>
          </a:stretch>
        </p:blipFill>
        <p:spPr>
          <a:xfrm>
            <a:off x="502920" y="4251960"/>
            <a:ext cx="201168" cy="201168"/>
          </a:xfrm>
          <a:prstGeom prst="rect">
            <a:avLst/>
          </a:prstGeom>
        </p:spPr>
      </p:pic>
      <p:sp>
        <p:nvSpPr>
          <p:cNvPr id="56" name="Text 43"/>
          <p:cNvSpPr txBox="1"/>
          <p:nvPr/>
        </p:nvSpPr>
        <p:spPr>
          <a:xfrm>
            <a:off x="841248" y="4133088"/>
            <a:ext cx="3566160" cy="438912"/>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Own the risk
</a:t>
            </a:r>
            <a:r>
              <a:rPr lang="en-US" sz="900" dirty="0">
                <a:solidFill>
                  <a:srgbClr val="5B6673"/>
                </a:solidFill>
                <a:latin typeface="Calibri" pitchFamily="34" charset="0"/>
                <a:ea typeface="Calibri" pitchFamily="34" charset="-122"/>
                <a:cs typeface="Calibri" pitchFamily="34" charset="-120"/>
              </a:rPr>
              <a:t>Reviewed after build, once a year</a:t>
            </a:r>
            <a:endParaRPr lang="en-US" sz="900" dirty="0"/>
          </a:p>
        </p:txBody>
      </p:sp>
      <p:sp>
        <p:nvSpPr>
          <p:cNvPr id="57" name="Shape 44"/>
          <p:cNvSpPr/>
          <p:nvPr/>
        </p:nvSpPr>
        <p:spPr>
          <a:xfrm>
            <a:off x="4663440" y="4133088"/>
            <a:ext cx="4114800" cy="438912"/>
          </a:xfrm>
          <a:prstGeom prst="rect">
            <a:avLst/>
          </a:prstGeom>
          <a:solidFill>
            <a:srgbClr val="FFFFFF"/>
          </a:solidFill>
          <a:ln w="9525">
            <a:solidFill>
              <a:srgbClr val="D8DEE4"/>
            </a:solidFill>
            <a:prstDash val="solid"/>
          </a:ln>
        </p:spPr>
      </p:sp>
      <p:sp>
        <p:nvSpPr>
          <p:cNvPr id="58" name="Shape 45"/>
          <p:cNvSpPr/>
          <p:nvPr/>
        </p:nvSpPr>
        <p:spPr>
          <a:xfrm>
            <a:off x="4754880" y="4206240"/>
            <a:ext cx="292608" cy="292608"/>
          </a:xfrm>
          <a:prstGeom prst="rect">
            <a:avLst/>
          </a:prstGeom>
          <a:solidFill>
            <a:srgbClr val="BC0018"/>
          </a:solidFill>
          <a:ln w="12700">
            <a:solidFill>
              <a:srgbClr val="BC0018"/>
            </a:solidFill>
            <a:prstDash val="solid"/>
          </a:ln>
        </p:spPr>
      </p:sp>
      <p:pic>
        <p:nvPicPr>
          <p:cNvPr id="59" name="Image 11" descr="preencoded.png">    </p:cNvPr>
          <p:cNvPicPr>
            <a:picLocks noChangeAspect="1"/>
          </p:cNvPicPr>
          <p:nvPr/>
        </p:nvPicPr>
        <p:blipFill>
          <a:blip r:embed="rId12"/>
          <a:stretch>
            <a:fillRect/>
          </a:stretch>
        </p:blipFill>
        <p:spPr>
          <a:xfrm>
            <a:off x="4800600" y="4251960"/>
            <a:ext cx="201168" cy="201168"/>
          </a:xfrm>
          <a:prstGeom prst="rect">
            <a:avLst/>
          </a:prstGeom>
        </p:spPr>
      </p:pic>
      <p:sp>
        <p:nvSpPr>
          <p:cNvPr id="60" name="Text 46"/>
          <p:cNvSpPr txBox="1"/>
          <p:nvPr/>
        </p:nvSpPr>
        <p:spPr>
          <a:xfrm>
            <a:off x="5138928" y="4133088"/>
            <a:ext cx="3566160" cy="438912"/>
          </a:xfrm>
          <a:prstGeom prst="rect">
            <a:avLst/>
          </a:prstGeom>
          <a:noFill/>
          <a:ln/>
        </p:spPr>
        <p:txBody>
          <a:bodyPr wrap="square" lIns="0" tIns="0" rIns="0" bIns="0" rtlCol="0" anchor="ctr"/>
          <a:lstStyle/>
          <a:p>
            <a:pPr indent="0" marL="0">
              <a:buNone/>
            </a:pPr>
            <a:r>
              <a:rPr lang="en-US" sz="900" b="1" dirty="0">
                <a:solidFill>
                  <a:srgbClr val="BC0018"/>
                </a:solidFill>
                <a:latin typeface="Calibri" pitchFamily="34" charset="0"/>
                <a:ea typeface="Calibri" pitchFamily="34" charset="-122"/>
                <a:cs typeface="Calibri" pitchFamily="34" charset="-120"/>
              </a:rPr>
              <a:t>Own the risk
</a:t>
            </a:r>
            <a:r>
              <a:rPr lang="en-US" sz="900" dirty="0">
                <a:solidFill>
                  <a:srgbClr val="1B2431"/>
                </a:solidFill>
                <a:latin typeface="Calibri" pitchFamily="34" charset="0"/>
                <a:ea typeface="Calibri" pitchFamily="34" charset="-122"/>
                <a:cs typeface="Calibri" pitchFamily="34" charset="-120"/>
              </a:rPr>
              <a:t>Risk partner in the team; monitored continuously</a:t>
            </a:r>
            <a:endParaRPr lang="en-US" sz="900" dirty="0"/>
          </a:p>
        </p:txBody>
      </p:sp>
      <p:sp>
        <p:nvSpPr>
          <p:cNvPr id="61" name="Text 47"/>
          <p:cNvSpPr txBox="1"/>
          <p:nvPr/>
        </p:nvSpPr>
        <p:spPr>
          <a:xfrm>
            <a:off x="4434840" y="4133088"/>
            <a:ext cx="182880" cy="438912"/>
          </a:xfrm>
          <a:prstGeom prst="rect">
            <a:avLst/>
          </a:prstGeom>
          <a:noFill/>
          <a:ln/>
        </p:spPr>
        <p:txBody>
          <a:bodyPr wrap="square" lIns="0" tIns="0" rIns="0" bIns="0" rtlCol="0" anchor="ctr"/>
          <a:lstStyle/>
          <a:p>
            <a:pPr algn="ctr" indent="0" marL="0">
              <a:buNone/>
            </a:pPr>
            <a:r>
              <a:rPr lang="en-US" sz="1400" b="1" dirty="0">
                <a:solidFill>
                  <a:srgbClr val="BC0018"/>
                </a:solidFill>
                <a:latin typeface="Calibri" pitchFamily="34" charset="0"/>
                <a:ea typeface="Calibri" pitchFamily="34" charset="-122"/>
                <a:cs typeface="Calibri" pitchFamily="34" charset="-120"/>
              </a:rPr>
              <a:t>›</a:t>
            </a:r>
            <a:endParaRPr lang="en-US" sz="1400" dirty="0"/>
          </a:p>
        </p:txBody>
      </p:sp>
      <p:sp>
        <p:nvSpPr>
          <p:cNvPr id="62" name="Text 48"/>
          <p:cNvSpPr txBox="1"/>
          <p:nvPr/>
        </p:nvSpPr>
        <p:spPr>
          <a:xfrm>
            <a:off x="365760" y="4718304"/>
            <a:ext cx="1828800" cy="201168"/>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Why it matters</a:t>
            </a:r>
            <a:endParaRPr lang="en-US" sz="900" dirty="0"/>
          </a:p>
        </p:txBody>
      </p:sp>
      <p:sp>
        <p:nvSpPr>
          <p:cNvPr id="63" name="Shape 49"/>
          <p:cNvSpPr/>
          <p:nvPr/>
        </p:nvSpPr>
        <p:spPr>
          <a:xfrm>
            <a:off x="365760" y="4956048"/>
            <a:ext cx="2011680" cy="640080"/>
          </a:xfrm>
          <a:prstGeom prst="rect">
            <a:avLst/>
          </a:prstGeom>
          <a:solidFill>
            <a:srgbClr val="FBEBED"/>
          </a:solidFill>
          <a:ln w="12700">
            <a:solidFill>
              <a:srgbClr val="FBEBED"/>
            </a:solidFill>
            <a:prstDash val="solid"/>
          </a:ln>
        </p:spPr>
      </p:sp>
      <p:sp>
        <p:nvSpPr>
          <p:cNvPr id="64" name="Text 50"/>
          <p:cNvSpPr txBox="1"/>
          <p:nvPr/>
        </p:nvSpPr>
        <p:spPr>
          <a:xfrm>
            <a:off x="457200" y="4956048"/>
            <a:ext cx="1828800" cy="640080"/>
          </a:xfrm>
          <a:prstGeom prst="rect">
            <a:avLst/>
          </a:prstGeom>
          <a:noFill/>
          <a:ln/>
        </p:spPr>
        <p:txBody>
          <a:bodyPr wrap="square" lIns="0" tIns="0" rIns="0" bIns="0" rtlCol="0" anchor="ctr"/>
          <a:lstStyle/>
          <a:p>
            <a:pPr indent="0" marL="0">
              <a:buNone/>
            </a:pPr>
            <a:r>
              <a:rPr lang="en-US" sz="1600" b="1" dirty="0">
                <a:solidFill>
                  <a:srgbClr val="BC0018"/>
                </a:solidFill>
                <a:latin typeface="Calibri" pitchFamily="34" charset="0"/>
                <a:ea typeface="Calibri" pitchFamily="34" charset="-122"/>
                <a:cs typeface="Calibri" pitchFamily="34" charset="-120"/>
              </a:rPr>
              <a:t>60–70%
</a:t>
            </a:r>
            <a:r>
              <a:rPr lang="en-US" sz="800" dirty="0">
                <a:solidFill>
                  <a:srgbClr val="1B2431"/>
                </a:solidFill>
                <a:latin typeface="Calibri" pitchFamily="34" charset="0"/>
                <a:ea typeface="Calibri" pitchFamily="34" charset="-122"/>
                <a:cs typeface="Calibri" pitchFamily="34" charset="-120"/>
              </a:rPr>
              <a:t>of a bank's cost base is operations [1]</a:t>
            </a:r>
            <a:endParaRPr lang="en-US" sz="1600" dirty="0"/>
          </a:p>
        </p:txBody>
      </p:sp>
      <p:sp>
        <p:nvSpPr>
          <p:cNvPr id="65" name="Shape 51"/>
          <p:cNvSpPr/>
          <p:nvPr/>
        </p:nvSpPr>
        <p:spPr>
          <a:xfrm>
            <a:off x="2468880" y="4956048"/>
            <a:ext cx="2011680" cy="640080"/>
          </a:xfrm>
          <a:prstGeom prst="rect">
            <a:avLst/>
          </a:prstGeom>
          <a:solidFill>
            <a:srgbClr val="FBEBED"/>
          </a:solidFill>
          <a:ln w="12700">
            <a:solidFill>
              <a:srgbClr val="FBEBED"/>
            </a:solidFill>
            <a:prstDash val="solid"/>
          </a:ln>
        </p:spPr>
      </p:sp>
      <p:sp>
        <p:nvSpPr>
          <p:cNvPr id="66" name="Text 52"/>
          <p:cNvSpPr txBox="1"/>
          <p:nvPr/>
        </p:nvSpPr>
        <p:spPr>
          <a:xfrm>
            <a:off x="2560320" y="4956048"/>
            <a:ext cx="1828800" cy="640080"/>
          </a:xfrm>
          <a:prstGeom prst="rect">
            <a:avLst/>
          </a:prstGeom>
          <a:noFill/>
          <a:ln/>
        </p:spPr>
        <p:txBody>
          <a:bodyPr wrap="square" lIns="0" tIns="0" rIns="0" bIns="0" rtlCol="0" anchor="ctr"/>
          <a:lstStyle/>
          <a:p>
            <a:pPr indent="0" marL="0">
              <a:buNone/>
            </a:pPr>
            <a:r>
              <a:rPr lang="en-US" sz="1600" b="1" dirty="0">
                <a:solidFill>
                  <a:srgbClr val="BC0018"/>
                </a:solidFill>
                <a:latin typeface="Calibri" pitchFamily="34" charset="0"/>
                <a:ea typeface="Calibri" pitchFamily="34" charset="-122"/>
                <a:cs typeface="Calibri" pitchFamily="34" charset="-120"/>
              </a:rPr>
              <a:t>84%
</a:t>
            </a:r>
            <a:r>
              <a:rPr lang="en-US" sz="800" dirty="0">
                <a:solidFill>
                  <a:srgbClr val="1B2431"/>
                </a:solidFill>
                <a:latin typeface="Calibri" pitchFamily="34" charset="0"/>
                <a:ea typeface="Calibri" pitchFamily="34" charset="-122"/>
                <a:cs typeface="Calibri" pitchFamily="34" charset="-120"/>
              </a:rPr>
              <a:t>of firms have not redesigned jobs for AI [2]</a:t>
            </a:r>
            <a:endParaRPr lang="en-US" sz="1600" dirty="0"/>
          </a:p>
        </p:txBody>
      </p:sp>
      <p:sp>
        <p:nvSpPr>
          <p:cNvPr id="67" name="Shape 53"/>
          <p:cNvSpPr/>
          <p:nvPr/>
        </p:nvSpPr>
        <p:spPr>
          <a:xfrm>
            <a:off x="4572000" y="4956048"/>
            <a:ext cx="2011680" cy="640080"/>
          </a:xfrm>
          <a:prstGeom prst="rect">
            <a:avLst/>
          </a:prstGeom>
          <a:solidFill>
            <a:srgbClr val="FBEBED"/>
          </a:solidFill>
          <a:ln w="12700">
            <a:solidFill>
              <a:srgbClr val="FBEBED"/>
            </a:solidFill>
            <a:prstDash val="solid"/>
          </a:ln>
        </p:spPr>
      </p:sp>
      <p:sp>
        <p:nvSpPr>
          <p:cNvPr id="68" name="Text 54"/>
          <p:cNvSpPr txBox="1"/>
          <p:nvPr/>
        </p:nvSpPr>
        <p:spPr>
          <a:xfrm>
            <a:off x="4663440" y="4956048"/>
            <a:ext cx="1828800" cy="640080"/>
          </a:xfrm>
          <a:prstGeom prst="rect">
            <a:avLst/>
          </a:prstGeom>
          <a:noFill/>
          <a:ln/>
        </p:spPr>
        <p:txBody>
          <a:bodyPr wrap="square" lIns="0" tIns="0" rIns="0" bIns="0" rtlCol="0" anchor="ctr"/>
          <a:lstStyle/>
          <a:p>
            <a:pPr indent="0" marL="0">
              <a:buNone/>
            </a:pPr>
            <a:r>
              <a:rPr lang="en-US" sz="1600" b="1" dirty="0">
                <a:solidFill>
                  <a:srgbClr val="BC0018"/>
                </a:solidFill>
                <a:latin typeface="Calibri" pitchFamily="34" charset="0"/>
                <a:ea typeface="Calibri" pitchFamily="34" charset="-122"/>
                <a:cs typeface="Calibri" pitchFamily="34" charset="-120"/>
              </a:rPr>
              <a:t>21%
</a:t>
            </a:r>
            <a:r>
              <a:rPr lang="en-US" sz="800" dirty="0">
                <a:solidFill>
                  <a:srgbClr val="1B2431"/>
                </a:solidFill>
                <a:latin typeface="Calibri" pitchFamily="34" charset="0"/>
                <a:ea typeface="Calibri" pitchFamily="34" charset="-122"/>
                <a:cs typeface="Calibri" pitchFamily="34" charset="-120"/>
              </a:rPr>
              <a:t>have redesigned workflows — the practice most tied to profit [3]</a:t>
            </a:r>
            <a:endParaRPr lang="en-US" sz="1600" dirty="0"/>
          </a:p>
        </p:txBody>
      </p:sp>
      <p:sp>
        <p:nvSpPr>
          <p:cNvPr id="69" name="Shape 55"/>
          <p:cNvSpPr/>
          <p:nvPr/>
        </p:nvSpPr>
        <p:spPr>
          <a:xfrm>
            <a:off x="6675120" y="4956048"/>
            <a:ext cx="2011680" cy="640080"/>
          </a:xfrm>
          <a:prstGeom prst="rect">
            <a:avLst/>
          </a:prstGeom>
          <a:solidFill>
            <a:srgbClr val="FBEBED"/>
          </a:solidFill>
          <a:ln w="12700">
            <a:solidFill>
              <a:srgbClr val="FBEBED"/>
            </a:solidFill>
            <a:prstDash val="solid"/>
          </a:ln>
        </p:spPr>
      </p:sp>
      <p:sp>
        <p:nvSpPr>
          <p:cNvPr id="70" name="Text 56"/>
          <p:cNvSpPr txBox="1"/>
          <p:nvPr/>
        </p:nvSpPr>
        <p:spPr>
          <a:xfrm>
            <a:off x="6766560" y="4956048"/>
            <a:ext cx="1828800" cy="640080"/>
          </a:xfrm>
          <a:prstGeom prst="rect">
            <a:avLst/>
          </a:prstGeom>
          <a:noFill/>
          <a:ln/>
        </p:spPr>
        <p:txBody>
          <a:bodyPr wrap="square" lIns="0" tIns="0" rIns="0" bIns="0" rtlCol="0" anchor="ctr"/>
          <a:lstStyle/>
          <a:p>
            <a:pPr indent="0" marL="0">
              <a:buNone/>
            </a:pPr>
            <a:r>
              <a:rPr lang="en-US" sz="1600" b="1" dirty="0">
                <a:solidFill>
                  <a:srgbClr val="BC0018"/>
                </a:solidFill>
                <a:latin typeface="Calibri" pitchFamily="34" charset="0"/>
                <a:ea typeface="Calibri" pitchFamily="34" charset="-122"/>
                <a:cs typeface="Calibri" pitchFamily="34" charset="-120"/>
              </a:rPr>
              <a:t>2–5 people
</a:t>
            </a:r>
            <a:r>
              <a:rPr lang="en-US" sz="800" dirty="0">
                <a:solidFill>
                  <a:srgbClr val="1B2431"/>
                </a:solidFill>
                <a:latin typeface="Calibri" pitchFamily="34" charset="0"/>
                <a:ea typeface="Calibri" pitchFamily="34" charset="-122"/>
                <a:cs typeface="Calibri" pitchFamily="34" charset="-120"/>
              </a:rPr>
              <a:t>can already supervise 50–100 agents [4]</a:t>
            </a:r>
            <a:endParaRPr lang="en-US" sz="1600" dirty="0"/>
          </a:p>
        </p:txBody>
      </p:sp>
      <p:sp>
        <p:nvSpPr>
          <p:cNvPr id="71" name="Text 57"/>
          <p:cNvSpPr txBox="1"/>
          <p:nvPr/>
        </p:nvSpPr>
        <p:spPr>
          <a:xfrm>
            <a:off x="365760" y="5687568"/>
            <a:ext cx="1828800" cy="164592"/>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References</a:t>
            </a:r>
            <a:endParaRPr lang="en-US" sz="800" dirty="0"/>
          </a:p>
        </p:txBody>
      </p:sp>
      <p:sp>
        <p:nvSpPr>
          <p:cNvPr id="72" name="Text 58"/>
          <p:cNvSpPr txBox="1"/>
          <p:nvPr/>
        </p:nvSpPr>
        <p:spPr>
          <a:xfrm>
            <a:off x="365760" y="5870448"/>
            <a:ext cx="3017520" cy="548640"/>
          </a:xfrm>
          <a:prstGeom prst="rect">
            <a:avLst/>
          </a:prstGeom>
          <a:noFill/>
          <a:ln/>
        </p:spPr>
        <p:txBody>
          <a:bodyPr wrap="square" lIns="0" tIns="0" rIns="0" bIns="0" rtlCol="0" anchor="t"/>
          <a:lstStyle/>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[1] </a:t>
            </a:r>
            <a:r>
              <a:rPr lang="en-US" sz="800" u="sng" dirty="0">
                <a:solidFill>
                  <a:srgbClr val="1F6FEB"/>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McKinsey, AI in Asia: reimagining banking operations, Dec 2025</a:t>
            </a:r>
            <a:endParaRPr lang="en-US" sz="800" dirty="0"/>
          </a:p>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[2] </a:t>
            </a:r>
            <a:r>
              <a:rPr lang="en-US" sz="800" u="sng" dirty="0">
                <a:solidFill>
                  <a:srgbClr val="1F6FEB"/>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Deloitte, Operating models for humans with agents, Apr 2026</a:t>
            </a:r>
            <a:endParaRPr lang="en-US" sz="800" dirty="0"/>
          </a:p>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[3] </a:t>
            </a:r>
            <a:r>
              <a:rPr lang="en-US" sz="800" u="sng" dirty="0">
                <a:solidFill>
                  <a:srgbClr val="1F6FEB"/>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McKinsey, The state of AI, Mar 2025</a:t>
            </a:r>
            <a:endParaRPr lang="en-US" sz="800" dirty="0"/>
          </a:p>
        </p:txBody>
      </p:sp>
      <p:sp>
        <p:nvSpPr>
          <p:cNvPr id="73" name="Text 59"/>
          <p:cNvSpPr txBox="1"/>
          <p:nvPr/>
        </p:nvSpPr>
        <p:spPr>
          <a:xfrm>
            <a:off x="3474720" y="5870448"/>
            <a:ext cx="2834640" cy="548640"/>
          </a:xfrm>
          <a:prstGeom prst="rect">
            <a:avLst/>
          </a:prstGeom>
          <a:noFill/>
          <a:ln/>
        </p:spPr>
        <p:txBody>
          <a:bodyPr wrap="square" lIns="0" tIns="0" rIns="0" bIns="0" rtlCol="0" anchor="t"/>
          <a:lstStyle/>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[4] </a:t>
            </a:r>
            <a:r>
              <a:rPr lang="en-US" sz="800" u="sng" dirty="0">
                <a:solidFill>
                  <a:srgbClr val="1F6FEB"/>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McKinsey, The agentic organization, Sept 2025</a:t>
            </a:r>
            <a:endParaRPr lang="en-US" sz="800" dirty="0"/>
          </a:p>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[5] </a:t>
            </a:r>
            <a:r>
              <a:rPr lang="en-US" sz="800" u="sng" dirty="0">
                <a:solidFill>
                  <a:srgbClr val="1F6FEB"/>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ISO/IEC/IEEE 12207 — Software life cycle processes</a:t>
            </a:r>
            <a:endParaRPr lang="en-US" sz="800" dirty="0"/>
          </a:p>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[6] </a:t>
            </a:r>
            <a:r>
              <a:rPr lang="en-US" sz="800" u="sng" dirty="0">
                <a:solidFill>
                  <a:srgbClr val="1F6FEB"/>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ISO/IEC 5338:2023 — AI system life cycle processes</a:t>
            </a:r>
            <a:endParaRPr lang="en-US" sz="800" dirty="0"/>
          </a:p>
        </p:txBody>
      </p:sp>
      <p:sp>
        <p:nvSpPr>
          <p:cNvPr id="74" name="Shape 60"/>
          <p:cNvSpPr/>
          <p:nvPr/>
        </p:nvSpPr>
        <p:spPr>
          <a:xfrm>
            <a:off x="6400800" y="5687568"/>
            <a:ext cx="2377440" cy="731520"/>
          </a:xfrm>
          <a:prstGeom prst="rect">
            <a:avLst/>
          </a:prstGeom>
          <a:solidFill>
            <a:srgbClr val="FFF2A8"/>
          </a:solidFill>
          <a:ln w="9525">
            <a:solidFill>
              <a:srgbClr val="E5B800"/>
            </a:solidFill>
            <a:prstDash val="solid"/>
          </a:ln>
        </p:spPr>
      </p:sp>
      <p:sp>
        <p:nvSpPr>
          <p:cNvPr id="75" name="Text 61"/>
          <p:cNvSpPr txBox="1"/>
          <p:nvPr/>
        </p:nvSpPr>
        <p:spPr>
          <a:xfrm>
            <a:off x="6473952" y="5705856"/>
            <a:ext cx="2240280" cy="694944"/>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OPEN POINTS  </a:t>
            </a:r>
            <a:r>
              <a:rPr lang="en-US" sz="800" dirty="0">
                <a:solidFill>
                  <a:srgbClr val="1B2431"/>
                </a:solidFill>
                <a:latin typeface="Calibri" pitchFamily="34" charset="0"/>
                <a:ea typeface="Calibri" pitchFamily="34" charset="-122"/>
                <a:cs typeface="Calibri" pitchFamily="34" charset="-120"/>
              </a:rPr>
              <a:t>(1) New role titles vs responsibilities on existing grades. (2) Phase for the first agent-manager role (proposed FY26–27).</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74320"/>
            <a:ext cx="8412480" cy="457200"/>
          </a:xfrm>
          <a:prstGeom prst="rect">
            <a:avLst/>
          </a:prstGeom>
          <a:noFill/>
          <a:ln/>
        </p:spPr>
        <p:txBody>
          <a:bodyPr wrap="square" lIns="0" tIns="0" rIns="0" bIns="0" rtlCol="0" anchor="t"/>
          <a:lstStyle/>
          <a:p>
            <a:pPr indent="0" marL="0">
              <a:buNone/>
            </a:pPr>
            <a:r>
              <a:rPr lang="en-US" sz="1800" b="1" dirty="0">
                <a:solidFill>
                  <a:srgbClr val="BC0018"/>
                </a:solidFill>
                <a:latin typeface="Calibri" pitchFamily="34" charset="0"/>
                <a:ea typeface="Calibri" pitchFamily="34" charset="-122"/>
                <a:cs typeface="Calibri" pitchFamily="34" charset="-120"/>
              </a:rPr>
              <a:t>AI | Current state </a:t>
            </a:r>
            <a:r>
              <a:rPr lang="en-US" sz="1800" dirty="0">
                <a:solidFill>
                  <a:srgbClr val="1B2431"/>
                </a:solidFill>
                <a:latin typeface="Calibri" pitchFamily="34" charset="0"/>
                <a:ea typeface="Calibri" pitchFamily="34" charset="-122"/>
                <a:cs typeface="Calibri" pitchFamily="34" charset="-120"/>
              </a:rPr>
              <a:t>– Fragmented AI solutions across BUs</a:t>
            </a:r>
            <a:endParaRPr lang="en-US" sz="1800" dirty="0"/>
          </a:p>
        </p:txBody>
      </p:sp>
      <p:sp>
        <p:nvSpPr>
          <p:cNvPr id="3" name="Text 1"/>
          <p:cNvSpPr txBox="1"/>
          <p:nvPr/>
        </p:nvSpPr>
        <p:spPr>
          <a:xfrm>
            <a:off x="365760" y="777240"/>
            <a:ext cx="2377440" cy="365760"/>
          </a:xfrm>
          <a:prstGeom prst="rect">
            <a:avLst/>
          </a:prstGeom>
          <a:noFill/>
          <a:ln/>
        </p:spPr>
        <p:txBody>
          <a:bodyPr wrap="square" lIns="0" tIns="0" rIns="0" bIns="0" rtlCol="0" anchor="ctr"/>
          <a:lstStyle/>
          <a:p>
            <a:pPr indent="0" marL="0">
              <a:buNone/>
            </a:pPr>
            <a:r>
              <a:rPr lang="en-US" sz="2000" b="1" dirty="0">
                <a:solidFill>
                  <a:srgbClr val="1B2431"/>
                </a:solidFill>
                <a:latin typeface="Calibri" pitchFamily="34" charset="0"/>
                <a:ea typeface="Calibri" pitchFamily="34" charset="-122"/>
                <a:cs typeface="Calibri" pitchFamily="34" charset="-120"/>
              </a:rPr>
              <a:t>37</a:t>
            </a:r>
            <a:r>
              <a:rPr lang="en-US" sz="900" dirty="0">
                <a:solidFill>
                  <a:srgbClr val="5B6673"/>
                </a:solidFill>
                <a:latin typeface="Calibri" pitchFamily="34" charset="0"/>
                <a:ea typeface="Calibri" pitchFamily="34" charset="-122"/>
                <a:cs typeface="Calibri" pitchFamily="34" charset="-120"/>
              </a:rPr>
              <a:t>  projects across SABRE AI / Analytics</a:t>
            </a:r>
            <a:endParaRPr lang="en-US" sz="2000" dirty="0"/>
          </a:p>
        </p:txBody>
      </p:sp>
      <p:sp>
        <p:nvSpPr>
          <p:cNvPr id="4" name="Shape 2"/>
          <p:cNvSpPr/>
          <p:nvPr/>
        </p:nvSpPr>
        <p:spPr>
          <a:xfrm>
            <a:off x="2788920" y="804672"/>
            <a:ext cx="840259" cy="274320"/>
          </a:xfrm>
          <a:prstGeom prst="rect">
            <a:avLst/>
          </a:prstGeom>
          <a:solidFill>
            <a:srgbClr val="F4C7CB"/>
          </a:solidFill>
          <a:ln w="6350">
            <a:solidFill>
              <a:srgbClr val="FFFFFF"/>
            </a:solidFill>
            <a:prstDash val="solid"/>
          </a:ln>
        </p:spPr>
      </p:sp>
      <p:sp>
        <p:nvSpPr>
          <p:cNvPr id="5" name="Text 3"/>
          <p:cNvSpPr txBox="1"/>
          <p:nvPr/>
        </p:nvSpPr>
        <p:spPr>
          <a:xfrm>
            <a:off x="2788920" y="804672"/>
            <a:ext cx="840259" cy="274320"/>
          </a:xfrm>
          <a:prstGeom prst="rect">
            <a:avLst/>
          </a:prstGeom>
          <a:noFill/>
          <a:ln/>
        </p:spPr>
        <p:txBody>
          <a:bodyPr wrap="square" lIns="0" tIns="0" rIns="0" bIns="0" rtlCol="0" anchor="ctr"/>
          <a:lstStyle/>
          <a:p>
            <a:pPr algn="ctr" indent="0" marL="0">
              <a:buNone/>
            </a:pPr>
            <a:r>
              <a:rPr lang="en-US" sz="800" b="1" dirty="0">
                <a:solidFill>
                  <a:srgbClr val="1B2431"/>
                </a:solidFill>
                <a:latin typeface="Calibri" pitchFamily="34" charset="0"/>
                <a:ea typeface="Calibri" pitchFamily="34" charset="-122"/>
                <a:cs typeface="Calibri" pitchFamily="34" charset="-120"/>
              </a:rPr>
              <a:t>8</a:t>
            </a:r>
            <a:endParaRPr lang="en-US" sz="800" dirty="0"/>
          </a:p>
        </p:txBody>
      </p:sp>
      <p:sp>
        <p:nvSpPr>
          <p:cNvPr id="6" name="Shape 4"/>
          <p:cNvSpPr/>
          <p:nvPr/>
        </p:nvSpPr>
        <p:spPr>
          <a:xfrm>
            <a:off x="3629179" y="804672"/>
            <a:ext cx="1365422" cy="274320"/>
          </a:xfrm>
          <a:prstGeom prst="rect">
            <a:avLst/>
          </a:prstGeom>
          <a:solidFill>
            <a:srgbClr val="1F9BD7"/>
          </a:solidFill>
          <a:ln w="6350">
            <a:solidFill>
              <a:srgbClr val="FFFFFF"/>
            </a:solidFill>
            <a:prstDash val="solid"/>
          </a:ln>
        </p:spPr>
      </p:sp>
      <p:sp>
        <p:nvSpPr>
          <p:cNvPr id="7" name="Text 5"/>
          <p:cNvSpPr txBox="1"/>
          <p:nvPr/>
        </p:nvSpPr>
        <p:spPr>
          <a:xfrm>
            <a:off x="3629179" y="804672"/>
            <a:ext cx="1365422" cy="274320"/>
          </a:xfrm>
          <a:prstGeom prst="rect">
            <a:avLst/>
          </a:prstGeom>
          <a:noFill/>
          <a:ln/>
        </p:spPr>
        <p:txBody>
          <a:bodyPr wrap="square" lIns="0" tIns="0" rIns="0" bIns="0" rtlCol="0" anchor="ctr"/>
          <a:lstStyle/>
          <a:p>
            <a:pPr algn="ctr" indent="0" marL="0">
              <a:buNone/>
            </a:pPr>
            <a:r>
              <a:rPr lang="en-US" sz="800" b="1" dirty="0">
                <a:solidFill>
                  <a:srgbClr val="1B2431"/>
                </a:solidFill>
                <a:latin typeface="Calibri" pitchFamily="34" charset="0"/>
                <a:ea typeface="Calibri" pitchFamily="34" charset="-122"/>
                <a:cs typeface="Calibri" pitchFamily="34" charset="-120"/>
              </a:rPr>
              <a:t>13</a:t>
            </a:r>
            <a:endParaRPr lang="en-US" sz="800" dirty="0"/>
          </a:p>
        </p:txBody>
      </p:sp>
      <p:sp>
        <p:nvSpPr>
          <p:cNvPr id="8" name="Shape 6"/>
          <p:cNvSpPr/>
          <p:nvPr/>
        </p:nvSpPr>
        <p:spPr>
          <a:xfrm>
            <a:off x="4994601" y="804672"/>
            <a:ext cx="630195" cy="274320"/>
          </a:xfrm>
          <a:prstGeom prst="rect">
            <a:avLst/>
          </a:prstGeom>
          <a:solidFill>
            <a:srgbClr val="F5B74A"/>
          </a:solidFill>
          <a:ln w="6350">
            <a:solidFill>
              <a:srgbClr val="FFFFFF"/>
            </a:solidFill>
            <a:prstDash val="solid"/>
          </a:ln>
        </p:spPr>
      </p:sp>
      <p:sp>
        <p:nvSpPr>
          <p:cNvPr id="9" name="Text 7"/>
          <p:cNvSpPr txBox="1"/>
          <p:nvPr/>
        </p:nvSpPr>
        <p:spPr>
          <a:xfrm>
            <a:off x="4994601" y="804672"/>
            <a:ext cx="630195" cy="274320"/>
          </a:xfrm>
          <a:prstGeom prst="rect">
            <a:avLst/>
          </a:prstGeom>
          <a:noFill/>
          <a:ln/>
        </p:spPr>
        <p:txBody>
          <a:bodyPr wrap="square" lIns="0" tIns="0" rIns="0" bIns="0" rtlCol="0" anchor="ctr"/>
          <a:lstStyle/>
          <a:p>
            <a:pPr algn="ctr" indent="0" marL="0">
              <a:buNone/>
            </a:pPr>
            <a:r>
              <a:rPr lang="en-US" sz="800" b="1" dirty="0">
                <a:solidFill>
                  <a:srgbClr val="1B2431"/>
                </a:solidFill>
                <a:latin typeface="Calibri" pitchFamily="34" charset="0"/>
                <a:ea typeface="Calibri" pitchFamily="34" charset="-122"/>
                <a:cs typeface="Calibri" pitchFamily="34" charset="-120"/>
              </a:rPr>
              <a:t>6</a:t>
            </a:r>
            <a:endParaRPr lang="en-US" sz="800" dirty="0"/>
          </a:p>
        </p:txBody>
      </p:sp>
      <p:sp>
        <p:nvSpPr>
          <p:cNvPr id="10" name="Shape 8"/>
          <p:cNvSpPr/>
          <p:nvPr/>
        </p:nvSpPr>
        <p:spPr>
          <a:xfrm>
            <a:off x="5624796" y="804672"/>
            <a:ext cx="630195" cy="274320"/>
          </a:xfrm>
          <a:prstGeom prst="rect">
            <a:avLst/>
          </a:prstGeom>
          <a:solidFill>
            <a:srgbClr val="CDEFD3"/>
          </a:solidFill>
          <a:ln w="6350">
            <a:solidFill>
              <a:srgbClr val="FFFFFF"/>
            </a:solidFill>
            <a:prstDash val="solid"/>
          </a:ln>
        </p:spPr>
      </p:sp>
      <p:sp>
        <p:nvSpPr>
          <p:cNvPr id="11" name="Text 9"/>
          <p:cNvSpPr txBox="1"/>
          <p:nvPr/>
        </p:nvSpPr>
        <p:spPr>
          <a:xfrm>
            <a:off x="5624796" y="804672"/>
            <a:ext cx="630195" cy="274320"/>
          </a:xfrm>
          <a:prstGeom prst="rect">
            <a:avLst/>
          </a:prstGeom>
          <a:noFill/>
          <a:ln/>
        </p:spPr>
        <p:txBody>
          <a:bodyPr wrap="square" lIns="0" tIns="0" rIns="0" bIns="0" rtlCol="0" anchor="ctr"/>
          <a:lstStyle/>
          <a:p>
            <a:pPr algn="ctr" indent="0" marL="0">
              <a:buNone/>
            </a:pPr>
            <a:r>
              <a:rPr lang="en-US" sz="800" b="1" dirty="0">
                <a:solidFill>
                  <a:srgbClr val="1B2431"/>
                </a:solidFill>
                <a:latin typeface="Calibri" pitchFamily="34" charset="0"/>
                <a:ea typeface="Calibri" pitchFamily="34" charset="-122"/>
                <a:cs typeface="Calibri" pitchFamily="34" charset="-120"/>
              </a:rPr>
              <a:t>6</a:t>
            </a:r>
            <a:endParaRPr lang="en-US" sz="800" dirty="0"/>
          </a:p>
        </p:txBody>
      </p:sp>
      <p:sp>
        <p:nvSpPr>
          <p:cNvPr id="12" name="Shape 10"/>
          <p:cNvSpPr/>
          <p:nvPr/>
        </p:nvSpPr>
        <p:spPr>
          <a:xfrm>
            <a:off x="6254990" y="804672"/>
            <a:ext cx="105032" cy="274320"/>
          </a:xfrm>
          <a:prstGeom prst="rect">
            <a:avLst/>
          </a:prstGeom>
          <a:solidFill>
            <a:srgbClr val="3CB44B"/>
          </a:solidFill>
          <a:ln w="6350">
            <a:solidFill>
              <a:srgbClr val="FFFFFF"/>
            </a:solidFill>
            <a:prstDash val="solid"/>
          </a:ln>
        </p:spPr>
      </p:sp>
      <p:sp>
        <p:nvSpPr>
          <p:cNvPr id="13" name="Text 11"/>
          <p:cNvSpPr txBox="1"/>
          <p:nvPr/>
        </p:nvSpPr>
        <p:spPr>
          <a:xfrm>
            <a:off x="6254990" y="804672"/>
            <a:ext cx="105032" cy="274320"/>
          </a:xfrm>
          <a:prstGeom prst="rect">
            <a:avLst/>
          </a:prstGeom>
          <a:noFill/>
          <a:ln/>
        </p:spPr>
        <p:txBody>
          <a:bodyPr wrap="square" lIns="0" tIns="0" rIns="0" bIns="0" rtlCol="0" anchor="ctr"/>
          <a:lstStyle/>
          <a:p>
            <a:pPr algn="ctr" indent="0" marL="0">
              <a:buNone/>
            </a:pPr>
            <a:r>
              <a:rPr lang="en-US" sz="800" b="1" dirty="0">
                <a:solidFill>
                  <a:srgbClr val="1B2431"/>
                </a:solidFill>
                <a:latin typeface="Calibri" pitchFamily="34" charset="0"/>
                <a:ea typeface="Calibri" pitchFamily="34" charset="-122"/>
                <a:cs typeface="Calibri" pitchFamily="34" charset="-120"/>
              </a:rPr>
              <a:t>1</a:t>
            </a:r>
            <a:endParaRPr lang="en-US" sz="800" dirty="0"/>
          </a:p>
        </p:txBody>
      </p:sp>
      <p:sp>
        <p:nvSpPr>
          <p:cNvPr id="14" name="Shape 12"/>
          <p:cNvSpPr/>
          <p:nvPr/>
        </p:nvSpPr>
        <p:spPr>
          <a:xfrm>
            <a:off x="6360023" y="804672"/>
            <a:ext cx="315097" cy="274320"/>
          </a:xfrm>
          <a:prstGeom prst="rect">
            <a:avLst/>
          </a:prstGeom>
          <a:solidFill>
            <a:srgbClr val="C9CED4"/>
          </a:solidFill>
          <a:ln w="6350">
            <a:solidFill>
              <a:srgbClr val="FFFFFF"/>
            </a:solidFill>
            <a:prstDash val="solid"/>
          </a:ln>
        </p:spPr>
      </p:sp>
      <p:sp>
        <p:nvSpPr>
          <p:cNvPr id="15" name="Text 13"/>
          <p:cNvSpPr txBox="1"/>
          <p:nvPr/>
        </p:nvSpPr>
        <p:spPr>
          <a:xfrm>
            <a:off x="6360023" y="804672"/>
            <a:ext cx="315097" cy="274320"/>
          </a:xfrm>
          <a:prstGeom prst="rect">
            <a:avLst/>
          </a:prstGeom>
          <a:noFill/>
          <a:ln/>
        </p:spPr>
        <p:txBody>
          <a:bodyPr wrap="square" lIns="0" tIns="0" rIns="0" bIns="0" rtlCol="0" anchor="ctr"/>
          <a:lstStyle/>
          <a:p>
            <a:pPr algn="ctr" indent="0" marL="0">
              <a:buNone/>
            </a:pPr>
            <a:r>
              <a:rPr lang="en-US" sz="800" b="1" dirty="0">
                <a:solidFill>
                  <a:srgbClr val="1B2431"/>
                </a:solidFill>
                <a:latin typeface="Calibri" pitchFamily="34" charset="0"/>
                <a:ea typeface="Calibri" pitchFamily="34" charset="-122"/>
                <a:cs typeface="Calibri" pitchFamily="34" charset="-120"/>
              </a:rPr>
              <a:t>3</a:t>
            </a:r>
            <a:endParaRPr lang="en-US" sz="800" dirty="0"/>
          </a:p>
        </p:txBody>
      </p:sp>
      <p:sp>
        <p:nvSpPr>
          <p:cNvPr id="16" name="Text 14"/>
          <p:cNvSpPr txBox="1"/>
          <p:nvPr/>
        </p:nvSpPr>
        <p:spPr>
          <a:xfrm>
            <a:off x="2788920" y="1088136"/>
            <a:ext cx="3931920" cy="164592"/>
          </a:xfrm>
          <a:prstGeom prst="rect">
            <a:avLst/>
          </a:prstGeom>
          <a:noFill/>
          <a:ln/>
        </p:spPr>
        <p:txBody>
          <a:bodyPr wrap="square" lIns="0" tIns="0" rIns="0" bIns="0" rtlCol="0" anchor="ctr"/>
          <a:lstStyle/>
          <a:p>
            <a:pPr indent="0" marL="0">
              <a:buNone/>
            </a:pPr>
            <a:r>
              <a:rPr lang="en-US" sz="800" dirty="0">
                <a:solidFill>
                  <a:srgbClr val="F4C7CB"/>
                </a:solidFill>
                <a:latin typeface="Calibri" pitchFamily="34" charset="0"/>
                <a:ea typeface="Calibri" pitchFamily="34" charset="-122"/>
                <a:cs typeface="Calibri" pitchFamily="34" charset="-120"/>
              </a:rPr>
              <a:t>■ </a:t>
            </a:r>
            <a:r>
              <a:rPr lang="en-US" sz="800" dirty="0">
                <a:solidFill>
                  <a:srgbClr val="1B2431"/>
                </a:solidFill>
                <a:latin typeface="Calibri" pitchFamily="34" charset="0"/>
                <a:ea typeface="Calibri" pitchFamily="34" charset="-122"/>
                <a:cs typeface="Calibri" pitchFamily="34" charset="-120"/>
              </a:rPr>
              <a:t>Discovery  </a:t>
            </a:r>
            <a:r>
              <a:rPr lang="en-US" sz="800" dirty="0">
                <a:solidFill>
                  <a:srgbClr val="1F9BD7"/>
                </a:solidFill>
                <a:latin typeface="Calibri" pitchFamily="34" charset="0"/>
                <a:ea typeface="Calibri" pitchFamily="34" charset="-122"/>
                <a:cs typeface="Calibri" pitchFamily="34" charset="-120"/>
              </a:rPr>
              <a:t>■ </a:t>
            </a:r>
            <a:r>
              <a:rPr lang="en-US" sz="800" dirty="0">
                <a:solidFill>
                  <a:srgbClr val="1B2431"/>
                </a:solidFill>
                <a:latin typeface="Calibri" pitchFamily="34" charset="0"/>
                <a:ea typeface="Calibri" pitchFamily="34" charset="-122"/>
                <a:cs typeface="Calibri" pitchFamily="34" charset="-120"/>
              </a:rPr>
              <a:t>Development  </a:t>
            </a:r>
            <a:r>
              <a:rPr lang="en-US" sz="800" dirty="0">
                <a:solidFill>
                  <a:srgbClr val="F5B74A"/>
                </a:solidFill>
                <a:latin typeface="Calibri" pitchFamily="34" charset="0"/>
                <a:ea typeface="Calibri" pitchFamily="34" charset="-122"/>
                <a:cs typeface="Calibri" pitchFamily="34" charset="-120"/>
              </a:rPr>
              <a:t>■ </a:t>
            </a:r>
            <a:r>
              <a:rPr lang="en-US" sz="800" dirty="0">
                <a:solidFill>
                  <a:srgbClr val="1B2431"/>
                </a:solidFill>
                <a:latin typeface="Calibri" pitchFamily="34" charset="0"/>
                <a:ea typeface="Calibri" pitchFamily="34" charset="-122"/>
                <a:cs typeface="Calibri" pitchFamily="34" charset="-120"/>
              </a:rPr>
              <a:t>Testing  </a:t>
            </a:r>
            <a:r>
              <a:rPr lang="en-US" sz="800" dirty="0">
                <a:solidFill>
                  <a:srgbClr val="CDEFD3"/>
                </a:solidFill>
                <a:latin typeface="Calibri" pitchFamily="34" charset="0"/>
                <a:ea typeface="Calibri" pitchFamily="34" charset="-122"/>
                <a:cs typeface="Calibri" pitchFamily="34" charset="-120"/>
              </a:rPr>
              <a:t>■ </a:t>
            </a:r>
            <a:r>
              <a:rPr lang="en-US" sz="800" dirty="0">
                <a:solidFill>
                  <a:srgbClr val="1B2431"/>
                </a:solidFill>
                <a:latin typeface="Calibri" pitchFamily="34" charset="0"/>
                <a:ea typeface="Calibri" pitchFamily="34" charset="-122"/>
                <a:cs typeface="Calibri" pitchFamily="34" charset="-120"/>
              </a:rPr>
              <a:t>Prod parallel  </a:t>
            </a:r>
            <a:r>
              <a:rPr lang="en-US" sz="800" dirty="0">
                <a:solidFill>
                  <a:srgbClr val="3CB44B"/>
                </a:solidFill>
                <a:latin typeface="Calibri" pitchFamily="34" charset="0"/>
                <a:ea typeface="Calibri" pitchFamily="34" charset="-122"/>
                <a:cs typeface="Calibri" pitchFamily="34" charset="-120"/>
              </a:rPr>
              <a:t>■ </a:t>
            </a:r>
            <a:r>
              <a:rPr lang="en-US" sz="800" dirty="0">
                <a:solidFill>
                  <a:srgbClr val="1B2431"/>
                </a:solidFill>
                <a:latin typeface="Calibri" pitchFamily="34" charset="0"/>
                <a:ea typeface="Calibri" pitchFamily="34" charset="-122"/>
                <a:cs typeface="Calibri" pitchFamily="34" charset="-120"/>
              </a:rPr>
              <a:t>Production  </a:t>
            </a:r>
            <a:r>
              <a:rPr lang="en-US" sz="800" dirty="0">
                <a:solidFill>
                  <a:srgbClr val="C9CED4"/>
                </a:solidFill>
                <a:latin typeface="Calibri" pitchFamily="34" charset="0"/>
                <a:ea typeface="Calibri" pitchFamily="34" charset="-122"/>
                <a:cs typeface="Calibri" pitchFamily="34" charset="-120"/>
              </a:rPr>
              <a:t>■ </a:t>
            </a:r>
            <a:r>
              <a:rPr lang="en-US" sz="800" dirty="0">
                <a:solidFill>
                  <a:srgbClr val="1B2431"/>
                </a:solidFill>
                <a:latin typeface="Calibri" pitchFamily="34" charset="0"/>
                <a:ea typeface="Calibri" pitchFamily="34" charset="-122"/>
                <a:cs typeface="Calibri" pitchFamily="34" charset="-120"/>
              </a:rPr>
              <a:t>On hold  </a:t>
            </a:r>
            <a:endParaRPr lang="en-US" sz="800" dirty="0"/>
          </a:p>
        </p:txBody>
      </p:sp>
      <p:sp>
        <p:nvSpPr>
          <p:cNvPr id="17" name="Shape 15"/>
          <p:cNvSpPr/>
          <p:nvPr/>
        </p:nvSpPr>
        <p:spPr>
          <a:xfrm>
            <a:off x="6858000" y="777240"/>
            <a:ext cx="932688" cy="475488"/>
          </a:xfrm>
          <a:prstGeom prst="rect">
            <a:avLst/>
          </a:prstGeom>
          <a:solidFill>
            <a:srgbClr val="F4F6F8"/>
          </a:solidFill>
          <a:ln w="12700">
            <a:solidFill>
              <a:srgbClr val="F4F6F8"/>
            </a:solidFill>
            <a:prstDash val="solid"/>
          </a:ln>
        </p:spPr>
      </p:sp>
      <p:sp>
        <p:nvSpPr>
          <p:cNvPr id="18" name="Text 16"/>
          <p:cNvSpPr txBox="1"/>
          <p:nvPr/>
        </p:nvSpPr>
        <p:spPr>
          <a:xfrm>
            <a:off x="6912864" y="777240"/>
            <a:ext cx="859536" cy="475488"/>
          </a:xfrm>
          <a:prstGeom prst="rect">
            <a:avLst/>
          </a:prstGeom>
          <a:noFill/>
          <a:ln/>
        </p:spPr>
        <p:txBody>
          <a:bodyPr wrap="square" lIns="0" tIns="0" rIns="0" bIns="0" rtlCol="0" anchor="ctr"/>
          <a:lstStyle/>
          <a:p>
            <a:pPr indent="0" marL="0">
              <a:buNone/>
            </a:pPr>
            <a:r>
              <a:rPr lang="en-US" sz="1200" b="1" dirty="0">
                <a:solidFill>
                  <a:srgbClr val="BC0018"/>
                </a:solidFill>
                <a:latin typeface="Calibri" pitchFamily="34" charset="0"/>
                <a:ea typeface="Calibri" pitchFamily="34" charset="-122"/>
                <a:cs typeface="Calibri" pitchFamily="34" charset="-120"/>
              </a:rPr>
              <a:t>~58%
</a:t>
            </a:r>
            <a:r>
              <a:rPr lang="en-US" sz="800" dirty="0">
                <a:solidFill>
                  <a:srgbClr val="1B2431"/>
                </a:solidFill>
                <a:latin typeface="Calibri" pitchFamily="34" charset="0"/>
                <a:ea typeface="Calibri" pitchFamily="34" charset="-122"/>
                <a:cs typeface="Calibri" pitchFamily="34" charset="-120"/>
              </a:rPr>
              <a:t>of projects in SSG &amp; Reg Ops</a:t>
            </a:r>
            <a:endParaRPr lang="en-US" sz="1200" dirty="0"/>
          </a:p>
        </p:txBody>
      </p:sp>
      <p:sp>
        <p:nvSpPr>
          <p:cNvPr id="19" name="Shape 17"/>
          <p:cNvSpPr/>
          <p:nvPr/>
        </p:nvSpPr>
        <p:spPr>
          <a:xfrm>
            <a:off x="7845552" y="777240"/>
            <a:ext cx="932688" cy="475488"/>
          </a:xfrm>
          <a:prstGeom prst="rect">
            <a:avLst/>
          </a:prstGeom>
          <a:solidFill>
            <a:srgbClr val="F4F6F8"/>
          </a:solidFill>
          <a:ln w="12700">
            <a:solidFill>
              <a:srgbClr val="F4F6F8"/>
            </a:solidFill>
            <a:prstDash val="solid"/>
          </a:ln>
        </p:spPr>
      </p:sp>
      <p:sp>
        <p:nvSpPr>
          <p:cNvPr id="20" name="Text 18"/>
          <p:cNvSpPr txBox="1"/>
          <p:nvPr/>
        </p:nvSpPr>
        <p:spPr>
          <a:xfrm>
            <a:off x="7900416" y="777240"/>
            <a:ext cx="859536" cy="475488"/>
          </a:xfrm>
          <a:prstGeom prst="rect">
            <a:avLst/>
          </a:prstGeom>
          <a:noFill/>
          <a:ln/>
        </p:spPr>
        <p:txBody>
          <a:bodyPr wrap="square" lIns="0" tIns="0" rIns="0" bIns="0" rtlCol="0" anchor="ctr"/>
          <a:lstStyle/>
          <a:p>
            <a:pPr indent="0" marL="0">
              <a:buNone/>
            </a:pPr>
            <a:r>
              <a:rPr lang="en-US" sz="1200" b="1" dirty="0">
                <a:solidFill>
                  <a:srgbClr val="BC0018"/>
                </a:solidFill>
                <a:latin typeface="Calibri" pitchFamily="34" charset="0"/>
                <a:ea typeface="Calibri" pitchFamily="34" charset="-122"/>
                <a:cs typeface="Calibri" pitchFamily="34" charset="-120"/>
              </a:rPr>
              <a:t>18
</a:t>
            </a:r>
            <a:r>
              <a:rPr lang="en-US" sz="800" dirty="0">
                <a:solidFill>
                  <a:srgbClr val="1B2431"/>
                </a:solidFill>
                <a:latin typeface="Calibri" pitchFamily="34" charset="0"/>
                <a:ea typeface="Calibri" pitchFamily="34" charset="-122"/>
                <a:cs typeface="Calibri" pitchFamily="34" charset="-120"/>
              </a:rPr>
              <a:t>AI use cases, 4 regions</a:t>
            </a:r>
            <a:endParaRPr lang="en-US" sz="1200" dirty="0"/>
          </a:p>
        </p:txBody>
      </p:sp>
      <p:sp>
        <p:nvSpPr>
          <p:cNvPr id="21" name="Text 19"/>
          <p:cNvSpPr txBox="1"/>
          <p:nvPr/>
        </p:nvSpPr>
        <p:spPr>
          <a:xfrm>
            <a:off x="5669280" y="1335024"/>
            <a:ext cx="3108960" cy="182880"/>
          </a:xfrm>
          <a:prstGeom prst="rect">
            <a:avLst/>
          </a:prstGeom>
          <a:noFill/>
          <a:ln/>
        </p:spPr>
        <p:txBody>
          <a:bodyPr wrap="square" lIns="0" tIns="0" rIns="0" bIns="0" rtlCol="0" anchor="ctr"/>
          <a:lstStyle/>
          <a:p>
            <a:pPr algn="r" indent="0" marL="0">
              <a:buNone/>
            </a:pPr>
            <a:r>
              <a:rPr lang="en-US" sz="800" dirty="0">
                <a:solidFill>
                  <a:srgbClr val="BC0018"/>
                </a:solidFill>
                <a:latin typeface="Calibri" pitchFamily="34" charset="0"/>
                <a:ea typeface="Calibri" pitchFamily="34" charset="-122"/>
                <a:cs typeface="Calibri" pitchFamily="34" charset="-120"/>
              </a:rPr>
              <a:t>■ </a:t>
            </a:r>
            <a:r>
              <a:rPr lang="en-US" sz="800" dirty="0">
                <a:solidFill>
                  <a:srgbClr val="5B6673"/>
                </a:solidFill>
                <a:latin typeface="Calibri" pitchFamily="34" charset="0"/>
                <a:ea typeface="Calibri" pitchFamily="34" charset="-122"/>
                <a:cs typeface="Calibri" pitchFamily="34" charset="-120"/>
              </a:rPr>
              <a:t>AI agent in build / live   </a:t>
            </a:r>
            <a:r>
              <a:rPr lang="en-US" sz="800" dirty="0">
                <a:solidFill>
                  <a:srgbClr val="5F6B75"/>
                </a:solidFill>
                <a:latin typeface="Calibri" pitchFamily="34" charset="0"/>
                <a:ea typeface="Calibri" pitchFamily="34" charset="-122"/>
                <a:cs typeface="Calibri" pitchFamily="34" charset="-120"/>
              </a:rPr>
              <a:t>■ </a:t>
            </a:r>
            <a:r>
              <a:rPr lang="en-US" sz="800" dirty="0">
                <a:solidFill>
                  <a:srgbClr val="5B6673"/>
                </a:solidFill>
                <a:latin typeface="Calibri" pitchFamily="34" charset="0"/>
                <a:ea typeface="Calibri" pitchFamily="34" charset="-122"/>
                <a:cs typeface="Calibri" pitchFamily="34" charset="-120"/>
              </a:rPr>
              <a:t>AI project in discovery / type TBC</a:t>
            </a:r>
            <a:endParaRPr lang="en-US" sz="800" dirty="0"/>
          </a:p>
        </p:txBody>
      </p:sp>
      <p:sp>
        <p:nvSpPr>
          <p:cNvPr id="22" name="Text 20"/>
          <p:cNvSpPr txBox="1"/>
          <p:nvPr/>
        </p:nvSpPr>
        <p:spPr>
          <a:xfrm>
            <a:off x="365760" y="1335024"/>
            <a:ext cx="5303520" cy="182880"/>
          </a:xfrm>
          <a:prstGeom prst="rect">
            <a:avLst/>
          </a:prstGeom>
          <a:noFill/>
          <a:ln/>
        </p:spPr>
        <p:txBody>
          <a:bodyPr wrap="square" lIns="0" tIns="0" rIns="0" bIns="0" rtlCol="0" anchor="ctr"/>
          <a:lstStyle/>
          <a:p>
            <a:pPr indent="0" marL="0">
              <a:buNone/>
            </a:pPr>
            <a:r>
              <a:rPr lang="en-US" sz="800" spc="100" kern="0" dirty="0">
                <a:solidFill>
                  <a:srgbClr val="5B6673"/>
                </a:solidFill>
                <a:latin typeface="Calibri" pitchFamily="34" charset="0"/>
                <a:ea typeface="Calibri" pitchFamily="34" charset="-122"/>
                <a:cs typeface="Calibri" pitchFamily="34" charset="-120"/>
              </a:rPr>
              <a:t>AI DELIVERED BU-BY-BU  ·  5 BUSINESS UNITS  ·  9 IN-FLIGHT BUILDS  ·  1 SHARED COMPONENT</a:t>
            </a:r>
            <a:endParaRPr lang="en-US" sz="800" dirty="0"/>
          </a:p>
        </p:txBody>
      </p:sp>
      <p:sp>
        <p:nvSpPr>
          <p:cNvPr id="23" name="Shape 21"/>
          <p:cNvSpPr/>
          <p:nvPr/>
        </p:nvSpPr>
        <p:spPr>
          <a:xfrm>
            <a:off x="365760" y="1591056"/>
            <a:ext cx="1594714" cy="310896"/>
          </a:xfrm>
          <a:prstGeom prst="rect">
            <a:avLst/>
          </a:prstGeom>
          <a:solidFill>
            <a:srgbClr val="5F6B75"/>
          </a:solidFill>
          <a:ln w="12700">
            <a:solidFill>
              <a:srgbClr val="5F6B75"/>
            </a:solidFill>
            <a:prstDash val="solid"/>
          </a:ln>
        </p:spPr>
      </p:sp>
      <p:sp>
        <p:nvSpPr>
          <p:cNvPr id="24" name="Text 22"/>
          <p:cNvSpPr txBox="1"/>
          <p:nvPr/>
        </p:nvSpPr>
        <p:spPr>
          <a:xfrm>
            <a:off x="365760" y="1591056"/>
            <a:ext cx="159471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SSG</a:t>
            </a:r>
            <a:endParaRPr lang="en-US" sz="1000" dirty="0"/>
          </a:p>
        </p:txBody>
      </p:sp>
      <p:sp>
        <p:nvSpPr>
          <p:cNvPr id="25" name="Text 23"/>
          <p:cNvSpPr txBox="1"/>
          <p:nvPr/>
        </p:nvSpPr>
        <p:spPr>
          <a:xfrm>
            <a:off x="365760" y="1920240"/>
            <a:ext cx="1594714" cy="164592"/>
          </a:xfrm>
          <a:prstGeom prst="rect">
            <a:avLst/>
          </a:prstGeom>
          <a:noFill/>
          <a:ln/>
        </p:spPr>
        <p:txBody>
          <a:bodyPr wrap="square" lIns="0" tIns="0" rIns="0" bIns="0"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2 builds · 4 AI / 9 DTI</a:t>
            </a:r>
            <a:endParaRPr lang="en-US" sz="800" dirty="0"/>
          </a:p>
        </p:txBody>
      </p:sp>
      <p:sp>
        <p:nvSpPr>
          <p:cNvPr id="26" name="Shape 24"/>
          <p:cNvSpPr/>
          <p:nvPr/>
        </p:nvSpPr>
        <p:spPr>
          <a:xfrm>
            <a:off x="365760" y="2103120"/>
            <a:ext cx="1594714" cy="2779776"/>
          </a:xfrm>
          <a:prstGeom prst="rect">
            <a:avLst/>
          </a:prstGeom>
          <a:solidFill>
            <a:srgbClr val="F4F6F8"/>
          </a:solidFill>
          <a:ln w="12700">
            <a:solidFill>
              <a:srgbClr val="F4F6F8"/>
            </a:solidFill>
            <a:prstDash val="solid"/>
          </a:ln>
        </p:spPr>
      </p:sp>
      <p:sp>
        <p:nvSpPr>
          <p:cNvPr id="27" name="Shape 25"/>
          <p:cNvSpPr/>
          <p:nvPr/>
        </p:nvSpPr>
        <p:spPr>
          <a:xfrm>
            <a:off x="420624" y="2176272"/>
            <a:ext cx="1484986" cy="402336"/>
          </a:xfrm>
          <a:prstGeom prst="rect">
            <a:avLst/>
          </a:prstGeom>
          <a:solidFill>
            <a:srgbClr val="FFFFFF"/>
          </a:solidFill>
          <a:ln w="6350">
            <a:solidFill>
              <a:srgbClr val="D8DEE4"/>
            </a:solidFill>
            <a:prstDash val="solid"/>
          </a:ln>
        </p:spPr>
      </p:sp>
      <p:sp>
        <p:nvSpPr>
          <p:cNvPr id="28" name="Shape 26"/>
          <p:cNvSpPr/>
          <p:nvPr/>
        </p:nvSpPr>
        <p:spPr>
          <a:xfrm>
            <a:off x="475488" y="2240280"/>
            <a:ext cx="274320" cy="274320"/>
          </a:xfrm>
          <a:prstGeom prst="rect">
            <a:avLst/>
          </a:prstGeom>
          <a:solidFill>
            <a:srgbClr val="BC0018"/>
          </a:solidFill>
          <a:ln w="12700">
            <a:solidFill>
              <a:srgbClr val="BC0018"/>
            </a:solidFill>
            <a:prstDash val="solid"/>
          </a:ln>
        </p:spPr>
      </p:sp>
      <p:pic>
        <p:nvPicPr>
          <p:cNvPr id="29" name="Image 0" descr="preencoded.png">    </p:cNvPr>
          <p:cNvPicPr>
            <a:picLocks noChangeAspect="1"/>
          </p:cNvPicPr>
          <p:nvPr/>
        </p:nvPicPr>
        <p:blipFill>
          <a:blip r:embed="rId1"/>
          <a:stretch>
            <a:fillRect/>
          </a:stretch>
        </p:blipFill>
        <p:spPr>
          <a:xfrm>
            <a:off x="516636" y="2281428"/>
            <a:ext cx="192024" cy="192024"/>
          </a:xfrm>
          <a:prstGeom prst="rect">
            <a:avLst/>
          </a:prstGeom>
        </p:spPr>
      </p:pic>
      <p:sp>
        <p:nvSpPr>
          <p:cNvPr id="30" name="Text 27"/>
          <p:cNvSpPr txBox="1"/>
          <p:nvPr/>
        </p:nvSpPr>
        <p:spPr>
          <a:xfrm>
            <a:off x="822960" y="2176272"/>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OTC Allege
</a:t>
            </a:r>
            <a:r>
              <a:rPr lang="en-US" sz="800" dirty="0">
                <a:solidFill>
                  <a:srgbClr val="5B6673"/>
                </a:solidFill>
                <a:latin typeface="Calibri" pitchFamily="34" charset="0"/>
                <a:ea typeface="Calibri" pitchFamily="34" charset="-122"/>
                <a:cs typeface="Calibri" pitchFamily="34" charset="-120"/>
              </a:rPr>
              <a:t>Instruction Capture Agent</a:t>
            </a:r>
            <a:endParaRPr lang="en-US" sz="800" dirty="0"/>
          </a:p>
        </p:txBody>
      </p:sp>
      <p:sp>
        <p:nvSpPr>
          <p:cNvPr id="31" name="Shape 28"/>
          <p:cNvSpPr/>
          <p:nvPr/>
        </p:nvSpPr>
        <p:spPr>
          <a:xfrm>
            <a:off x="420624" y="2615184"/>
            <a:ext cx="1484986" cy="402336"/>
          </a:xfrm>
          <a:prstGeom prst="rect">
            <a:avLst/>
          </a:prstGeom>
          <a:solidFill>
            <a:srgbClr val="FFFFFF"/>
          </a:solidFill>
          <a:ln w="6350">
            <a:solidFill>
              <a:srgbClr val="D8DEE4"/>
            </a:solidFill>
            <a:prstDash val="solid"/>
          </a:ln>
        </p:spPr>
      </p:sp>
      <p:sp>
        <p:nvSpPr>
          <p:cNvPr id="32" name="Shape 29"/>
          <p:cNvSpPr/>
          <p:nvPr/>
        </p:nvSpPr>
        <p:spPr>
          <a:xfrm>
            <a:off x="475488" y="2679192"/>
            <a:ext cx="274320" cy="274320"/>
          </a:xfrm>
          <a:prstGeom prst="rect">
            <a:avLst/>
          </a:prstGeom>
          <a:solidFill>
            <a:srgbClr val="BC0018"/>
          </a:solidFill>
          <a:ln w="12700">
            <a:solidFill>
              <a:srgbClr val="BC0018"/>
            </a:solidFill>
            <a:prstDash val="solid"/>
          </a:ln>
        </p:spPr>
      </p:sp>
      <p:pic>
        <p:nvPicPr>
          <p:cNvPr id="33" name="Image 1" descr="preencoded.png">    </p:cNvPr>
          <p:cNvPicPr>
            <a:picLocks noChangeAspect="1"/>
          </p:cNvPicPr>
          <p:nvPr/>
        </p:nvPicPr>
        <p:blipFill>
          <a:blip r:embed="rId2"/>
          <a:stretch>
            <a:fillRect/>
          </a:stretch>
        </p:blipFill>
        <p:spPr>
          <a:xfrm>
            <a:off x="516636" y="2720340"/>
            <a:ext cx="192024" cy="192024"/>
          </a:xfrm>
          <a:prstGeom prst="rect">
            <a:avLst/>
          </a:prstGeom>
        </p:spPr>
      </p:pic>
      <p:sp>
        <p:nvSpPr>
          <p:cNvPr id="34" name="Text 30"/>
          <p:cNvSpPr txBox="1"/>
          <p:nvPr/>
        </p:nvSpPr>
        <p:spPr>
          <a:xfrm>
            <a:off x="822960" y="2615184"/>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Drafting: Confirmation
</a:t>
            </a:r>
            <a:r>
              <a:rPr lang="en-US" sz="800" dirty="0">
                <a:solidFill>
                  <a:srgbClr val="5B6673"/>
                </a:solidFill>
                <a:latin typeface="Calibri" pitchFamily="34" charset="0"/>
                <a:ea typeface="Calibri" pitchFamily="34" charset="-122"/>
                <a:cs typeface="Calibri" pitchFamily="34" charset="-120"/>
              </a:rPr>
              <a:t>Instruction Capture Agent</a:t>
            </a:r>
            <a:endParaRPr lang="en-US" sz="800" dirty="0"/>
          </a:p>
        </p:txBody>
      </p:sp>
      <p:sp>
        <p:nvSpPr>
          <p:cNvPr id="35" name="Shape 31"/>
          <p:cNvSpPr/>
          <p:nvPr/>
        </p:nvSpPr>
        <p:spPr>
          <a:xfrm>
            <a:off x="420624" y="3054096"/>
            <a:ext cx="1484986" cy="402336"/>
          </a:xfrm>
          <a:prstGeom prst="rect">
            <a:avLst/>
          </a:prstGeom>
          <a:solidFill>
            <a:srgbClr val="FFFFFF"/>
          </a:solidFill>
          <a:ln w="6350">
            <a:solidFill>
              <a:srgbClr val="D8DEE4"/>
            </a:solidFill>
            <a:prstDash val="solid"/>
          </a:ln>
        </p:spPr>
      </p:sp>
      <p:sp>
        <p:nvSpPr>
          <p:cNvPr id="36" name="Shape 32"/>
          <p:cNvSpPr/>
          <p:nvPr/>
        </p:nvSpPr>
        <p:spPr>
          <a:xfrm>
            <a:off x="475488" y="3118104"/>
            <a:ext cx="274320" cy="274320"/>
          </a:xfrm>
          <a:prstGeom prst="rect">
            <a:avLst/>
          </a:prstGeom>
          <a:solidFill>
            <a:srgbClr val="BC0018"/>
          </a:solidFill>
          <a:ln w="12700">
            <a:solidFill>
              <a:srgbClr val="BC0018"/>
            </a:solidFill>
            <a:prstDash val="solid"/>
          </a:ln>
        </p:spPr>
      </p:sp>
      <p:pic>
        <p:nvPicPr>
          <p:cNvPr id="37" name="Image 2" descr="preencoded.png">    </p:cNvPr>
          <p:cNvPicPr>
            <a:picLocks noChangeAspect="1"/>
          </p:cNvPicPr>
          <p:nvPr/>
        </p:nvPicPr>
        <p:blipFill>
          <a:blip r:embed="rId3"/>
          <a:stretch>
            <a:fillRect/>
          </a:stretch>
        </p:blipFill>
        <p:spPr>
          <a:xfrm>
            <a:off x="516636" y="3159252"/>
            <a:ext cx="192024" cy="192024"/>
          </a:xfrm>
          <a:prstGeom prst="rect">
            <a:avLst/>
          </a:prstGeom>
        </p:spPr>
      </p:pic>
      <p:sp>
        <p:nvSpPr>
          <p:cNvPr id="38" name="Text 33"/>
          <p:cNvSpPr txBox="1"/>
          <p:nvPr/>
        </p:nvSpPr>
        <p:spPr>
          <a:xfrm>
            <a:off x="822960" y="3054096"/>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Name &amp; Forms – NexAI
</a:t>
            </a:r>
            <a:r>
              <a:rPr lang="en-US" sz="800" dirty="0">
                <a:solidFill>
                  <a:srgbClr val="5B6673"/>
                </a:solidFill>
                <a:latin typeface="Calibri" pitchFamily="34" charset="0"/>
                <a:ea typeface="Calibri" pitchFamily="34" charset="-122"/>
                <a:cs typeface="Calibri" pitchFamily="34" charset="-120"/>
              </a:rPr>
              <a:t>Instruction Capture + Compare &amp; Match Agent</a:t>
            </a:r>
            <a:endParaRPr lang="en-US" sz="800" dirty="0"/>
          </a:p>
        </p:txBody>
      </p:sp>
      <p:sp>
        <p:nvSpPr>
          <p:cNvPr id="39" name="Shape 34"/>
          <p:cNvSpPr/>
          <p:nvPr/>
        </p:nvSpPr>
        <p:spPr>
          <a:xfrm>
            <a:off x="420624" y="3493008"/>
            <a:ext cx="1484986" cy="402336"/>
          </a:xfrm>
          <a:prstGeom prst="rect">
            <a:avLst/>
          </a:prstGeom>
          <a:solidFill>
            <a:srgbClr val="FFFFFF"/>
          </a:solidFill>
          <a:ln w="6350">
            <a:solidFill>
              <a:srgbClr val="D8DEE4"/>
            </a:solidFill>
            <a:prstDash val="solid"/>
          </a:ln>
        </p:spPr>
      </p:sp>
      <p:sp>
        <p:nvSpPr>
          <p:cNvPr id="40" name="Shape 35"/>
          <p:cNvSpPr/>
          <p:nvPr/>
        </p:nvSpPr>
        <p:spPr>
          <a:xfrm>
            <a:off x="475488" y="3557016"/>
            <a:ext cx="274320" cy="274320"/>
          </a:xfrm>
          <a:prstGeom prst="rect">
            <a:avLst/>
          </a:prstGeom>
          <a:solidFill>
            <a:srgbClr val="BC0018"/>
          </a:solidFill>
          <a:ln w="12700">
            <a:solidFill>
              <a:srgbClr val="BC0018"/>
            </a:solidFill>
            <a:prstDash val="solid"/>
          </a:ln>
        </p:spPr>
      </p:sp>
      <p:pic>
        <p:nvPicPr>
          <p:cNvPr id="41" name="Image 3" descr="preencoded.png">    </p:cNvPr>
          <p:cNvPicPr>
            <a:picLocks noChangeAspect="1"/>
          </p:cNvPicPr>
          <p:nvPr/>
        </p:nvPicPr>
        <p:blipFill>
          <a:blip r:embed="rId4"/>
          <a:stretch>
            <a:fillRect/>
          </a:stretch>
        </p:blipFill>
        <p:spPr>
          <a:xfrm>
            <a:off x="516636" y="3598164"/>
            <a:ext cx="192024" cy="192024"/>
          </a:xfrm>
          <a:prstGeom prst="rect">
            <a:avLst/>
          </a:prstGeom>
        </p:spPr>
      </p:pic>
      <p:sp>
        <p:nvSpPr>
          <p:cNvPr id="42" name="Text 36"/>
          <p:cNvSpPr txBox="1"/>
          <p:nvPr/>
        </p:nvSpPr>
        <p:spPr>
          <a:xfrm>
            <a:off x="822960" y="3493008"/>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Manual drafting – NFIK
</a:t>
            </a:r>
            <a:r>
              <a:rPr lang="en-US" sz="800" dirty="0">
                <a:solidFill>
                  <a:srgbClr val="5B6673"/>
                </a:solidFill>
                <a:latin typeface="Calibri" pitchFamily="34" charset="0"/>
                <a:ea typeface="Calibri" pitchFamily="34" charset="-122"/>
                <a:cs typeface="Calibri" pitchFamily="34" charset="-120"/>
              </a:rPr>
              <a:t>Instruction Capture (drafting) Agent</a:t>
            </a:r>
            <a:endParaRPr lang="en-US" sz="800" dirty="0"/>
          </a:p>
        </p:txBody>
      </p:sp>
      <p:sp>
        <p:nvSpPr>
          <p:cNvPr id="43" name="Shape 37"/>
          <p:cNvSpPr/>
          <p:nvPr/>
        </p:nvSpPr>
        <p:spPr>
          <a:xfrm>
            <a:off x="420624" y="3931920"/>
            <a:ext cx="1484986" cy="402336"/>
          </a:xfrm>
          <a:prstGeom prst="rect">
            <a:avLst/>
          </a:prstGeom>
          <a:solidFill>
            <a:srgbClr val="FFFFFF"/>
          </a:solidFill>
          <a:ln w="6350">
            <a:solidFill>
              <a:srgbClr val="D8DEE4"/>
            </a:solidFill>
            <a:prstDash val="solid"/>
          </a:ln>
        </p:spPr>
      </p:sp>
      <p:sp>
        <p:nvSpPr>
          <p:cNvPr id="44" name="Shape 38"/>
          <p:cNvSpPr/>
          <p:nvPr/>
        </p:nvSpPr>
        <p:spPr>
          <a:xfrm>
            <a:off x="475488" y="3995928"/>
            <a:ext cx="274320" cy="274320"/>
          </a:xfrm>
          <a:prstGeom prst="rect">
            <a:avLst/>
          </a:prstGeom>
          <a:solidFill>
            <a:srgbClr val="5F6B75"/>
          </a:solidFill>
          <a:ln w="12700">
            <a:solidFill>
              <a:srgbClr val="5F6B75"/>
            </a:solidFill>
            <a:prstDash val="solid"/>
          </a:ln>
        </p:spPr>
      </p:sp>
      <p:pic>
        <p:nvPicPr>
          <p:cNvPr id="45" name="Image 4" descr="preencoded.png">    </p:cNvPr>
          <p:cNvPicPr>
            <a:picLocks noChangeAspect="1"/>
          </p:cNvPicPr>
          <p:nvPr/>
        </p:nvPicPr>
        <p:blipFill>
          <a:blip r:embed="rId5"/>
          <a:stretch>
            <a:fillRect/>
          </a:stretch>
        </p:blipFill>
        <p:spPr>
          <a:xfrm>
            <a:off x="516636" y="4037076"/>
            <a:ext cx="192024" cy="192024"/>
          </a:xfrm>
          <a:prstGeom prst="rect">
            <a:avLst/>
          </a:prstGeom>
        </p:spPr>
      </p:pic>
      <p:sp>
        <p:nvSpPr>
          <p:cNvPr id="46" name="Text 39"/>
          <p:cNvSpPr txBox="1"/>
          <p:nvPr/>
        </p:nvSpPr>
        <p:spPr>
          <a:xfrm>
            <a:off x="822960" y="3931920"/>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Semi STP
</a:t>
            </a:r>
            <a:r>
              <a:rPr lang="en-US" sz="800" dirty="0">
                <a:solidFill>
                  <a:srgbClr val="5B6673"/>
                </a:solidFill>
                <a:latin typeface="Calibri" pitchFamily="34" charset="0"/>
                <a:ea typeface="Calibri" pitchFamily="34" charset="-122"/>
                <a:cs typeface="Calibri" pitchFamily="34" charset="-120"/>
              </a:rPr>
              <a:t>AI project · type TBC</a:t>
            </a:r>
            <a:endParaRPr lang="en-US" sz="800" dirty="0"/>
          </a:p>
        </p:txBody>
      </p:sp>
      <p:sp>
        <p:nvSpPr>
          <p:cNvPr id="47" name="Text 40"/>
          <p:cNvSpPr txBox="1"/>
          <p:nvPr/>
        </p:nvSpPr>
        <p:spPr>
          <a:xfrm>
            <a:off x="1942186" y="2276856"/>
            <a:ext cx="146304" cy="274320"/>
          </a:xfrm>
          <a:prstGeom prst="rect">
            <a:avLst/>
          </a:prstGeom>
          <a:noFill/>
          <a:ln/>
        </p:spPr>
        <p:txBody>
          <a:bodyPr wrap="square" lIns="0" tIns="0" rIns="0" bIns="0" rtlCol="0" anchor="ctr"/>
          <a:lstStyle/>
          <a:p>
            <a:pPr algn="ctr" indent="0" marL="0">
              <a:buNone/>
            </a:pPr>
            <a:r>
              <a:rPr lang="en-US" sz="1000" b="1" dirty="0">
                <a:solidFill>
                  <a:srgbClr val="BC0018"/>
                </a:solidFill>
                <a:latin typeface="Calibri" pitchFamily="34" charset="0"/>
                <a:ea typeface="Calibri" pitchFamily="34" charset="-122"/>
                <a:cs typeface="Calibri" pitchFamily="34" charset="-120"/>
              </a:rPr>
              <a:t>✕</a:t>
            </a:r>
            <a:endParaRPr lang="en-US" sz="1000" dirty="0"/>
          </a:p>
        </p:txBody>
      </p:sp>
      <p:sp>
        <p:nvSpPr>
          <p:cNvPr id="48" name="Shape 41"/>
          <p:cNvSpPr/>
          <p:nvPr/>
        </p:nvSpPr>
        <p:spPr>
          <a:xfrm>
            <a:off x="2070202" y="1591056"/>
            <a:ext cx="1594714" cy="310896"/>
          </a:xfrm>
          <a:prstGeom prst="rect">
            <a:avLst/>
          </a:prstGeom>
          <a:solidFill>
            <a:srgbClr val="5F6B75"/>
          </a:solidFill>
          <a:ln w="12700">
            <a:solidFill>
              <a:srgbClr val="5F6B75"/>
            </a:solidFill>
            <a:prstDash val="solid"/>
          </a:ln>
        </p:spPr>
      </p:sp>
      <p:sp>
        <p:nvSpPr>
          <p:cNvPr id="49" name="Text 42"/>
          <p:cNvSpPr txBox="1"/>
          <p:nvPr/>
        </p:nvSpPr>
        <p:spPr>
          <a:xfrm>
            <a:off x="2070202" y="1591056"/>
            <a:ext cx="159471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CSG</a:t>
            </a:r>
            <a:endParaRPr lang="en-US" sz="1000" dirty="0"/>
          </a:p>
        </p:txBody>
      </p:sp>
      <p:sp>
        <p:nvSpPr>
          <p:cNvPr id="50" name="Text 43"/>
          <p:cNvSpPr txBox="1"/>
          <p:nvPr/>
        </p:nvSpPr>
        <p:spPr>
          <a:xfrm>
            <a:off x="2070202" y="1920240"/>
            <a:ext cx="1594714" cy="164592"/>
          </a:xfrm>
          <a:prstGeom prst="rect">
            <a:avLst/>
          </a:prstGeom>
          <a:noFill/>
          <a:ln/>
        </p:spPr>
        <p:txBody>
          <a:bodyPr wrap="square" lIns="0" tIns="0" rIns="0" bIns="0"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4 builds · 4 AI / 1 DTI</a:t>
            </a:r>
            <a:endParaRPr lang="en-US" sz="800" dirty="0"/>
          </a:p>
        </p:txBody>
      </p:sp>
      <p:sp>
        <p:nvSpPr>
          <p:cNvPr id="51" name="Shape 44"/>
          <p:cNvSpPr/>
          <p:nvPr/>
        </p:nvSpPr>
        <p:spPr>
          <a:xfrm>
            <a:off x="2070202" y="2103120"/>
            <a:ext cx="1594714" cy="2779776"/>
          </a:xfrm>
          <a:prstGeom prst="rect">
            <a:avLst/>
          </a:prstGeom>
          <a:solidFill>
            <a:srgbClr val="F4F6F8"/>
          </a:solidFill>
          <a:ln w="12700">
            <a:solidFill>
              <a:srgbClr val="F4F6F8"/>
            </a:solidFill>
            <a:prstDash val="solid"/>
          </a:ln>
        </p:spPr>
      </p:sp>
      <p:sp>
        <p:nvSpPr>
          <p:cNvPr id="52" name="Shape 45"/>
          <p:cNvSpPr/>
          <p:nvPr/>
        </p:nvSpPr>
        <p:spPr>
          <a:xfrm>
            <a:off x="2125066" y="2176272"/>
            <a:ext cx="1484986" cy="402336"/>
          </a:xfrm>
          <a:prstGeom prst="rect">
            <a:avLst/>
          </a:prstGeom>
          <a:solidFill>
            <a:srgbClr val="FFFFFF"/>
          </a:solidFill>
          <a:ln w="6350">
            <a:solidFill>
              <a:srgbClr val="D8DEE4"/>
            </a:solidFill>
            <a:prstDash val="solid"/>
          </a:ln>
        </p:spPr>
      </p:sp>
      <p:sp>
        <p:nvSpPr>
          <p:cNvPr id="53" name="Shape 46"/>
          <p:cNvSpPr/>
          <p:nvPr/>
        </p:nvSpPr>
        <p:spPr>
          <a:xfrm>
            <a:off x="2179930" y="2240280"/>
            <a:ext cx="274320" cy="274320"/>
          </a:xfrm>
          <a:prstGeom prst="rect">
            <a:avLst/>
          </a:prstGeom>
          <a:solidFill>
            <a:srgbClr val="BC0018"/>
          </a:solidFill>
          <a:ln w="12700">
            <a:solidFill>
              <a:srgbClr val="BC0018"/>
            </a:solidFill>
            <a:prstDash val="solid"/>
          </a:ln>
        </p:spPr>
      </p:sp>
      <p:pic>
        <p:nvPicPr>
          <p:cNvPr id="54" name="Image 5" descr="preencoded.png">    </p:cNvPr>
          <p:cNvPicPr>
            <a:picLocks noChangeAspect="1"/>
          </p:cNvPicPr>
          <p:nvPr/>
        </p:nvPicPr>
        <p:blipFill>
          <a:blip r:embed="rId6"/>
          <a:stretch>
            <a:fillRect/>
          </a:stretch>
        </p:blipFill>
        <p:spPr>
          <a:xfrm>
            <a:off x="2221078" y="2281428"/>
            <a:ext cx="192024" cy="192024"/>
          </a:xfrm>
          <a:prstGeom prst="rect">
            <a:avLst/>
          </a:prstGeom>
        </p:spPr>
      </p:pic>
      <p:sp>
        <p:nvSpPr>
          <p:cNvPr id="55" name="Text 47"/>
          <p:cNvSpPr txBox="1"/>
          <p:nvPr/>
        </p:nvSpPr>
        <p:spPr>
          <a:xfrm>
            <a:off x="2527402" y="2176272"/>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KYC Name Screening Analyzer
</a:t>
            </a:r>
            <a:r>
              <a:rPr lang="en-US" sz="800" dirty="0">
                <a:solidFill>
                  <a:srgbClr val="5B6673"/>
                </a:solidFill>
                <a:latin typeface="Calibri" pitchFamily="34" charset="0"/>
                <a:ea typeface="Calibri" pitchFamily="34" charset="-122"/>
                <a:cs typeface="Calibri" pitchFamily="34" charset="-120"/>
              </a:rPr>
              <a:t>Data Validation Agent</a:t>
            </a:r>
            <a:endParaRPr lang="en-US" sz="800" dirty="0"/>
          </a:p>
        </p:txBody>
      </p:sp>
      <p:sp>
        <p:nvSpPr>
          <p:cNvPr id="56" name="Shape 48"/>
          <p:cNvSpPr/>
          <p:nvPr/>
        </p:nvSpPr>
        <p:spPr>
          <a:xfrm>
            <a:off x="2125066" y="2615184"/>
            <a:ext cx="1484986" cy="402336"/>
          </a:xfrm>
          <a:prstGeom prst="rect">
            <a:avLst/>
          </a:prstGeom>
          <a:solidFill>
            <a:srgbClr val="FFFFFF"/>
          </a:solidFill>
          <a:ln w="6350">
            <a:solidFill>
              <a:srgbClr val="D8DEE4"/>
            </a:solidFill>
            <a:prstDash val="solid"/>
          </a:ln>
        </p:spPr>
      </p:sp>
      <p:sp>
        <p:nvSpPr>
          <p:cNvPr id="57" name="Shape 49"/>
          <p:cNvSpPr/>
          <p:nvPr/>
        </p:nvSpPr>
        <p:spPr>
          <a:xfrm>
            <a:off x="2179930" y="2679192"/>
            <a:ext cx="274320" cy="274320"/>
          </a:xfrm>
          <a:prstGeom prst="rect">
            <a:avLst/>
          </a:prstGeom>
          <a:solidFill>
            <a:srgbClr val="BC0018"/>
          </a:solidFill>
          <a:ln w="12700">
            <a:solidFill>
              <a:srgbClr val="BC0018"/>
            </a:solidFill>
            <a:prstDash val="solid"/>
          </a:ln>
        </p:spPr>
      </p:sp>
      <p:pic>
        <p:nvPicPr>
          <p:cNvPr id="58" name="Image 6" descr="preencoded.png">    </p:cNvPr>
          <p:cNvPicPr>
            <a:picLocks noChangeAspect="1"/>
          </p:cNvPicPr>
          <p:nvPr/>
        </p:nvPicPr>
        <p:blipFill>
          <a:blip r:embed="rId7"/>
          <a:stretch>
            <a:fillRect/>
          </a:stretch>
        </p:blipFill>
        <p:spPr>
          <a:xfrm>
            <a:off x="2221078" y="2720340"/>
            <a:ext cx="192024" cy="192024"/>
          </a:xfrm>
          <a:prstGeom prst="rect">
            <a:avLst/>
          </a:prstGeom>
        </p:spPr>
      </p:pic>
      <p:sp>
        <p:nvSpPr>
          <p:cNvPr id="59" name="Text 50"/>
          <p:cNvSpPr txBox="1"/>
          <p:nvPr/>
        </p:nvSpPr>
        <p:spPr>
          <a:xfrm>
            <a:off x="2527402" y="2615184"/>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Data Crawler + Entity Data Queue
</a:t>
            </a:r>
            <a:r>
              <a:rPr lang="en-US" sz="800" dirty="0">
                <a:solidFill>
                  <a:srgbClr val="5B6673"/>
                </a:solidFill>
                <a:latin typeface="Calibri" pitchFamily="34" charset="0"/>
                <a:ea typeface="Calibri" pitchFamily="34" charset="-122"/>
                <a:cs typeface="Calibri" pitchFamily="34" charset="-120"/>
              </a:rPr>
              <a:t>Document Knowledge Agent</a:t>
            </a:r>
            <a:endParaRPr lang="en-US" sz="800" dirty="0"/>
          </a:p>
        </p:txBody>
      </p:sp>
      <p:sp>
        <p:nvSpPr>
          <p:cNvPr id="60" name="Shape 51"/>
          <p:cNvSpPr/>
          <p:nvPr/>
        </p:nvSpPr>
        <p:spPr>
          <a:xfrm>
            <a:off x="2125066" y="3054096"/>
            <a:ext cx="1484986" cy="402336"/>
          </a:xfrm>
          <a:prstGeom prst="rect">
            <a:avLst/>
          </a:prstGeom>
          <a:solidFill>
            <a:srgbClr val="FFFFFF"/>
          </a:solidFill>
          <a:ln w="6350">
            <a:solidFill>
              <a:srgbClr val="D8DEE4"/>
            </a:solidFill>
            <a:prstDash val="solid"/>
          </a:ln>
        </p:spPr>
      </p:sp>
      <p:sp>
        <p:nvSpPr>
          <p:cNvPr id="61" name="Shape 52"/>
          <p:cNvSpPr/>
          <p:nvPr/>
        </p:nvSpPr>
        <p:spPr>
          <a:xfrm>
            <a:off x="2179930" y="3118104"/>
            <a:ext cx="274320" cy="274320"/>
          </a:xfrm>
          <a:prstGeom prst="rect">
            <a:avLst/>
          </a:prstGeom>
          <a:solidFill>
            <a:srgbClr val="BC0018"/>
          </a:solidFill>
          <a:ln w="12700">
            <a:solidFill>
              <a:srgbClr val="BC0018"/>
            </a:solidFill>
            <a:prstDash val="solid"/>
          </a:ln>
        </p:spPr>
      </p:sp>
      <p:pic>
        <p:nvPicPr>
          <p:cNvPr id="62" name="Image 7" descr="preencoded.png">    </p:cNvPr>
          <p:cNvPicPr>
            <a:picLocks noChangeAspect="1"/>
          </p:cNvPicPr>
          <p:nvPr/>
        </p:nvPicPr>
        <p:blipFill>
          <a:blip r:embed="rId8"/>
          <a:stretch>
            <a:fillRect/>
          </a:stretch>
        </p:blipFill>
        <p:spPr>
          <a:xfrm>
            <a:off x="2221078" y="3159252"/>
            <a:ext cx="192024" cy="192024"/>
          </a:xfrm>
          <a:prstGeom prst="rect">
            <a:avLst/>
          </a:prstGeom>
        </p:spPr>
      </p:pic>
      <p:sp>
        <p:nvSpPr>
          <p:cNvPr id="63" name="Text 53"/>
          <p:cNvSpPr txBox="1"/>
          <p:nvPr/>
        </p:nvSpPr>
        <p:spPr>
          <a:xfrm>
            <a:off x="2527402" y="3054096"/>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CSG QA
</a:t>
            </a:r>
            <a:r>
              <a:rPr lang="en-US" sz="800" dirty="0">
                <a:solidFill>
                  <a:srgbClr val="5B6673"/>
                </a:solidFill>
                <a:latin typeface="Calibri" pitchFamily="34" charset="0"/>
                <a:ea typeface="Calibri" pitchFamily="34" charset="-122"/>
                <a:cs typeface="Calibri" pitchFamily="34" charset="-120"/>
              </a:rPr>
              <a:t>Control Assurance Agent</a:t>
            </a:r>
            <a:endParaRPr lang="en-US" sz="800" dirty="0"/>
          </a:p>
        </p:txBody>
      </p:sp>
      <p:sp>
        <p:nvSpPr>
          <p:cNvPr id="64" name="Shape 54"/>
          <p:cNvSpPr/>
          <p:nvPr/>
        </p:nvSpPr>
        <p:spPr>
          <a:xfrm>
            <a:off x="2125066" y="3493008"/>
            <a:ext cx="1484986" cy="402336"/>
          </a:xfrm>
          <a:prstGeom prst="rect">
            <a:avLst/>
          </a:prstGeom>
          <a:solidFill>
            <a:srgbClr val="FFFFFF"/>
          </a:solidFill>
          <a:ln w="6350">
            <a:solidFill>
              <a:srgbClr val="D8DEE4"/>
            </a:solidFill>
            <a:prstDash val="solid"/>
          </a:ln>
        </p:spPr>
      </p:sp>
      <p:sp>
        <p:nvSpPr>
          <p:cNvPr id="65" name="Shape 55"/>
          <p:cNvSpPr/>
          <p:nvPr/>
        </p:nvSpPr>
        <p:spPr>
          <a:xfrm>
            <a:off x="2179930" y="3557016"/>
            <a:ext cx="274320" cy="274320"/>
          </a:xfrm>
          <a:prstGeom prst="rect">
            <a:avLst/>
          </a:prstGeom>
          <a:solidFill>
            <a:srgbClr val="BC0018"/>
          </a:solidFill>
          <a:ln w="12700">
            <a:solidFill>
              <a:srgbClr val="BC0018"/>
            </a:solidFill>
            <a:prstDash val="solid"/>
          </a:ln>
        </p:spPr>
      </p:sp>
      <p:pic>
        <p:nvPicPr>
          <p:cNvPr id="66" name="Image 8" descr="preencoded.png">    </p:cNvPr>
          <p:cNvPicPr>
            <a:picLocks noChangeAspect="1"/>
          </p:cNvPicPr>
          <p:nvPr/>
        </p:nvPicPr>
        <p:blipFill>
          <a:blip r:embed="rId9"/>
          <a:stretch>
            <a:fillRect/>
          </a:stretch>
        </p:blipFill>
        <p:spPr>
          <a:xfrm>
            <a:off x="2221078" y="3598164"/>
            <a:ext cx="192024" cy="192024"/>
          </a:xfrm>
          <a:prstGeom prst="rect">
            <a:avLst/>
          </a:prstGeom>
        </p:spPr>
      </p:pic>
      <p:sp>
        <p:nvSpPr>
          <p:cNvPr id="67" name="Text 56"/>
          <p:cNvSpPr txBox="1"/>
          <p:nvPr/>
        </p:nvSpPr>
        <p:spPr>
          <a:xfrm>
            <a:off x="2527402" y="3493008"/>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EDM
</a:t>
            </a:r>
            <a:r>
              <a:rPr lang="en-US" sz="800" dirty="0">
                <a:solidFill>
                  <a:srgbClr val="5B6673"/>
                </a:solidFill>
                <a:latin typeface="Calibri" pitchFamily="34" charset="0"/>
                <a:ea typeface="Calibri" pitchFamily="34" charset="-122"/>
                <a:cs typeface="Calibri" pitchFamily="34" charset="-120"/>
              </a:rPr>
              <a:t>Instruction Capture Agent</a:t>
            </a:r>
            <a:endParaRPr lang="en-US" sz="800" dirty="0"/>
          </a:p>
        </p:txBody>
      </p:sp>
      <p:sp>
        <p:nvSpPr>
          <p:cNvPr id="68" name="Shape 57"/>
          <p:cNvSpPr/>
          <p:nvPr/>
        </p:nvSpPr>
        <p:spPr>
          <a:xfrm>
            <a:off x="2125066" y="3931920"/>
            <a:ext cx="1484986" cy="402336"/>
          </a:xfrm>
          <a:prstGeom prst="rect">
            <a:avLst/>
          </a:prstGeom>
          <a:solidFill>
            <a:srgbClr val="FFFFFF"/>
          </a:solidFill>
          <a:ln w="6350">
            <a:solidFill>
              <a:srgbClr val="D8DEE4"/>
            </a:solidFill>
            <a:prstDash val="solid"/>
          </a:ln>
        </p:spPr>
      </p:sp>
      <p:sp>
        <p:nvSpPr>
          <p:cNvPr id="69" name="Shape 58"/>
          <p:cNvSpPr/>
          <p:nvPr/>
        </p:nvSpPr>
        <p:spPr>
          <a:xfrm>
            <a:off x="2179930" y="3995928"/>
            <a:ext cx="274320" cy="274320"/>
          </a:xfrm>
          <a:prstGeom prst="rect">
            <a:avLst/>
          </a:prstGeom>
          <a:solidFill>
            <a:srgbClr val="BC0018"/>
          </a:solidFill>
          <a:ln w="12700">
            <a:solidFill>
              <a:srgbClr val="BC0018"/>
            </a:solidFill>
            <a:prstDash val="solid"/>
          </a:ln>
        </p:spPr>
      </p:sp>
      <p:pic>
        <p:nvPicPr>
          <p:cNvPr id="70" name="Image 9" descr="preencoded.png">    </p:cNvPr>
          <p:cNvPicPr>
            <a:picLocks noChangeAspect="1"/>
          </p:cNvPicPr>
          <p:nvPr/>
        </p:nvPicPr>
        <p:blipFill>
          <a:blip r:embed="rId10"/>
          <a:stretch>
            <a:fillRect/>
          </a:stretch>
        </p:blipFill>
        <p:spPr>
          <a:xfrm>
            <a:off x="2221078" y="4037076"/>
            <a:ext cx="192024" cy="192024"/>
          </a:xfrm>
          <a:prstGeom prst="rect">
            <a:avLst/>
          </a:prstGeom>
        </p:spPr>
      </p:pic>
      <p:sp>
        <p:nvSpPr>
          <p:cNvPr id="71" name="Text 59"/>
          <p:cNvSpPr txBox="1"/>
          <p:nvPr/>
        </p:nvSpPr>
        <p:spPr>
          <a:xfrm>
            <a:off x="2527402" y="3931920"/>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ASAM Automation
</a:t>
            </a:r>
            <a:r>
              <a:rPr lang="en-US" sz="800" dirty="0">
                <a:solidFill>
                  <a:srgbClr val="5B6673"/>
                </a:solidFill>
                <a:latin typeface="Calibri" pitchFamily="34" charset="0"/>
                <a:ea typeface="Calibri" pitchFamily="34" charset="-122"/>
                <a:cs typeface="Calibri" pitchFamily="34" charset="-120"/>
              </a:rPr>
              <a:t>Data Validation (alert closure) Agent</a:t>
            </a:r>
            <a:endParaRPr lang="en-US" sz="800" dirty="0"/>
          </a:p>
        </p:txBody>
      </p:sp>
      <p:sp>
        <p:nvSpPr>
          <p:cNvPr id="72" name="Shape 60"/>
          <p:cNvSpPr/>
          <p:nvPr/>
        </p:nvSpPr>
        <p:spPr>
          <a:xfrm>
            <a:off x="2125066" y="4370832"/>
            <a:ext cx="1484986" cy="402336"/>
          </a:xfrm>
          <a:prstGeom prst="rect">
            <a:avLst/>
          </a:prstGeom>
          <a:solidFill>
            <a:srgbClr val="FFFFFF"/>
          </a:solidFill>
          <a:ln w="6350">
            <a:solidFill>
              <a:srgbClr val="D8DEE4"/>
            </a:solidFill>
            <a:prstDash val="solid"/>
          </a:ln>
        </p:spPr>
      </p:sp>
      <p:sp>
        <p:nvSpPr>
          <p:cNvPr id="73" name="Shape 61"/>
          <p:cNvSpPr/>
          <p:nvPr/>
        </p:nvSpPr>
        <p:spPr>
          <a:xfrm>
            <a:off x="2179930" y="4434840"/>
            <a:ext cx="274320" cy="274320"/>
          </a:xfrm>
          <a:prstGeom prst="rect">
            <a:avLst/>
          </a:prstGeom>
          <a:solidFill>
            <a:srgbClr val="5F6B75"/>
          </a:solidFill>
          <a:ln w="12700">
            <a:solidFill>
              <a:srgbClr val="5F6B75"/>
            </a:solidFill>
            <a:prstDash val="solid"/>
          </a:ln>
        </p:spPr>
      </p:sp>
      <p:pic>
        <p:nvPicPr>
          <p:cNvPr id="74" name="Image 10" descr="preencoded.png">    </p:cNvPr>
          <p:cNvPicPr>
            <a:picLocks noChangeAspect="1"/>
          </p:cNvPicPr>
          <p:nvPr/>
        </p:nvPicPr>
        <p:blipFill>
          <a:blip r:embed="rId11"/>
          <a:stretch>
            <a:fillRect/>
          </a:stretch>
        </p:blipFill>
        <p:spPr>
          <a:xfrm>
            <a:off x="2221078" y="4475988"/>
            <a:ext cx="192024" cy="192024"/>
          </a:xfrm>
          <a:prstGeom prst="rect">
            <a:avLst/>
          </a:prstGeom>
        </p:spPr>
      </p:pic>
      <p:sp>
        <p:nvSpPr>
          <p:cNvPr id="75" name="Text 62"/>
          <p:cNvSpPr txBox="1"/>
          <p:nvPr/>
        </p:nvSpPr>
        <p:spPr>
          <a:xfrm>
            <a:off x="2527402" y="4370832"/>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SSI Evolution
</a:t>
            </a:r>
            <a:r>
              <a:rPr lang="en-US" sz="800" dirty="0">
                <a:solidFill>
                  <a:srgbClr val="5B6673"/>
                </a:solidFill>
                <a:latin typeface="Calibri" pitchFamily="34" charset="0"/>
                <a:ea typeface="Calibri" pitchFamily="34" charset="-122"/>
                <a:cs typeface="Calibri" pitchFamily="34" charset="-120"/>
              </a:rPr>
              <a:t>Discovery · scope &amp; orchestration</a:t>
            </a:r>
            <a:endParaRPr lang="en-US" sz="800" dirty="0"/>
          </a:p>
        </p:txBody>
      </p:sp>
      <p:sp>
        <p:nvSpPr>
          <p:cNvPr id="76" name="Text 63"/>
          <p:cNvSpPr txBox="1"/>
          <p:nvPr/>
        </p:nvSpPr>
        <p:spPr>
          <a:xfrm>
            <a:off x="3646627" y="2276856"/>
            <a:ext cx="146304" cy="274320"/>
          </a:xfrm>
          <a:prstGeom prst="rect">
            <a:avLst/>
          </a:prstGeom>
          <a:noFill/>
          <a:ln/>
        </p:spPr>
        <p:txBody>
          <a:bodyPr wrap="square" lIns="0" tIns="0" rIns="0" bIns="0" rtlCol="0" anchor="ctr"/>
          <a:lstStyle/>
          <a:p>
            <a:pPr algn="ctr" indent="0" marL="0">
              <a:buNone/>
            </a:pPr>
            <a:r>
              <a:rPr lang="en-US" sz="1000" b="1" dirty="0">
                <a:solidFill>
                  <a:srgbClr val="BC0018"/>
                </a:solidFill>
                <a:latin typeface="Calibri" pitchFamily="34" charset="0"/>
                <a:ea typeface="Calibri" pitchFamily="34" charset="-122"/>
                <a:cs typeface="Calibri" pitchFamily="34" charset="-120"/>
              </a:rPr>
              <a:t>✕</a:t>
            </a:r>
            <a:endParaRPr lang="en-US" sz="1000" dirty="0"/>
          </a:p>
        </p:txBody>
      </p:sp>
      <p:sp>
        <p:nvSpPr>
          <p:cNvPr id="77" name="Shape 64"/>
          <p:cNvSpPr/>
          <p:nvPr/>
        </p:nvSpPr>
        <p:spPr>
          <a:xfrm>
            <a:off x="3774643" y="1591056"/>
            <a:ext cx="1594714" cy="310896"/>
          </a:xfrm>
          <a:prstGeom prst="rect">
            <a:avLst/>
          </a:prstGeom>
          <a:solidFill>
            <a:srgbClr val="5F6B75"/>
          </a:solidFill>
          <a:ln w="12700">
            <a:solidFill>
              <a:srgbClr val="5F6B75"/>
            </a:solidFill>
            <a:prstDash val="solid"/>
          </a:ln>
        </p:spPr>
      </p:sp>
      <p:sp>
        <p:nvSpPr>
          <p:cNvPr id="78" name="Text 65"/>
          <p:cNvSpPr txBox="1"/>
          <p:nvPr/>
        </p:nvSpPr>
        <p:spPr>
          <a:xfrm>
            <a:off x="3774643" y="1591056"/>
            <a:ext cx="159471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Reg Ops</a:t>
            </a:r>
            <a:endParaRPr lang="en-US" sz="1000" dirty="0"/>
          </a:p>
        </p:txBody>
      </p:sp>
      <p:sp>
        <p:nvSpPr>
          <p:cNvPr id="79" name="Text 66"/>
          <p:cNvSpPr txBox="1"/>
          <p:nvPr/>
        </p:nvSpPr>
        <p:spPr>
          <a:xfrm>
            <a:off x="3774643" y="1920240"/>
            <a:ext cx="1594714" cy="164592"/>
          </a:xfrm>
          <a:prstGeom prst="rect">
            <a:avLst/>
          </a:prstGeom>
          <a:noFill/>
          <a:ln/>
        </p:spPr>
        <p:txBody>
          <a:bodyPr wrap="square" lIns="0" tIns="0" rIns="0" bIns="0"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1 build · 1 AI / 6 DTI</a:t>
            </a:r>
            <a:endParaRPr lang="en-US" sz="800" dirty="0"/>
          </a:p>
        </p:txBody>
      </p:sp>
      <p:sp>
        <p:nvSpPr>
          <p:cNvPr id="80" name="Shape 67"/>
          <p:cNvSpPr/>
          <p:nvPr/>
        </p:nvSpPr>
        <p:spPr>
          <a:xfrm>
            <a:off x="3774643" y="2103120"/>
            <a:ext cx="1594714" cy="2779776"/>
          </a:xfrm>
          <a:prstGeom prst="rect">
            <a:avLst/>
          </a:prstGeom>
          <a:solidFill>
            <a:srgbClr val="F4F6F8"/>
          </a:solidFill>
          <a:ln w="12700">
            <a:solidFill>
              <a:srgbClr val="F4F6F8"/>
            </a:solidFill>
            <a:prstDash val="solid"/>
          </a:ln>
        </p:spPr>
      </p:sp>
      <p:sp>
        <p:nvSpPr>
          <p:cNvPr id="81" name="Shape 68"/>
          <p:cNvSpPr/>
          <p:nvPr/>
        </p:nvSpPr>
        <p:spPr>
          <a:xfrm>
            <a:off x="3829507" y="2176272"/>
            <a:ext cx="1484986" cy="402336"/>
          </a:xfrm>
          <a:prstGeom prst="rect">
            <a:avLst/>
          </a:prstGeom>
          <a:solidFill>
            <a:srgbClr val="FFFFFF"/>
          </a:solidFill>
          <a:ln w="6350">
            <a:solidFill>
              <a:srgbClr val="D8DEE4"/>
            </a:solidFill>
            <a:prstDash val="solid"/>
          </a:ln>
        </p:spPr>
      </p:sp>
      <p:sp>
        <p:nvSpPr>
          <p:cNvPr id="82" name="Shape 69"/>
          <p:cNvSpPr/>
          <p:nvPr/>
        </p:nvSpPr>
        <p:spPr>
          <a:xfrm>
            <a:off x="3884371" y="2240280"/>
            <a:ext cx="274320" cy="274320"/>
          </a:xfrm>
          <a:prstGeom prst="rect">
            <a:avLst/>
          </a:prstGeom>
          <a:solidFill>
            <a:srgbClr val="BC0018"/>
          </a:solidFill>
          <a:ln w="12700">
            <a:solidFill>
              <a:srgbClr val="BC0018"/>
            </a:solidFill>
            <a:prstDash val="solid"/>
          </a:ln>
        </p:spPr>
      </p:sp>
      <p:pic>
        <p:nvPicPr>
          <p:cNvPr id="83" name="Image 11" descr="preencoded.png">    </p:cNvPr>
          <p:cNvPicPr>
            <a:picLocks noChangeAspect="1"/>
          </p:cNvPicPr>
          <p:nvPr/>
        </p:nvPicPr>
        <p:blipFill>
          <a:blip r:embed="rId12"/>
          <a:stretch>
            <a:fillRect/>
          </a:stretch>
        </p:blipFill>
        <p:spPr>
          <a:xfrm>
            <a:off x="3925519" y="2281428"/>
            <a:ext cx="192024" cy="192024"/>
          </a:xfrm>
          <a:prstGeom prst="rect">
            <a:avLst/>
          </a:prstGeom>
        </p:spPr>
      </p:pic>
      <p:sp>
        <p:nvSpPr>
          <p:cNvPr id="84" name="Text 70"/>
          <p:cNvSpPr txBox="1"/>
          <p:nvPr/>
        </p:nvSpPr>
        <p:spPr>
          <a:xfrm>
            <a:off x="4231843" y="2176272"/>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Radar X
</a:t>
            </a:r>
            <a:r>
              <a:rPr lang="en-US" sz="800" dirty="0">
                <a:solidFill>
                  <a:srgbClr val="5B6673"/>
                </a:solidFill>
                <a:latin typeface="Calibri" pitchFamily="34" charset="0"/>
                <a:ea typeface="Calibri" pitchFamily="34" charset="-122"/>
                <a:cs typeface="Calibri" pitchFamily="34" charset="-120"/>
              </a:rPr>
              <a:t>Exception Triage Agent</a:t>
            </a:r>
            <a:endParaRPr lang="en-US" sz="800" dirty="0"/>
          </a:p>
        </p:txBody>
      </p:sp>
      <p:sp>
        <p:nvSpPr>
          <p:cNvPr id="85" name="Text 71"/>
          <p:cNvSpPr txBox="1"/>
          <p:nvPr/>
        </p:nvSpPr>
        <p:spPr>
          <a:xfrm>
            <a:off x="5351069" y="2276856"/>
            <a:ext cx="146304" cy="274320"/>
          </a:xfrm>
          <a:prstGeom prst="rect">
            <a:avLst/>
          </a:prstGeom>
          <a:noFill/>
          <a:ln/>
        </p:spPr>
        <p:txBody>
          <a:bodyPr wrap="square" lIns="0" tIns="0" rIns="0" bIns="0" rtlCol="0" anchor="ctr"/>
          <a:lstStyle/>
          <a:p>
            <a:pPr algn="ctr" indent="0" marL="0">
              <a:buNone/>
            </a:pPr>
            <a:r>
              <a:rPr lang="en-US" sz="1000" b="1" dirty="0">
                <a:solidFill>
                  <a:srgbClr val="BC0018"/>
                </a:solidFill>
                <a:latin typeface="Calibri" pitchFamily="34" charset="0"/>
                <a:ea typeface="Calibri" pitchFamily="34" charset="-122"/>
                <a:cs typeface="Calibri" pitchFamily="34" charset="-120"/>
              </a:rPr>
              <a:t>✕</a:t>
            </a:r>
            <a:endParaRPr lang="en-US" sz="1000" dirty="0"/>
          </a:p>
        </p:txBody>
      </p:sp>
      <p:sp>
        <p:nvSpPr>
          <p:cNvPr id="86" name="Shape 72"/>
          <p:cNvSpPr/>
          <p:nvPr/>
        </p:nvSpPr>
        <p:spPr>
          <a:xfrm>
            <a:off x="5479085" y="1591056"/>
            <a:ext cx="1594714" cy="310896"/>
          </a:xfrm>
          <a:prstGeom prst="rect">
            <a:avLst/>
          </a:prstGeom>
          <a:solidFill>
            <a:srgbClr val="5F6B75"/>
          </a:solidFill>
          <a:ln w="12700">
            <a:solidFill>
              <a:srgbClr val="5F6B75"/>
            </a:solidFill>
            <a:prstDash val="solid"/>
          </a:ln>
        </p:spPr>
      </p:sp>
      <p:sp>
        <p:nvSpPr>
          <p:cNvPr id="87" name="Text 73"/>
          <p:cNvSpPr txBox="1"/>
          <p:nvPr/>
        </p:nvSpPr>
        <p:spPr>
          <a:xfrm>
            <a:off x="5479085" y="1591056"/>
            <a:ext cx="159471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IWM</a:t>
            </a:r>
            <a:endParaRPr lang="en-US" sz="1000" dirty="0"/>
          </a:p>
        </p:txBody>
      </p:sp>
      <p:sp>
        <p:nvSpPr>
          <p:cNvPr id="88" name="Text 74"/>
          <p:cNvSpPr txBox="1"/>
          <p:nvPr/>
        </p:nvSpPr>
        <p:spPr>
          <a:xfrm>
            <a:off x="5479085" y="1920240"/>
            <a:ext cx="1594714" cy="164592"/>
          </a:xfrm>
          <a:prstGeom prst="rect">
            <a:avLst/>
          </a:prstGeom>
          <a:noFill/>
          <a:ln/>
        </p:spPr>
        <p:txBody>
          <a:bodyPr wrap="square" lIns="0" tIns="0" rIns="0" bIns="0"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1 build · 3 AI</a:t>
            </a:r>
            <a:endParaRPr lang="en-US" sz="800" dirty="0"/>
          </a:p>
        </p:txBody>
      </p:sp>
      <p:sp>
        <p:nvSpPr>
          <p:cNvPr id="89" name="Shape 75"/>
          <p:cNvSpPr/>
          <p:nvPr/>
        </p:nvSpPr>
        <p:spPr>
          <a:xfrm>
            <a:off x="5479085" y="2103120"/>
            <a:ext cx="1594714" cy="2779776"/>
          </a:xfrm>
          <a:prstGeom prst="rect">
            <a:avLst/>
          </a:prstGeom>
          <a:solidFill>
            <a:srgbClr val="F4F6F8"/>
          </a:solidFill>
          <a:ln w="12700">
            <a:solidFill>
              <a:srgbClr val="F4F6F8"/>
            </a:solidFill>
            <a:prstDash val="solid"/>
          </a:ln>
        </p:spPr>
      </p:sp>
      <p:sp>
        <p:nvSpPr>
          <p:cNvPr id="90" name="Shape 76"/>
          <p:cNvSpPr/>
          <p:nvPr/>
        </p:nvSpPr>
        <p:spPr>
          <a:xfrm>
            <a:off x="5533949" y="2176272"/>
            <a:ext cx="1484986" cy="402336"/>
          </a:xfrm>
          <a:prstGeom prst="rect">
            <a:avLst/>
          </a:prstGeom>
          <a:solidFill>
            <a:srgbClr val="FFFFFF"/>
          </a:solidFill>
          <a:ln w="6350">
            <a:solidFill>
              <a:srgbClr val="D8DEE4"/>
            </a:solidFill>
            <a:prstDash val="solid"/>
          </a:ln>
        </p:spPr>
      </p:sp>
      <p:sp>
        <p:nvSpPr>
          <p:cNvPr id="91" name="Shape 77"/>
          <p:cNvSpPr/>
          <p:nvPr/>
        </p:nvSpPr>
        <p:spPr>
          <a:xfrm>
            <a:off x="5588813" y="2240280"/>
            <a:ext cx="274320" cy="274320"/>
          </a:xfrm>
          <a:prstGeom prst="rect">
            <a:avLst/>
          </a:prstGeom>
          <a:solidFill>
            <a:srgbClr val="BC0018"/>
          </a:solidFill>
          <a:ln w="12700">
            <a:solidFill>
              <a:srgbClr val="BC0018"/>
            </a:solidFill>
            <a:prstDash val="solid"/>
          </a:ln>
        </p:spPr>
      </p:sp>
      <p:pic>
        <p:nvPicPr>
          <p:cNvPr id="92" name="Image 12" descr="preencoded.png">    </p:cNvPr>
          <p:cNvPicPr>
            <a:picLocks noChangeAspect="1"/>
          </p:cNvPicPr>
          <p:nvPr/>
        </p:nvPicPr>
        <p:blipFill>
          <a:blip r:embed="rId13"/>
          <a:stretch>
            <a:fillRect/>
          </a:stretch>
        </p:blipFill>
        <p:spPr>
          <a:xfrm>
            <a:off x="5629961" y="2281428"/>
            <a:ext cx="192024" cy="192024"/>
          </a:xfrm>
          <a:prstGeom prst="rect">
            <a:avLst/>
          </a:prstGeom>
        </p:spPr>
      </p:pic>
      <p:sp>
        <p:nvSpPr>
          <p:cNvPr id="93" name="Text 78"/>
          <p:cNvSpPr txBox="1"/>
          <p:nvPr/>
        </p:nvSpPr>
        <p:spPr>
          <a:xfrm>
            <a:off x="5936285" y="2176272"/>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ASAM Name Screening
</a:t>
            </a:r>
            <a:r>
              <a:rPr lang="en-US" sz="800" dirty="0">
                <a:solidFill>
                  <a:srgbClr val="5B6673"/>
                </a:solidFill>
                <a:latin typeface="Calibri" pitchFamily="34" charset="0"/>
                <a:ea typeface="Calibri" pitchFamily="34" charset="-122"/>
                <a:cs typeface="Calibri" pitchFamily="34" charset="-120"/>
              </a:rPr>
              <a:t>Data Validation Agent</a:t>
            </a:r>
            <a:endParaRPr lang="en-US" sz="800" dirty="0"/>
          </a:p>
        </p:txBody>
      </p:sp>
      <p:sp>
        <p:nvSpPr>
          <p:cNvPr id="94" name="Shape 79"/>
          <p:cNvSpPr/>
          <p:nvPr/>
        </p:nvSpPr>
        <p:spPr>
          <a:xfrm>
            <a:off x="5533949" y="2615184"/>
            <a:ext cx="1484986" cy="402336"/>
          </a:xfrm>
          <a:prstGeom prst="rect">
            <a:avLst/>
          </a:prstGeom>
          <a:solidFill>
            <a:srgbClr val="FFFFFF"/>
          </a:solidFill>
          <a:ln w="6350">
            <a:solidFill>
              <a:srgbClr val="D8DEE4"/>
            </a:solidFill>
            <a:prstDash val="solid"/>
          </a:ln>
        </p:spPr>
      </p:sp>
      <p:sp>
        <p:nvSpPr>
          <p:cNvPr id="95" name="Shape 80"/>
          <p:cNvSpPr/>
          <p:nvPr/>
        </p:nvSpPr>
        <p:spPr>
          <a:xfrm>
            <a:off x="5588813" y="2679192"/>
            <a:ext cx="274320" cy="274320"/>
          </a:xfrm>
          <a:prstGeom prst="rect">
            <a:avLst/>
          </a:prstGeom>
          <a:solidFill>
            <a:srgbClr val="BC0018"/>
          </a:solidFill>
          <a:ln w="12700">
            <a:solidFill>
              <a:srgbClr val="BC0018"/>
            </a:solidFill>
            <a:prstDash val="solid"/>
          </a:ln>
        </p:spPr>
      </p:sp>
      <p:pic>
        <p:nvPicPr>
          <p:cNvPr id="96" name="Image 13" descr="preencoded.png">    </p:cNvPr>
          <p:cNvPicPr>
            <a:picLocks noChangeAspect="1"/>
          </p:cNvPicPr>
          <p:nvPr/>
        </p:nvPicPr>
        <p:blipFill>
          <a:blip r:embed="rId14"/>
          <a:stretch>
            <a:fillRect/>
          </a:stretch>
        </p:blipFill>
        <p:spPr>
          <a:xfrm>
            <a:off x="5629961" y="2720340"/>
            <a:ext cx="192024" cy="192024"/>
          </a:xfrm>
          <a:prstGeom prst="rect">
            <a:avLst/>
          </a:prstGeom>
        </p:spPr>
      </p:pic>
      <p:sp>
        <p:nvSpPr>
          <p:cNvPr id="97" name="Text 81"/>
          <p:cNvSpPr txBox="1"/>
          <p:nvPr/>
        </p:nvSpPr>
        <p:spPr>
          <a:xfrm>
            <a:off x="5936285" y="2615184"/>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ASAM Automation
</a:t>
            </a:r>
            <a:r>
              <a:rPr lang="en-US" sz="800" dirty="0">
                <a:solidFill>
                  <a:srgbClr val="5B6673"/>
                </a:solidFill>
                <a:latin typeface="Calibri" pitchFamily="34" charset="0"/>
                <a:ea typeface="Calibri" pitchFamily="34" charset="-122"/>
                <a:cs typeface="Calibri" pitchFamily="34" charset="-120"/>
              </a:rPr>
              <a:t>Data Validation (alert closure) Agent</a:t>
            </a:r>
            <a:endParaRPr lang="en-US" sz="800" dirty="0"/>
          </a:p>
        </p:txBody>
      </p:sp>
      <p:sp>
        <p:nvSpPr>
          <p:cNvPr id="98" name="Shape 82"/>
          <p:cNvSpPr/>
          <p:nvPr/>
        </p:nvSpPr>
        <p:spPr>
          <a:xfrm>
            <a:off x="5533949" y="3054096"/>
            <a:ext cx="1484986" cy="402336"/>
          </a:xfrm>
          <a:prstGeom prst="rect">
            <a:avLst/>
          </a:prstGeom>
          <a:solidFill>
            <a:srgbClr val="FFFFFF"/>
          </a:solidFill>
          <a:ln w="6350">
            <a:solidFill>
              <a:srgbClr val="D8DEE4"/>
            </a:solidFill>
            <a:prstDash val="solid"/>
          </a:ln>
        </p:spPr>
      </p:sp>
      <p:sp>
        <p:nvSpPr>
          <p:cNvPr id="99" name="Shape 83"/>
          <p:cNvSpPr/>
          <p:nvPr/>
        </p:nvSpPr>
        <p:spPr>
          <a:xfrm>
            <a:off x="5588813" y="3118104"/>
            <a:ext cx="274320" cy="274320"/>
          </a:xfrm>
          <a:prstGeom prst="rect">
            <a:avLst/>
          </a:prstGeom>
          <a:solidFill>
            <a:srgbClr val="5F6B75"/>
          </a:solidFill>
          <a:ln w="12700">
            <a:solidFill>
              <a:srgbClr val="5F6B75"/>
            </a:solidFill>
            <a:prstDash val="solid"/>
          </a:ln>
        </p:spPr>
      </p:sp>
      <p:pic>
        <p:nvPicPr>
          <p:cNvPr id="100" name="Image 14" descr="preencoded.png">    </p:cNvPr>
          <p:cNvPicPr>
            <a:picLocks noChangeAspect="1"/>
          </p:cNvPicPr>
          <p:nvPr/>
        </p:nvPicPr>
        <p:blipFill>
          <a:blip r:embed="rId15"/>
          <a:stretch>
            <a:fillRect/>
          </a:stretch>
        </p:blipFill>
        <p:spPr>
          <a:xfrm>
            <a:off x="5629961" y="3159252"/>
            <a:ext cx="192024" cy="192024"/>
          </a:xfrm>
          <a:prstGeom prst="rect">
            <a:avLst/>
          </a:prstGeom>
        </p:spPr>
      </p:pic>
      <p:sp>
        <p:nvSpPr>
          <p:cNvPr id="101" name="Text 84"/>
          <p:cNvSpPr txBox="1"/>
          <p:nvPr/>
        </p:nvSpPr>
        <p:spPr>
          <a:xfrm>
            <a:off x="5936285" y="3054096"/>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TIDE
</a:t>
            </a:r>
            <a:r>
              <a:rPr lang="en-US" sz="800" dirty="0">
                <a:solidFill>
                  <a:srgbClr val="5B6673"/>
                </a:solidFill>
                <a:latin typeface="Calibri" pitchFamily="34" charset="0"/>
                <a:ea typeface="Calibri" pitchFamily="34" charset="-122"/>
                <a:cs typeface="Calibri" pitchFamily="34" charset="-120"/>
              </a:rPr>
              <a:t>AI project · type TBC</a:t>
            </a:r>
            <a:endParaRPr lang="en-US" sz="800" dirty="0"/>
          </a:p>
        </p:txBody>
      </p:sp>
      <p:sp>
        <p:nvSpPr>
          <p:cNvPr id="102" name="Text 85"/>
          <p:cNvSpPr txBox="1"/>
          <p:nvPr/>
        </p:nvSpPr>
        <p:spPr>
          <a:xfrm>
            <a:off x="7055510" y="2276856"/>
            <a:ext cx="146304" cy="274320"/>
          </a:xfrm>
          <a:prstGeom prst="rect">
            <a:avLst/>
          </a:prstGeom>
          <a:noFill/>
          <a:ln/>
        </p:spPr>
        <p:txBody>
          <a:bodyPr wrap="square" lIns="0" tIns="0" rIns="0" bIns="0" rtlCol="0" anchor="ctr"/>
          <a:lstStyle/>
          <a:p>
            <a:pPr algn="ctr" indent="0" marL="0">
              <a:buNone/>
            </a:pPr>
            <a:r>
              <a:rPr lang="en-US" sz="1000" b="1" dirty="0">
                <a:solidFill>
                  <a:srgbClr val="BC0018"/>
                </a:solidFill>
                <a:latin typeface="Calibri" pitchFamily="34" charset="0"/>
                <a:ea typeface="Calibri" pitchFamily="34" charset="-122"/>
                <a:cs typeface="Calibri" pitchFamily="34" charset="-120"/>
              </a:rPr>
              <a:t>✕</a:t>
            </a:r>
            <a:endParaRPr lang="en-US" sz="1000" dirty="0"/>
          </a:p>
        </p:txBody>
      </p:sp>
      <p:sp>
        <p:nvSpPr>
          <p:cNvPr id="103" name="Shape 86"/>
          <p:cNvSpPr/>
          <p:nvPr/>
        </p:nvSpPr>
        <p:spPr>
          <a:xfrm>
            <a:off x="7183526" y="1591056"/>
            <a:ext cx="1594714" cy="310896"/>
          </a:xfrm>
          <a:prstGeom prst="rect">
            <a:avLst/>
          </a:prstGeom>
          <a:solidFill>
            <a:srgbClr val="5F6B75"/>
          </a:solidFill>
          <a:ln w="12700">
            <a:solidFill>
              <a:srgbClr val="5F6B75"/>
            </a:solidFill>
            <a:prstDash val="solid"/>
          </a:ln>
        </p:spPr>
      </p:sp>
      <p:sp>
        <p:nvSpPr>
          <p:cNvPr id="104" name="Text 87"/>
          <p:cNvSpPr txBox="1"/>
          <p:nvPr/>
        </p:nvSpPr>
        <p:spPr>
          <a:xfrm>
            <a:off x="7183526" y="1591056"/>
            <a:ext cx="159471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a:t>
            </a:r>
            <a:endParaRPr lang="en-US" sz="1000" dirty="0"/>
          </a:p>
        </p:txBody>
      </p:sp>
      <p:sp>
        <p:nvSpPr>
          <p:cNvPr id="105" name="Text 88"/>
          <p:cNvSpPr txBox="1"/>
          <p:nvPr/>
        </p:nvSpPr>
        <p:spPr>
          <a:xfrm>
            <a:off x="7183526" y="1920240"/>
            <a:ext cx="1594714" cy="164592"/>
          </a:xfrm>
          <a:prstGeom prst="rect">
            <a:avLst/>
          </a:prstGeom>
          <a:noFill/>
          <a:ln/>
        </p:spPr>
        <p:txBody>
          <a:bodyPr wrap="square" lIns="0" tIns="0" rIns="0" bIns="0"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2 builds · 3 AI / 2 DTI</a:t>
            </a:r>
            <a:endParaRPr lang="en-US" sz="800" dirty="0"/>
          </a:p>
        </p:txBody>
      </p:sp>
      <p:sp>
        <p:nvSpPr>
          <p:cNvPr id="106" name="Shape 89"/>
          <p:cNvSpPr/>
          <p:nvPr/>
        </p:nvSpPr>
        <p:spPr>
          <a:xfrm>
            <a:off x="7183526" y="2103120"/>
            <a:ext cx="1594714" cy="2779776"/>
          </a:xfrm>
          <a:prstGeom prst="rect">
            <a:avLst/>
          </a:prstGeom>
          <a:solidFill>
            <a:srgbClr val="F4F6F8"/>
          </a:solidFill>
          <a:ln w="12700">
            <a:solidFill>
              <a:srgbClr val="F4F6F8"/>
            </a:solidFill>
            <a:prstDash val="solid"/>
          </a:ln>
        </p:spPr>
      </p:sp>
      <p:sp>
        <p:nvSpPr>
          <p:cNvPr id="107" name="Shape 90"/>
          <p:cNvSpPr/>
          <p:nvPr/>
        </p:nvSpPr>
        <p:spPr>
          <a:xfrm>
            <a:off x="7238390" y="2176272"/>
            <a:ext cx="1484986" cy="402336"/>
          </a:xfrm>
          <a:prstGeom prst="rect">
            <a:avLst/>
          </a:prstGeom>
          <a:solidFill>
            <a:srgbClr val="FFFFFF"/>
          </a:solidFill>
          <a:ln w="6350">
            <a:solidFill>
              <a:srgbClr val="D8DEE4"/>
            </a:solidFill>
            <a:prstDash val="solid"/>
          </a:ln>
        </p:spPr>
      </p:sp>
      <p:sp>
        <p:nvSpPr>
          <p:cNvPr id="108" name="Shape 91"/>
          <p:cNvSpPr/>
          <p:nvPr/>
        </p:nvSpPr>
        <p:spPr>
          <a:xfrm>
            <a:off x="7293254" y="2240280"/>
            <a:ext cx="274320" cy="274320"/>
          </a:xfrm>
          <a:prstGeom prst="rect">
            <a:avLst/>
          </a:prstGeom>
          <a:solidFill>
            <a:srgbClr val="BC0018"/>
          </a:solidFill>
          <a:ln w="12700">
            <a:solidFill>
              <a:srgbClr val="BC0018"/>
            </a:solidFill>
            <a:prstDash val="solid"/>
          </a:ln>
        </p:spPr>
      </p:sp>
      <p:pic>
        <p:nvPicPr>
          <p:cNvPr id="109" name="Image 15" descr="preencoded.png">    </p:cNvPr>
          <p:cNvPicPr>
            <a:picLocks noChangeAspect="1"/>
          </p:cNvPicPr>
          <p:nvPr/>
        </p:nvPicPr>
        <p:blipFill>
          <a:blip r:embed="rId16"/>
          <a:stretch>
            <a:fillRect/>
          </a:stretch>
        </p:blipFill>
        <p:spPr>
          <a:xfrm>
            <a:off x="7334402" y="2281428"/>
            <a:ext cx="192024" cy="192024"/>
          </a:xfrm>
          <a:prstGeom prst="rect">
            <a:avLst/>
          </a:prstGeom>
        </p:spPr>
      </p:pic>
      <p:sp>
        <p:nvSpPr>
          <p:cNvPr id="110" name="Text 92"/>
          <p:cNvSpPr txBox="1"/>
          <p:nvPr/>
        </p:nvSpPr>
        <p:spPr>
          <a:xfrm>
            <a:off x="7640726" y="2176272"/>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Gateway Exception
</a:t>
            </a:r>
            <a:r>
              <a:rPr lang="en-US" sz="800" dirty="0">
                <a:solidFill>
                  <a:srgbClr val="5B6673"/>
                </a:solidFill>
                <a:latin typeface="Calibri" pitchFamily="34" charset="0"/>
                <a:ea typeface="Calibri" pitchFamily="34" charset="-122"/>
                <a:cs typeface="Calibri" pitchFamily="34" charset="-120"/>
              </a:rPr>
              <a:t>Exception Triage Agent</a:t>
            </a:r>
            <a:endParaRPr lang="en-US" sz="800" dirty="0"/>
          </a:p>
        </p:txBody>
      </p:sp>
      <p:sp>
        <p:nvSpPr>
          <p:cNvPr id="111" name="Shape 93"/>
          <p:cNvSpPr/>
          <p:nvPr/>
        </p:nvSpPr>
        <p:spPr>
          <a:xfrm>
            <a:off x="7238390" y="2615184"/>
            <a:ext cx="1484986" cy="402336"/>
          </a:xfrm>
          <a:prstGeom prst="rect">
            <a:avLst/>
          </a:prstGeom>
          <a:solidFill>
            <a:srgbClr val="FFFFFF"/>
          </a:solidFill>
          <a:ln w="6350">
            <a:solidFill>
              <a:srgbClr val="D8DEE4"/>
            </a:solidFill>
            <a:prstDash val="solid"/>
          </a:ln>
        </p:spPr>
      </p:sp>
      <p:sp>
        <p:nvSpPr>
          <p:cNvPr id="112" name="Shape 94"/>
          <p:cNvSpPr/>
          <p:nvPr/>
        </p:nvSpPr>
        <p:spPr>
          <a:xfrm>
            <a:off x="7293254" y="2679192"/>
            <a:ext cx="274320" cy="274320"/>
          </a:xfrm>
          <a:prstGeom prst="rect">
            <a:avLst/>
          </a:prstGeom>
          <a:solidFill>
            <a:srgbClr val="BC0018"/>
          </a:solidFill>
          <a:ln w="12700">
            <a:solidFill>
              <a:srgbClr val="BC0018"/>
            </a:solidFill>
            <a:prstDash val="solid"/>
          </a:ln>
        </p:spPr>
      </p:sp>
      <p:pic>
        <p:nvPicPr>
          <p:cNvPr id="113" name="Image 16" descr="preencoded.png">    </p:cNvPr>
          <p:cNvPicPr>
            <a:picLocks noChangeAspect="1"/>
          </p:cNvPicPr>
          <p:nvPr/>
        </p:nvPicPr>
        <p:blipFill>
          <a:blip r:embed="rId17"/>
          <a:stretch>
            <a:fillRect/>
          </a:stretch>
        </p:blipFill>
        <p:spPr>
          <a:xfrm>
            <a:off x="7334402" y="2720340"/>
            <a:ext cx="192024" cy="192024"/>
          </a:xfrm>
          <a:prstGeom prst="rect">
            <a:avLst/>
          </a:prstGeom>
        </p:spPr>
      </p:pic>
      <p:sp>
        <p:nvSpPr>
          <p:cNvPr id="114" name="Text 95"/>
          <p:cNvSpPr txBox="1"/>
          <p:nvPr/>
        </p:nvSpPr>
        <p:spPr>
          <a:xfrm>
            <a:off x="7640726" y="2615184"/>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T0 Validation
</a:t>
            </a:r>
            <a:r>
              <a:rPr lang="en-US" sz="800" dirty="0">
                <a:solidFill>
                  <a:srgbClr val="5B6673"/>
                </a:solidFill>
                <a:latin typeface="Calibri" pitchFamily="34" charset="0"/>
                <a:ea typeface="Calibri" pitchFamily="34" charset="-122"/>
                <a:cs typeface="Calibri" pitchFamily="34" charset="-120"/>
              </a:rPr>
              <a:t>Instruction Capture Agent</a:t>
            </a:r>
            <a:endParaRPr lang="en-US" sz="800" dirty="0"/>
          </a:p>
        </p:txBody>
      </p:sp>
      <p:sp>
        <p:nvSpPr>
          <p:cNvPr id="115" name="Shape 96"/>
          <p:cNvSpPr/>
          <p:nvPr/>
        </p:nvSpPr>
        <p:spPr>
          <a:xfrm>
            <a:off x="7238390" y="3054096"/>
            <a:ext cx="1484986" cy="402336"/>
          </a:xfrm>
          <a:prstGeom prst="rect">
            <a:avLst/>
          </a:prstGeom>
          <a:solidFill>
            <a:srgbClr val="FFFFFF"/>
          </a:solidFill>
          <a:ln w="6350">
            <a:solidFill>
              <a:srgbClr val="D8DEE4"/>
            </a:solidFill>
            <a:prstDash val="solid"/>
          </a:ln>
        </p:spPr>
      </p:sp>
      <p:sp>
        <p:nvSpPr>
          <p:cNvPr id="116" name="Shape 97"/>
          <p:cNvSpPr/>
          <p:nvPr/>
        </p:nvSpPr>
        <p:spPr>
          <a:xfrm>
            <a:off x="7293254" y="3118104"/>
            <a:ext cx="274320" cy="274320"/>
          </a:xfrm>
          <a:prstGeom prst="rect">
            <a:avLst/>
          </a:prstGeom>
          <a:solidFill>
            <a:srgbClr val="BC0018"/>
          </a:solidFill>
          <a:ln w="12700">
            <a:solidFill>
              <a:srgbClr val="BC0018"/>
            </a:solidFill>
            <a:prstDash val="solid"/>
          </a:ln>
        </p:spPr>
      </p:sp>
      <p:pic>
        <p:nvPicPr>
          <p:cNvPr id="117" name="Image 17" descr="preencoded.png">    </p:cNvPr>
          <p:cNvPicPr>
            <a:picLocks noChangeAspect="1"/>
          </p:cNvPicPr>
          <p:nvPr/>
        </p:nvPicPr>
        <p:blipFill>
          <a:blip r:embed="rId18"/>
          <a:stretch>
            <a:fillRect/>
          </a:stretch>
        </p:blipFill>
        <p:spPr>
          <a:xfrm>
            <a:off x="7334402" y="3159252"/>
            <a:ext cx="192024" cy="192024"/>
          </a:xfrm>
          <a:prstGeom prst="rect">
            <a:avLst/>
          </a:prstGeom>
        </p:spPr>
      </p:pic>
      <p:sp>
        <p:nvSpPr>
          <p:cNvPr id="118" name="Text 98"/>
          <p:cNvSpPr txBox="1"/>
          <p:nvPr/>
        </p:nvSpPr>
        <p:spPr>
          <a:xfrm>
            <a:off x="7640726" y="3054096"/>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Prime MO
</a:t>
            </a:r>
            <a:r>
              <a:rPr lang="en-US" sz="800" dirty="0">
                <a:solidFill>
                  <a:srgbClr val="5B6673"/>
                </a:solidFill>
                <a:latin typeface="Calibri" pitchFamily="34" charset="0"/>
                <a:ea typeface="Calibri" pitchFamily="34" charset="-122"/>
                <a:cs typeface="Calibri" pitchFamily="34" charset="-120"/>
              </a:rPr>
              <a:t>Instruction Capture (extract + draft) Agent</a:t>
            </a:r>
            <a:endParaRPr lang="en-US" sz="800" dirty="0"/>
          </a:p>
        </p:txBody>
      </p:sp>
      <p:sp>
        <p:nvSpPr>
          <p:cNvPr id="119" name="Shape 99"/>
          <p:cNvSpPr/>
          <p:nvPr/>
        </p:nvSpPr>
        <p:spPr>
          <a:xfrm>
            <a:off x="7238390" y="3493008"/>
            <a:ext cx="1484986" cy="402336"/>
          </a:xfrm>
          <a:prstGeom prst="rect">
            <a:avLst/>
          </a:prstGeom>
          <a:solidFill>
            <a:srgbClr val="FFFFFF"/>
          </a:solidFill>
          <a:ln w="6350">
            <a:solidFill>
              <a:srgbClr val="D8DEE4"/>
            </a:solidFill>
            <a:prstDash val="solid"/>
          </a:ln>
        </p:spPr>
      </p:sp>
      <p:sp>
        <p:nvSpPr>
          <p:cNvPr id="120" name="Shape 100"/>
          <p:cNvSpPr/>
          <p:nvPr/>
        </p:nvSpPr>
        <p:spPr>
          <a:xfrm>
            <a:off x="7293254" y="3557016"/>
            <a:ext cx="274320" cy="274320"/>
          </a:xfrm>
          <a:prstGeom prst="rect">
            <a:avLst/>
          </a:prstGeom>
          <a:solidFill>
            <a:srgbClr val="5F6B75"/>
          </a:solidFill>
          <a:ln w="12700">
            <a:solidFill>
              <a:srgbClr val="5F6B75"/>
            </a:solidFill>
            <a:prstDash val="solid"/>
          </a:ln>
        </p:spPr>
      </p:sp>
      <p:pic>
        <p:nvPicPr>
          <p:cNvPr id="121" name="Image 18" descr="preencoded.png">    </p:cNvPr>
          <p:cNvPicPr>
            <a:picLocks noChangeAspect="1"/>
          </p:cNvPicPr>
          <p:nvPr/>
        </p:nvPicPr>
        <p:blipFill>
          <a:blip r:embed="rId19"/>
          <a:stretch>
            <a:fillRect/>
          </a:stretch>
        </p:blipFill>
        <p:spPr>
          <a:xfrm>
            <a:off x="7334402" y="3598164"/>
            <a:ext cx="192024" cy="192024"/>
          </a:xfrm>
          <a:prstGeom prst="rect">
            <a:avLst/>
          </a:prstGeom>
        </p:spPr>
      </p:pic>
      <p:sp>
        <p:nvSpPr>
          <p:cNvPr id="122" name="Text 101"/>
          <p:cNvSpPr txBox="1"/>
          <p:nvPr/>
        </p:nvSpPr>
        <p:spPr>
          <a:xfrm>
            <a:off x="7640726" y="3493008"/>
            <a:ext cx="1064362" cy="402336"/>
          </a:xfrm>
          <a:prstGeom prst="rect">
            <a:avLst/>
          </a:prstGeom>
          <a:noFill/>
          <a:ln/>
        </p:spPr>
        <p:txBody>
          <a:bodyPr wrap="square" lIns="0" tIns="0" rIns="0" bIns="0" rtlCol="0" anchor="ctr">
            <a:normAutofit/>
          </a:bodyPr>
          <a:lstStyle/>
          <a:p>
            <a:pPr indent="0" marL="0">
              <a:buNone/>
            </a:pPr>
            <a:r>
              <a:rPr lang="en-US" sz="800" b="1" dirty="0">
                <a:solidFill>
                  <a:srgbClr val="1B2431"/>
                </a:solidFill>
                <a:latin typeface="Calibri" pitchFamily="34" charset="0"/>
                <a:ea typeface="Calibri" pitchFamily="34" charset="-122"/>
                <a:cs typeface="Calibri" pitchFamily="34" charset="-120"/>
              </a:rPr>
              <a:t>Structured MO
</a:t>
            </a:r>
            <a:r>
              <a:rPr lang="en-US" sz="800" dirty="0">
                <a:solidFill>
                  <a:srgbClr val="5B6673"/>
                </a:solidFill>
                <a:latin typeface="Calibri" pitchFamily="34" charset="0"/>
                <a:ea typeface="Calibri" pitchFamily="34" charset="-122"/>
                <a:cs typeface="Calibri" pitchFamily="34" charset="-120"/>
              </a:rPr>
              <a:t>Discovery · use cases TBC</a:t>
            </a:r>
            <a:endParaRPr lang="en-US" sz="800" dirty="0"/>
          </a:p>
        </p:txBody>
      </p:sp>
      <p:sp>
        <p:nvSpPr>
          <p:cNvPr id="123" name="Shape 102"/>
          <p:cNvSpPr/>
          <p:nvPr/>
        </p:nvSpPr>
        <p:spPr>
          <a:xfrm>
            <a:off x="365760" y="5010912"/>
            <a:ext cx="8412480" cy="512064"/>
          </a:xfrm>
          <a:prstGeom prst="rect">
            <a:avLst/>
          </a:prstGeom>
          <a:solidFill>
            <a:srgbClr val="FBEBED"/>
          </a:solidFill>
          <a:ln w="12700">
            <a:solidFill>
              <a:srgbClr val="FBEBED"/>
            </a:solidFill>
            <a:prstDash val="solid"/>
          </a:ln>
        </p:spPr>
      </p:sp>
      <p:sp>
        <p:nvSpPr>
          <p:cNvPr id="124" name="Text 103"/>
          <p:cNvSpPr txBox="1"/>
          <p:nvPr/>
        </p:nvSpPr>
        <p:spPr>
          <a:xfrm>
            <a:off x="457200" y="5010912"/>
            <a:ext cx="1600200" cy="512064"/>
          </a:xfrm>
          <a:prstGeom prst="rect">
            <a:avLst/>
          </a:prstGeom>
          <a:noFill/>
          <a:ln/>
        </p:spPr>
        <p:txBody>
          <a:bodyPr wrap="square" lIns="0" tIns="0" rIns="0" bIns="0" rtlCol="0" anchor="ctr"/>
          <a:lstStyle/>
          <a:p>
            <a:pPr indent="0" marL="0">
              <a:buNone/>
            </a:pPr>
            <a:r>
              <a:rPr lang="en-US" sz="900" b="1" dirty="0">
                <a:solidFill>
                  <a:srgbClr val="BC0018"/>
                </a:solidFill>
                <a:latin typeface="Calibri" pitchFamily="34" charset="0"/>
                <a:ea typeface="Calibri" pitchFamily="34" charset="-122"/>
                <a:cs typeface="Calibri" pitchFamily="34" charset="-120"/>
              </a:rPr>
              <a:t>The similar agent,</a:t>
            </a:r>
            <a:endParaRPr lang="en-US" sz="900" dirty="0"/>
          </a:p>
          <a:p>
            <a:pPr indent="0" marL="0">
              <a:buNone/>
            </a:pPr>
            <a:r>
              <a:rPr lang="en-US" sz="900" b="1" dirty="0">
                <a:solidFill>
                  <a:srgbClr val="BC0018"/>
                </a:solidFill>
                <a:latin typeface="Calibri" pitchFamily="34" charset="0"/>
                <a:ea typeface="Calibri" pitchFamily="34" charset="-122"/>
                <a:cs typeface="Calibri" pitchFamily="34" charset="-120"/>
              </a:rPr>
              <a:t>built in more than one BU</a:t>
            </a:r>
            <a:endParaRPr lang="en-US" sz="900" dirty="0"/>
          </a:p>
        </p:txBody>
      </p:sp>
      <p:sp>
        <p:nvSpPr>
          <p:cNvPr id="125" name="Shape 104"/>
          <p:cNvSpPr/>
          <p:nvPr/>
        </p:nvSpPr>
        <p:spPr>
          <a:xfrm>
            <a:off x="2148840" y="5084064"/>
            <a:ext cx="2148840" cy="365760"/>
          </a:xfrm>
          <a:prstGeom prst="rect">
            <a:avLst/>
          </a:prstGeom>
          <a:solidFill>
            <a:srgbClr val="FFFFFF"/>
          </a:solidFill>
          <a:ln w="6350">
            <a:solidFill>
              <a:srgbClr val="D8DEE4"/>
            </a:solidFill>
            <a:prstDash val="solid"/>
          </a:ln>
        </p:spPr>
      </p:sp>
      <p:sp>
        <p:nvSpPr>
          <p:cNvPr id="126" name="Shape 105"/>
          <p:cNvSpPr/>
          <p:nvPr/>
        </p:nvSpPr>
        <p:spPr>
          <a:xfrm>
            <a:off x="2212848" y="5129784"/>
            <a:ext cx="274320" cy="274320"/>
          </a:xfrm>
          <a:prstGeom prst="rect">
            <a:avLst/>
          </a:prstGeom>
          <a:solidFill>
            <a:srgbClr val="BC0018"/>
          </a:solidFill>
          <a:ln w="12700">
            <a:solidFill>
              <a:srgbClr val="BC0018"/>
            </a:solidFill>
            <a:prstDash val="solid"/>
          </a:ln>
        </p:spPr>
      </p:sp>
      <p:pic>
        <p:nvPicPr>
          <p:cNvPr id="127" name="Image 19" descr="preencoded.png">    </p:cNvPr>
          <p:cNvPicPr>
            <a:picLocks noChangeAspect="1"/>
          </p:cNvPicPr>
          <p:nvPr/>
        </p:nvPicPr>
        <p:blipFill>
          <a:blip r:embed="rId20"/>
          <a:stretch>
            <a:fillRect/>
          </a:stretch>
        </p:blipFill>
        <p:spPr>
          <a:xfrm>
            <a:off x="2253996" y="5170932"/>
            <a:ext cx="192024" cy="192024"/>
          </a:xfrm>
          <a:prstGeom prst="rect">
            <a:avLst/>
          </a:prstGeom>
        </p:spPr>
      </p:pic>
      <p:sp>
        <p:nvSpPr>
          <p:cNvPr id="128" name="Text 106"/>
          <p:cNvSpPr txBox="1"/>
          <p:nvPr/>
        </p:nvSpPr>
        <p:spPr>
          <a:xfrm>
            <a:off x="2560320" y="5084064"/>
            <a:ext cx="1188720" cy="365760"/>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Instruction Capture Agent
</a:t>
            </a:r>
            <a:r>
              <a:rPr lang="en-US" sz="800" dirty="0">
                <a:solidFill>
                  <a:srgbClr val="5B6673"/>
                </a:solidFill>
                <a:latin typeface="Calibri" pitchFamily="34" charset="0"/>
                <a:ea typeface="Calibri" pitchFamily="34" charset="-122"/>
                <a:cs typeface="Calibri" pitchFamily="34" charset="-120"/>
              </a:rPr>
              <a:t>SSG · CSG · MO</a:t>
            </a:r>
            <a:endParaRPr lang="en-US" sz="800" dirty="0"/>
          </a:p>
        </p:txBody>
      </p:sp>
      <p:sp>
        <p:nvSpPr>
          <p:cNvPr id="129" name="Shape 107"/>
          <p:cNvSpPr/>
          <p:nvPr/>
        </p:nvSpPr>
        <p:spPr>
          <a:xfrm>
            <a:off x="3749040" y="5166360"/>
            <a:ext cx="475488" cy="201168"/>
          </a:xfrm>
          <a:prstGeom prst="roundRect">
            <a:avLst>
              <a:gd name="adj" fmla="val 22727"/>
            </a:avLst>
          </a:prstGeom>
          <a:solidFill>
            <a:srgbClr val="BC0018"/>
          </a:solidFill>
          <a:ln w="12700">
            <a:solidFill>
              <a:srgbClr val="BC0018"/>
            </a:solidFill>
            <a:prstDash val="solid"/>
          </a:ln>
        </p:spPr>
      </p:sp>
      <p:sp>
        <p:nvSpPr>
          <p:cNvPr id="130" name="Text 108"/>
          <p:cNvSpPr txBox="1"/>
          <p:nvPr/>
        </p:nvSpPr>
        <p:spPr>
          <a:xfrm>
            <a:off x="3749040" y="5166360"/>
            <a:ext cx="47548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 BUs</a:t>
            </a:r>
            <a:endParaRPr lang="en-US" sz="800" dirty="0"/>
          </a:p>
        </p:txBody>
      </p:sp>
      <p:sp>
        <p:nvSpPr>
          <p:cNvPr id="131" name="Shape 109"/>
          <p:cNvSpPr/>
          <p:nvPr/>
        </p:nvSpPr>
        <p:spPr>
          <a:xfrm>
            <a:off x="4389120" y="5084064"/>
            <a:ext cx="2148840" cy="365760"/>
          </a:xfrm>
          <a:prstGeom prst="rect">
            <a:avLst/>
          </a:prstGeom>
          <a:solidFill>
            <a:srgbClr val="FFFFFF"/>
          </a:solidFill>
          <a:ln w="6350">
            <a:solidFill>
              <a:srgbClr val="D8DEE4"/>
            </a:solidFill>
            <a:prstDash val="solid"/>
          </a:ln>
        </p:spPr>
      </p:sp>
      <p:sp>
        <p:nvSpPr>
          <p:cNvPr id="132" name="Shape 110"/>
          <p:cNvSpPr/>
          <p:nvPr/>
        </p:nvSpPr>
        <p:spPr>
          <a:xfrm>
            <a:off x="4453128" y="5129784"/>
            <a:ext cx="274320" cy="274320"/>
          </a:xfrm>
          <a:prstGeom prst="rect">
            <a:avLst/>
          </a:prstGeom>
          <a:solidFill>
            <a:srgbClr val="BC0018"/>
          </a:solidFill>
          <a:ln w="12700">
            <a:solidFill>
              <a:srgbClr val="BC0018"/>
            </a:solidFill>
            <a:prstDash val="solid"/>
          </a:ln>
        </p:spPr>
      </p:sp>
      <p:pic>
        <p:nvPicPr>
          <p:cNvPr id="133" name="Image 20" descr="preencoded.png">    </p:cNvPr>
          <p:cNvPicPr>
            <a:picLocks noChangeAspect="1"/>
          </p:cNvPicPr>
          <p:nvPr/>
        </p:nvPicPr>
        <p:blipFill>
          <a:blip r:embed="rId21"/>
          <a:stretch>
            <a:fillRect/>
          </a:stretch>
        </p:blipFill>
        <p:spPr>
          <a:xfrm>
            <a:off x="4494276" y="5170932"/>
            <a:ext cx="192024" cy="192024"/>
          </a:xfrm>
          <a:prstGeom prst="rect">
            <a:avLst/>
          </a:prstGeom>
        </p:spPr>
      </p:pic>
      <p:sp>
        <p:nvSpPr>
          <p:cNvPr id="134" name="Text 111"/>
          <p:cNvSpPr txBox="1"/>
          <p:nvPr/>
        </p:nvSpPr>
        <p:spPr>
          <a:xfrm>
            <a:off x="4800600" y="5084064"/>
            <a:ext cx="1188720" cy="365760"/>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Data Validation Agent
</a:t>
            </a:r>
            <a:r>
              <a:rPr lang="en-US" sz="800" dirty="0">
                <a:solidFill>
                  <a:srgbClr val="5B6673"/>
                </a:solidFill>
                <a:latin typeface="Calibri" pitchFamily="34" charset="0"/>
                <a:ea typeface="Calibri" pitchFamily="34" charset="-122"/>
                <a:cs typeface="Calibri" pitchFamily="34" charset="-120"/>
              </a:rPr>
              <a:t>CSG · IWM</a:t>
            </a:r>
            <a:endParaRPr lang="en-US" sz="800" dirty="0"/>
          </a:p>
        </p:txBody>
      </p:sp>
      <p:sp>
        <p:nvSpPr>
          <p:cNvPr id="135" name="Shape 112"/>
          <p:cNvSpPr/>
          <p:nvPr/>
        </p:nvSpPr>
        <p:spPr>
          <a:xfrm>
            <a:off x="5989320" y="5166360"/>
            <a:ext cx="475488" cy="201168"/>
          </a:xfrm>
          <a:prstGeom prst="roundRect">
            <a:avLst>
              <a:gd name="adj" fmla="val 22727"/>
            </a:avLst>
          </a:prstGeom>
          <a:solidFill>
            <a:srgbClr val="BC0018"/>
          </a:solidFill>
          <a:ln w="12700">
            <a:solidFill>
              <a:srgbClr val="BC0018"/>
            </a:solidFill>
            <a:prstDash val="solid"/>
          </a:ln>
        </p:spPr>
      </p:sp>
      <p:sp>
        <p:nvSpPr>
          <p:cNvPr id="136" name="Text 113"/>
          <p:cNvSpPr txBox="1"/>
          <p:nvPr/>
        </p:nvSpPr>
        <p:spPr>
          <a:xfrm>
            <a:off x="5989320" y="5166360"/>
            <a:ext cx="47548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 BUs</a:t>
            </a:r>
            <a:endParaRPr lang="en-US" sz="800" dirty="0"/>
          </a:p>
        </p:txBody>
      </p:sp>
      <p:sp>
        <p:nvSpPr>
          <p:cNvPr id="137" name="Shape 114"/>
          <p:cNvSpPr/>
          <p:nvPr/>
        </p:nvSpPr>
        <p:spPr>
          <a:xfrm>
            <a:off x="6629400" y="5084064"/>
            <a:ext cx="2148840" cy="365760"/>
          </a:xfrm>
          <a:prstGeom prst="rect">
            <a:avLst/>
          </a:prstGeom>
          <a:solidFill>
            <a:srgbClr val="FFFFFF"/>
          </a:solidFill>
          <a:ln w="6350">
            <a:solidFill>
              <a:srgbClr val="D8DEE4"/>
            </a:solidFill>
            <a:prstDash val="solid"/>
          </a:ln>
        </p:spPr>
      </p:sp>
      <p:sp>
        <p:nvSpPr>
          <p:cNvPr id="138" name="Shape 115"/>
          <p:cNvSpPr/>
          <p:nvPr/>
        </p:nvSpPr>
        <p:spPr>
          <a:xfrm>
            <a:off x="6693408" y="5129784"/>
            <a:ext cx="274320" cy="274320"/>
          </a:xfrm>
          <a:prstGeom prst="rect">
            <a:avLst/>
          </a:prstGeom>
          <a:solidFill>
            <a:srgbClr val="BC0018"/>
          </a:solidFill>
          <a:ln w="12700">
            <a:solidFill>
              <a:srgbClr val="BC0018"/>
            </a:solidFill>
            <a:prstDash val="solid"/>
          </a:ln>
        </p:spPr>
      </p:sp>
      <p:pic>
        <p:nvPicPr>
          <p:cNvPr id="139" name="Image 21" descr="preencoded.png">    </p:cNvPr>
          <p:cNvPicPr>
            <a:picLocks noChangeAspect="1"/>
          </p:cNvPicPr>
          <p:nvPr/>
        </p:nvPicPr>
        <p:blipFill>
          <a:blip r:embed="rId22"/>
          <a:stretch>
            <a:fillRect/>
          </a:stretch>
        </p:blipFill>
        <p:spPr>
          <a:xfrm>
            <a:off x="6734556" y="5170932"/>
            <a:ext cx="192024" cy="192024"/>
          </a:xfrm>
          <a:prstGeom prst="rect">
            <a:avLst/>
          </a:prstGeom>
        </p:spPr>
      </p:pic>
      <p:sp>
        <p:nvSpPr>
          <p:cNvPr id="140" name="Text 116"/>
          <p:cNvSpPr txBox="1"/>
          <p:nvPr/>
        </p:nvSpPr>
        <p:spPr>
          <a:xfrm>
            <a:off x="7040880" y="5084064"/>
            <a:ext cx="1188720" cy="365760"/>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Exception Triage Agent
</a:t>
            </a:r>
            <a:r>
              <a:rPr lang="en-US" sz="800" dirty="0">
                <a:solidFill>
                  <a:srgbClr val="5B6673"/>
                </a:solidFill>
                <a:latin typeface="Calibri" pitchFamily="34" charset="0"/>
                <a:ea typeface="Calibri" pitchFamily="34" charset="-122"/>
                <a:cs typeface="Calibri" pitchFamily="34" charset="-120"/>
              </a:rPr>
              <a:t>Reg Ops · MO</a:t>
            </a:r>
            <a:endParaRPr lang="en-US" sz="800" dirty="0"/>
          </a:p>
        </p:txBody>
      </p:sp>
      <p:sp>
        <p:nvSpPr>
          <p:cNvPr id="141" name="Shape 117"/>
          <p:cNvSpPr/>
          <p:nvPr/>
        </p:nvSpPr>
        <p:spPr>
          <a:xfrm>
            <a:off x="8229600" y="5166360"/>
            <a:ext cx="475488" cy="201168"/>
          </a:xfrm>
          <a:prstGeom prst="roundRect">
            <a:avLst>
              <a:gd name="adj" fmla="val 22727"/>
            </a:avLst>
          </a:prstGeom>
          <a:solidFill>
            <a:srgbClr val="BC0018"/>
          </a:solidFill>
          <a:ln w="12700">
            <a:solidFill>
              <a:srgbClr val="BC0018"/>
            </a:solidFill>
            <a:prstDash val="solid"/>
          </a:ln>
        </p:spPr>
      </p:sp>
      <p:sp>
        <p:nvSpPr>
          <p:cNvPr id="142" name="Text 118"/>
          <p:cNvSpPr txBox="1"/>
          <p:nvPr/>
        </p:nvSpPr>
        <p:spPr>
          <a:xfrm>
            <a:off x="8229600" y="5166360"/>
            <a:ext cx="47548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 BUs</a:t>
            </a:r>
            <a:endParaRPr lang="en-US" sz="800" dirty="0"/>
          </a:p>
        </p:txBody>
      </p:sp>
      <p:sp>
        <p:nvSpPr>
          <p:cNvPr id="143" name="Shape 119"/>
          <p:cNvSpPr/>
          <p:nvPr/>
        </p:nvSpPr>
        <p:spPr>
          <a:xfrm>
            <a:off x="365760" y="5669280"/>
            <a:ext cx="45720" cy="182880"/>
          </a:xfrm>
          <a:prstGeom prst="rect">
            <a:avLst/>
          </a:prstGeom>
          <a:solidFill>
            <a:srgbClr val="BC0018"/>
          </a:solidFill>
          <a:ln w="12700">
            <a:solidFill>
              <a:srgbClr val="BC0018"/>
            </a:solidFill>
            <a:prstDash val="solid"/>
          </a:ln>
        </p:spPr>
      </p:sp>
      <p:sp>
        <p:nvSpPr>
          <p:cNvPr id="144" name="Text 120"/>
          <p:cNvSpPr txBox="1"/>
          <p:nvPr/>
        </p:nvSpPr>
        <p:spPr>
          <a:xfrm>
            <a:off x="475488" y="5650992"/>
            <a:ext cx="2743200" cy="219456"/>
          </a:xfrm>
          <a:prstGeom prst="rect">
            <a:avLst/>
          </a:prstGeom>
          <a:noFill/>
          <a:ln/>
        </p:spPr>
        <p:txBody>
          <a:bodyPr wrap="square" lIns="0" tIns="0" rIns="0" bIns="0" rtlCol="0" anchor="ctr"/>
          <a:lstStyle/>
          <a:p>
            <a:pPr indent="0" marL="0">
              <a:buNone/>
            </a:pPr>
            <a:r>
              <a:rPr lang="en-US" sz="1000" b="1" dirty="0">
                <a:solidFill>
                  <a:srgbClr val="1B2431"/>
                </a:solidFill>
                <a:latin typeface="Calibri" pitchFamily="34" charset="0"/>
                <a:ea typeface="Calibri" pitchFamily="34" charset="-122"/>
                <a:cs typeface="Calibri" pitchFamily="34" charset="-120"/>
              </a:rPr>
              <a:t>Current State Outcome</a:t>
            </a:r>
            <a:endParaRPr lang="en-US" sz="1000" dirty="0"/>
          </a:p>
        </p:txBody>
      </p:sp>
      <p:pic>
        <p:nvPicPr>
          <p:cNvPr id="145" name="Image 22" descr="preencoded.png">    </p:cNvPr>
          <p:cNvPicPr>
            <a:picLocks noChangeAspect="1"/>
          </p:cNvPicPr>
          <p:nvPr/>
        </p:nvPicPr>
        <p:blipFill>
          <a:blip r:embed="rId23"/>
          <a:stretch>
            <a:fillRect/>
          </a:stretch>
        </p:blipFill>
        <p:spPr>
          <a:xfrm>
            <a:off x="365760" y="5943600"/>
            <a:ext cx="365760" cy="365760"/>
          </a:xfrm>
          <a:prstGeom prst="rect">
            <a:avLst/>
          </a:prstGeom>
        </p:spPr>
      </p:pic>
      <p:sp>
        <p:nvSpPr>
          <p:cNvPr id="146" name="Shape 121"/>
          <p:cNvSpPr/>
          <p:nvPr/>
        </p:nvSpPr>
        <p:spPr>
          <a:xfrm>
            <a:off x="640080" y="5888736"/>
            <a:ext cx="182880" cy="182880"/>
          </a:xfrm>
          <a:prstGeom prst="ellipse">
            <a:avLst/>
          </a:prstGeom>
          <a:solidFill>
            <a:srgbClr val="BC0018"/>
          </a:solidFill>
          <a:ln w="12700">
            <a:solidFill>
              <a:srgbClr val="FFFFFF"/>
            </a:solidFill>
            <a:prstDash val="solid"/>
          </a:ln>
        </p:spPr>
      </p:sp>
      <p:sp>
        <p:nvSpPr>
          <p:cNvPr id="147" name="Text 122"/>
          <p:cNvSpPr txBox="1"/>
          <p:nvPr/>
        </p:nvSpPr>
        <p:spPr>
          <a:xfrm>
            <a:off x="640080" y="5888736"/>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48" name="Text 123"/>
          <p:cNvSpPr txBox="1"/>
          <p:nvPr/>
        </p:nvSpPr>
        <p:spPr>
          <a:xfrm>
            <a:off x="822960" y="5925312"/>
            <a:ext cx="1179576" cy="402336"/>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Not scalable
</a:t>
            </a:r>
            <a:r>
              <a:rPr lang="en-US" sz="800" dirty="0">
                <a:solidFill>
                  <a:srgbClr val="5B6673"/>
                </a:solidFill>
                <a:latin typeface="Calibri" pitchFamily="34" charset="0"/>
                <a:ea typeface="Calibri" pitchFamily="34" charset="-122"/>
                <a:cs typeface="Calibri" pitchFamily="34" charset="-120"/>
              </a:rPr>
              <a:t>point solutions, BU-bound</a:t>
            </a:r>
            <a:endParaRPr lang="en-US" sz="900" dirty="0"/>
          </a:p>
        </p:txBody>
      </p:sp>
      <p:pic>
        <p:nvPicPr>
          <p:cNvPr id="149" name="Image 23" descr="preencoded.png">    </p:cNvPr>
          <p:cNvPicPr>
            <a:picLocks noChangeAspect="1"/>
          </p:cNvPicPr>
          <p:nvPr/>
        </p:nvPicPr>
        <p:blipFill>
          <a:blip r:embed="rId24"/>
          <a:stretch>
            <a:fillRect/>
          </a:stretch>
        </p:blipFill>
        <p:spPr>
          <a:xfrm>
            <a:off x="2048256" y="5943600"/>
            <a:ext cx="365760" cy="365760"/>
          </a:xfrm>
          <a:prstGeom prst="rect">
            <a:avLst/>
          </a:prstGeom>
        </p:spPr>
      </p:pic>
      <p:sp>
        <p:nvSpPr>
          <p:cNvPr id="150" name="Shape 124"/>
          <p:cNvSpPr/>
          <p:nvPr/>
        </p:nvSpPr>
        <p:spPr>
          <a:xfrm>
            <a:off x="2322576" y="5888736"/>
            <a:ext cx="182880" cy="182880"/>
          </a:xfrm>
          <a:prstGeom prst="ellipse">
            <a:avLst/>
          </a:prstGeom>
          <a:solidFill>
            <a:srgbClr val="BC0018"/>
          </a:solidFill>
          <a:ln w="12700">
            <a:solidFill>
              <a:srgbClr val="FFFFFF"/>
            </a:solidFill>
            <a:prstDash val="solid"/>
          </a:ln>
        </p:spPr>
      </p:sp>
      <p:sp>
        <p:nvSpPr>
          <p:cNvPr id="151" name="Text 125"/>
          <p:cNvSpPr txBox="1"/>
          <p:nvPr/>
        </p:nvSpPr>
        <p:spPr>
          <a:xfrm>
            <a:off x="2322576" y="5888736"/>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52" name="Text 126"/>
          <p:cNvSpPr txBox="1"/>
          <p:nvPr/>
        </p:nvSpPr>
        <p:spPr>
          <a:xfrm>
            <a:off x="2505456" y="5925312"/>
            <a:ext cx="1179576" cy="402336"/>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No reuse
</a:t>
            </a:r>
            <a:r>
              <a:rPr lang="en-US" sz="800" dirty="0">
                <a:solidFill>
                  <a:srgbClr val="5B6673"/>
                </a:solidFill>
                <a:latin typeface="Calibri" pitchFamily="34" charset="0"/>
                <a:ea typeface="Calibri" pitchFamily="34" charset="-122"/>
                <a:cs typeface="Calibri" pitchFamily="34" charset="-120"/>
              </a:rPr>
              <a:t>nothing built once</a:t>
            </a:r>
            <a:endParaRPr lang="en-US" sz="900" dirty="0"/>
          </a:p>
        </p:txBody>
      </p:sp>
      <p:pic>
        <p:nvPicPr>
          <p:cNvPr id="153" name="Image 24" descr="preencoded.png">    </p:cNvPr>
          <p:cNvPicPr>
            <a:picLocks noChangeAspect="1"/>
          </p:cNvPicPr>
          <p:nvPr/>
        </p:nvPicPr>
        <p:blipFill>
          <a:blip r:embed="rId25"/>
          <a:stretch>
            <a:fillRect/>
          </a:stretch>
        </p:blipFill>
        <p:spPr>
          <a:xfrm>
            <a:off x="3730752" y="5943600"/>
            <a:ext cx="365760" cy="365760"/>
          </a:xfrm>
          <a:prstGeom prst="rect">
            <a:avLst/>
          </a:prstGeom>
        </p:spPr>
      </p:pic>
      <p:sp>
        <p:nvSpPr>
          <p:cNvPr id="154" name="Shape 127"/>
          <p:cNvSpPr/>
          <p:nvPr/>
        </p:nvSpPr>
        <p:spPr>
          <a:xfrm>
            <a:off x="4005072" y="5888736"/>
            <a:ext cx="182880" cy="182880"/>
          </a:xfrm>
          <a:prstGeom prst="ellipse">
            <a:avLst/>
          </a:prstGeom>
          <a:solidFill>
            <a:srgbClr val="BC0018"/>
          </a:solidFill>
          <a:ln w="12700">
            <a:solidFill>
              <a:srgbClr val="FFFFFF"/>
            </a:solidFill>
            <a:prstDash val="solid"/>
          </a:ln>
        </p:spPr>
      </p:sp>
      <p:sp>
        <p:nvSpPr>
          <p:cNvPr id="155" name="Text 128"/>
          <p:cNvSpPr txBox="1"/>
          <p:nvPr/>
        </p:nvSpPr>
        <p:spPr>
          <a:xfrm>
            <a:off x="4005072" y="5888736"/>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56" name="Text 129"/>
          <p:cNvSpPr txBox="1"/>
          <p:nvPr/>
        </p:nvSpPr>
        <p:spPr>
          <a:xfrm>
            <a:off x="4187952" y="5925312"/>
            <a:ext cx="1179576" cy="402336"/>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No tokenomics
</a:t>
            </a:r>
            <a:r>
              <a:rPr lang="en-US" sz="800" dirty="0">
                <a:solidFill>
                  <a:srgbClr val="5B6673"/>
                </a:solidFill>
                <a:latin typeface="Calibri" pitchFamily="34" charset="0"/>
                <a:ea typeface="Calibri" pitchFamily="34" charset="-122"/>
                <a:cs typeface="Calibri" pitchFamily="34" charset="-120"/>
              </a:rPr>
              <a:t>cost per use unknown</a:t>
            </a:r>
            <a:endParaRPr lang="en-US" sz="900" dirty="0"/>
          </a:p>
        </p:txBody>
      </p:sp>
      <p:pic>
        <p:nvPicPr>
          <p:cNvPr id="157" name="Image 25" descr="preencoded.png">    </p:cNvPr>
          <p:cNvPicPr>
            <a:picLocks noChangeAspect="1"/>
          </p:cNvPicPr>
          <p:nvPr/>
        </p:nvPicPr>
        <p:blipFill>
          <a:blip r:embed="rId26"/>
          <a:stretch>
            <a:fillRect/>
          </a:stretch>
        </p:blipFill>
        <p:spPr>
          <a:xfrm>
            <a:off x="5413248" y="5943600"/>
            <a:ext cx="365760" cy="365760"/>
          </a:xfrm>
          <a:prstGeom prst="rect">
            <a:avLst/>
          </a:prstGeom>
        </p:spPr>
      </p:pic>
      <p:sp>
        <p:nvSpPr>
          <p:cNvPr id="158" name="Shape 130"/>
          <p:cNvSpPr/>
          <p:nvPr/>
        </p:nvSpPr>
        <p:spPr>
          <a:xfrm>
            <a:off x="5687568" y="5888736"/>
            <a:ext cx="182880" cy="182880"/>
          </a:xfrm>
          <a:prstGeom prst="ellipse">
            <a:avLst/>
          </a:prstGeom>
          <a:solidFill>
            <a:srgbClr val="BC0018"/>
          </a:solidFill>
          <a:ln w="12700">
            <a:solidFill>
              <a:srgbClr val="FFFFFF"/>
            </a:solidFill>
            <a:prstDash val="solid"/>
          </a:ln>
        </p:spPr>
      </p:sp>
      <p:sp>
        <p:nvSpPr>
          <p:cNvPr id="159" name="Text 131"/>
          <p:cNvSpPr txBox="1"/>
          <p:nvPr/>
        </p:nvSpPr>
        <p:spPr>
          <a:xfrm>
            <a:off x="5687568" y="5888736"/>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60" name="Text 132"/>
          <p:cNvSpPr txBox="1"/>
          <p:nvPr/>
        </p:nvSpPr>
        <p:spPr>
          <a:xfrm>
            <a:off x="5870448" y="5925312"/>
            <a:ext cx="1179576" cy="402336"/>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Non-standard
</a:t>
            </a:r>
            <a:r>
              <a:rPr lang="en-US" sz="800" dirty="0">
                <a:solidFill>
                  <a:srgbClr val="5B6673"/>
                </a:solidFill>
                <a:latin typeface="Calibri" pitchFamily="34" charset="0"/>
                <a:ea typeface="Calibri" pitchFamily="34" charset="-122"/>
                <a:cs typeface="Calibri" pitchFamily="34" charset="-120"/>
              </a:rPr>
              <a:t>many teams, many regions</a:t>
            </a:r>
            <a:endParaRPr lang="en-US" sz="900" dirty="0"/>
          </a:p>
        </p:txBody>
      </p:sp>
      <p:pic>
        <p:nvPicPr>
          <p:cNvPr id="161" name="Image 26" descr="preencoded.png">    </p:cNvPr>
          <p:cNvPicPr>
            <a:picLocks noChangeAspect="1"/>
          </p:cNvPicPr>
          <p:nvPr/>
        </p:nvPicPr>
        <p:blipFill>
          <a:blip r:embed="rId27"/>
          <a:stretch>
            <a:fillRect/>
          </a:stretch>
        </p:blipFill>
        <p:spPr>
          <a:xfrm>
            <a:off x="7095744" y="5943600"/>
            <a:ext cx="365760" cy="365760"/>
          </a:xfrm>
          <a:prstGeom prst="rect">
            <a:avLst/>
          </a:prstGeom>
        </p:spPr>
      </p:pic>
      <p:sp>
        <p:nvSpPr>
          <p:cNvPr id="162" name="Shape 133"/>
          <p:cNvSpPr/>
          <p:nvPr/>
        </p:nvSpPr>
        <p:spPr>
          <a:xfrm>
            <a:off x="7370064" y="5888736"/>
            <a:ext cx="182880" cy="182880"/>
          </a:xfrm>
          <a:prstGeom prst="ellipse">
            <a:avLst/>
          </a:prstGeom>
          <a:solidFill>
            <a:srgbClr val="BC0018"/>
          </a:solidFill>
          <a:ln w="12700">
            <a:solidFill>
              <a:srgbClr val="FFFFFF"/>
            </a:solidFill>
            <a:prstDash val="solid"/>
          </a:ln>
        </p:spPr>
      </p:sp>
      <p:sp>
        <p:nvSpPr>
          <p:cNvPr id="163" name="Text 134"/>
          <p:cNvSpPr txBox="1"/>
          <p:nvPr/>
        </p:nvSpPr>
        <p:spPr>
          <a:xfrm>
            <a:off x="7370064" y="5888736"/>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64" name="Text 135"/>
          <p:cNvSpPr txBox="1"/>
          <p:nvPr/>
        </p:nvSpPr>
        <p:spPr>
          <a:xfrm>
            <a:off x="7552944" y="5925312"/>
            <a:ext cx="1179576" cy="402336"/>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Weak guardrails
</a:t>
            </a:r>
            <a:r>
              <a:rPr lang="en-US" sz="800" dirty="0">
                <a:solidFill>
                  <a:srgbClr val="5B6673"/>
                </a:solidFill>
                <a:latin typeface="Calibri" pitchFamily="34" charset="0"/>
                <a:ea typeface="Calibri" pitchFamily="34" charset="-122"/>
                <a:cs typeface="Calibri" pitchFamily="34" charset="-120"/>
              </a:rPr>
              <a:t>risk not designed in</a:t>
            </a:r>
            <a:endParaRPr lang="en-US" sz="900" dirty="0"/>
          </a:p>
        </p:txBody>
      </p:sp>
      <p:sp>
        <p:nvSpPr>
          <p:cNvPr id="165" name="Shape 136"/>
          <p:cNvSpPr/>
          <p:nvPr/>
        </p:nvSpPr>
        <p:spPr>
          <a:xfrm>
            <a:off x="6309360" y="6382512"/>
            <a:ext cx="2468880" cy="384048"/>
          </a:xfrm>
          <a:prstGeom prst="rect">
            <a:avLst/>
          </a:prstGeom>
          <a:solidFill>
            <a:srgbClr val="FFF2A8"/>
          </a:solidFill>
          <a:ln w="9525">
            <a:solidFill>
              <a:srgbClr val="E5B800"/>
            </a:solidFill>
            <a:prstDash val="solid"/>
          </a:ln>
        </p:spPr>
      </p:sp>
      <p:sp>
        <p:nvSpPr>
          <p:cNvPr id="166" name="Text 137"/>
          <p:cNvSpPr txBox="1"/>
          <p:nvPr/>
        </p:nvSpPr>
        <p:spPr>
          <a:xfrm>
            <a:off x="6373368" y="6391656"/>
            <a:ext cx="2359152" cy="365760"/>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OPEN POINTS  </a:t>
            </a:r>
            <a:r>
              <a:rPr lang="en-US" sz="800" dirty="0">
                <a:solidFill>
                  <a:srgbClr val="1B2431"/>
                </a:solidFill>
                <a:latin typeface="Calibri" pitchFamily="34" charset="0"/>
                <a:ea typeface="Calibri" pitchFamily="34" charset="-122"/>
                <a:cs typeface="Calibri" pitchFamily="34" charset="-120"/>
              </a:rPr>
              <a:t>Confirm AI / DTI split per BU; confirm agent type for Semi STP and TIDE; ASAM Automation shown in CSG and IWM as one programme.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74320"/>
            <a:ext cx="8412480" cy="457200"/>
          </a:xfrm>
          <a:prstGeom prst="rect">
            <a:avLst/>
          </a:prstGeom>
          <a:noFill/>
          <a:ln/>
        </p:spPr>
        <p:txBody>
          <a:bodyPr wrap="square" lIns="0" tIns="0" rIns="0" bIns="0" rtlCol="0" anchor="t"/>
          <a:lstStyle/>
          <a:p>
            <a:pPr indent="0" marL="0">
              <a:buNone/>
            </a:pPr>
            <a:r>
              <a:rPr lang="en-US" sz="1800" b="1" dirty="0">
                <a:solidFill>
                  <a:srgbClr val="BC0018"/>
                </a:solidFill>
                <a:latin typeface="Calibri" pitchFamily="34" charset="0"/>
                <a:ea typeface="Calibri" pitchFamily="34" charset="-122"/>
                <a:cs typeface="Calibri" pitchFamily="34" charset="-120"/>
              </a:rPr>
              <a:t>AI | Making the change sustainable</a:t>
            </a:r>
            <a:endParaRPr lang="en-US" sz="1800" dirty="0"/>
          </a:p>
        </p:txBody>
      </p:sp>
      <p:sp>
        <p:nvSpPr>
          <p:cNvPr id="3" name="Text 1"/>
          <p:cNvSpPr txBox="1"/>
          <p:nvPr/>
        </p:nvSpPr>
        <p:spPr>
          <a:xfrm>
            <a:off x="365760" y="777240"/>
            <a:ext cx="8412480" cy="201168"/>
          </a:xfrm>
          <a:prstGeom prst="rect">
            <a:avLst/>
          </a:prstGeom>
          <a:noFill/>
          <a:ln/>
        </p:spPr>
        <p:txBody>
          <a:bodyPr wrap="square" lIns="0" tIns="0" rIns="0" bIns="0" rtlCol="0" anchor="ctr"/>
          <a:lstStyle/>
          <a:p>
            <a:pPr indent="0" marL="0">
              <a:buNone/>
            </a:pPr>
            <a:r>
              <a:rPr lang="en-US" sz="800" spc="100" kern="0" dirty="0">
                <a:solidFill>
                  <a:srgbClr val="5B6673"/>
                </a:solidFill>
                <a:latin typeface="Calibri" pitchFamily="34" charset="0"/>
                <a:ea typeface="Calibri" pitchFamily="34" charset="-122"/>
                <a:cs typeface="Calibri" pitchFamily="34" charset="-120"/>
              </a:rPr>
              <a:t>AI LEADERS SPEND 10% OF EFFORT ON ALGORITHMS, 20% ON DATA &amp; TECHNOLOGY, 70% ON PEOPLE, PROCESS &amp; CULTURE [1]</a:t>
            </a:r>
            <a:endParaRPr lang="en-US" sz="800" dirty="0"/>
          </a:p>
        </p:txBody>
      </p:sp>
      <p:sp>
        <p:nvSpPr>
          <p:cNvPr id="4" name="Shape 2"/>
          <p:cNvSpPr/>
          <p:nvPr/>
        </p:nvSpPr>
        <p:spPr>
          <a:xfrm>
            <a:off x="365760" y="1097280"/>
            <a:ext cx="4114800" cy="1783080"/>
          </a:xfrm>
          <a:prstGeom prst="rect">
            <a:avLst/>
          </a:prstGeom>
          <a:solidFill>
            <a:srgbClr val="F4F6F8"/>
          </a:solidFill>
          <a:ln w="12700">
            <a:solidFill>
              <a:srgbClr val="F4F6F8"/>
            </a:solidFill>
            <a:prstDash val="solid"/>
          </a:ln>
        </p:spPr>
      </p:sp>
      <p:sp>
        <p:nvSpPr>
          <p:cNvPr id="5" name="Shape 3"/>
          <p:cNvSpPr/>
          <p:nvPr/>
        </p:nvSpPr>
        <p:spPr>
          <a:xfrm>
            <a:off x="502920" y="1234440"/>
            <a:ext cx="402336" cy="402336"/>
          </a:xfrm>
          <a:prstGeom prst="rect">
            <a:avLst/>
          </a:prstGeom>
          <a:solidFill>
            <a:srgbClr val="BC0018"/>
          </a:solidFill>
          <a:ln w="12700">
            <a:solidFill>
              <a:srgbClr val="BC0018"/>
            </a:solidFill>
            <a:prstDash val="solid"/>
          </a:ln>
        </p:spPr>
      </p:sp>
      <p:pic>
        <p:nvPicPr>
          <p:cNvPr id="6" name="Image 0" descr="preencoded.png">    </p:cNvPr>
          <p:cNvPicPr>
            <a:picLocks noChangeAspect="1"/>
          </p:cNvPicPr>
          <p:nvPr/>
        </p:nvPicPr>
        <p:blipFill>
          <a:blip r:embed="rId1"/>
          <a:stretch>
            <a:fillRect/>
          </a:stretch>
        </p:blipFill>
        <p:spPr>
          <a:xfrm>
            <a:off x="566928" y="1298448"/>
            <a:ext cx="274320" cy="274320"/>
          </a:xfrm>
          <a:prstGeom prst="rect">
            <a:avLst/>
          </a:prstGeom>
        </p:spPr>
      </p:pic>
      <p:sp>
        <p:nvSpPr>
          <p:cNvPr id="7" name="Text 4"/>
          <p:cNvSpPr txBox="1"/>
          <p:nvPr/>
        </p:nvSpPr>
        <p:spPr>
          <a:xfrm>
            <a:off x="1024128" y="1207008"/>
            <a:ext cx="3337560" cy="457200"/>
          </a:xfrm>
          <a:prstGeom prst="rect">
            <a:avLst/>
          </a:prstGeom>
          <a:noFill/>
          <a:ln/>
        </p:spPr>
        <p:txBody>
          <a:bodyPr wrap="square" lIns="0" tIns="0" rIns="0" bIns="0" rtlCol="0" anchor="ctr"/>
          <a:lstStyle/>
          <a:p>
            <a:pPr indent="0" marL="0">
              <a:buNone/>
            </a:pPr>
            <a:r>
              <a:rPr lang="en-US" sz="1000" b="1" dirty="0">
                <a:solidFill>
                  <a:srgbClr val="BC0018"/>
                </a:solidFill>
                <a:latin typeface="Calibri" pitchFamily="34" charset="0"/>
                <a:ea typeface="Calibri" pitchFamily="34" charset="-122"/>
                <a:cs typeface="Calibri" pitchFamily="34" charset="-120"/>
              </a:rPr>
              <a:t>PEOPLE
</a:t>
            </a:r>
            <a:r>
              <a:rPr lang="en-US" sz="900" b="1" dirty="0">
                <a:solidFill>
                  <a:srgbClr val="1B2431"/>
                </a:solidFill>
                <a:latin typeface="Calibri" pitchFamily="34" charset="0"/>
                <a:ea typeface="Calibri" pitchFamily="34" charset="-122"/>
                <a:cs typeface="Calibri" pitchFamily="34" charset="-120"/>
              </a:rPr>
              <a:t>Roles change, not just tools</a:t>
            </a:r>
            <a:endParaRPr lang="en-US" sz="1000" dirty="0"/>
          </a:p>
        </p:txBody>
      </p:sp>
      <p:sp>
        <p:nvSpPr>
          <p:cNvPr id="8" name="Text 5"/>
          <p:cNvSpPr txBox="1"/>
          <p:nvPr/>
        </p:nvSpPr>
        <p:spPr>
          <a:xfrm>
            <a:off x="502920" y="1755648"/>
            <a:ext cx="3840480" cy="457200"/>
          </a:xfrm>
          <a:prstGeom prst="rect">
            <a:avLst/>
          </a:prstGeom>
          <a:noFill/>
          <a:ln/>
        </p:spPr>
        <p:txBody>
          <a:bodyPr wrap="square" lIns="0" tIns="0" rIns="0" bIns="0" rtlCol="0" anchor="t"/>
          <a:lstStyle/>
          <a:p>
            <a:pPr marL="127000" indent="-127000">
              <a:spcAft>
                <a:spcPts val="200"/>
              </a:spcAft>
              <a:buSzPct val="100000"/>
              <a:buChar char="•"/>
            </a:pPr>
            <a:r>
              <a:rPr lang="en-US" sz="900" dirty="0">
                <a:solidFill>
                  <a:srgbClr val="1B2431"/>
                </a:solidFill>
                <a:latin typeface="Calibri" pitchFamily="34" charset="0"/>
                <a:ea typeface="Calibri" pitchFamily="34" charset="-122"/>
                <a:cs typeface="Calibri" pitchFamily="34" charset="-120"/>
              </a:rPr>
              <a:t>Redesign roles with career paths</a:t>
            </a:r>
            <a:endParaRPr lang="en-US" sz="900" dirty="0"/>
          </a:p>
          <a:p>
            <a:pPr marL="127000" indent="-127000">
              <a:spcAft>
                <a:spcPts val="200"/>
              </a:spcAft>
              <a:buSzPct val="100000"/>
              <a:buChar char="•"/>
            </a:pPr>
            <a:r>
              <a:rPr lang="en-US" sz="900" dirty="0">
                <a:solidFill>
                  <a:srgbClr val="1B2431"/>
                </a:solidFill>
                <a:latin typeface="Calibri" pitchFamily="34" charset="0"/>
                <a:ea typeface="Calibri" pitchFamily="34" charset="-122"/>
                <a:cs typeface="Calibri" pitchFamily="34" charset="-120"/>
              </a:rPr>
              <a:t>5+ hours of AI training and coaching for everyone [2]</a:t>
            </a:r>
            <a:endParaRPr lang="en-US" sz="900" dirty="0"/>
          </a:p>
        </p:txBody>
      </p:sp>
      <p:sp>
        <p:nvSpPr>
          <p:cNvPr id="9" name="Shape 6"/>
          <p:cNvSpPr/>
          <p:nvPr/>
        </p:nvSpPr>
        <p:spPr>
          <a:xfrm>
            <a:off x="502920" y="2267712"/>
            <a:ext cx="3840480" cy="292608"/>
          </a:xfrm>
          <a:prstGeom prst="rect">
            <a:avLst/>
          </a:prstGeom>
          <a:solidFill>
            <a:srgbClr val="FFFFFF"/>
          </a:solidFill>
          <a:ln w="6350">
            <a:solidFill>
              <a:srgbClr val="D8DEE4"/>
            </a:solidFill>
            <a:prstDash val="solid"/>
          </a:ln>
        </p:spPr>
      </p:sp>
      <p:sp>
        <p:nvSpPr>
          <p:cNvPr id="10" name="Text 7"/>
          <p:cNvSpPr txBox="1"/>
          <p:nvPr/>
        </p:nvSpPr>
        <p:spPr>
          <a:xfrm>
            <a:off x="566928" y="2267712"/>
            <a:ext cx="3712464" cy="292608"/>
          </a:xfrm>
          <a:prstGeom prst="rect">
            <a:avLst/>
          </a:prstGeom>
          <a:noFill/>
          <a:ln/>
        </p:spPr>
        <p:txBody>
          <a:bodyPr wrap="square" lIns="0" tIns="0" rIns="0" bIns="0" rtlCol="0" anchor="ctr"/>
          <a:lstStyle/>
          <a:p>
            <a:pPr indent="0" marL="0">
              <a:buNone/>
            </a:pPr>
            <a:r>
              <a:rPr lang="en-US" sz="800" b="1" dirty="0">
                <a:solidFill>
                  <a:srgbClr val="BC0018"/>
                </a:solidFill>
                <a:latin typeface="Calibri" pitchFamily="34" charset="0"/>
                <a:ea typeface="Calibri" pitchFamily="34" charset="-122"/>
                <a:cs typeface="Calibri" pitchFamily="34" charset="-120"/>
              </a:rPr>
              <a:t>Why  </a:t>
            </a:r>
            <a:r>
              <a:rPr lang="en-US" sz="800" dirty="0">
                <a:solidFill>
                  <a:srgbClr val="5B6673"/>
                </a:solidFill>
                <a:latin typeface="Calibri" pitchFamily="34" charset="0"/>
                <a:ea typeface="Calibri" pitchFamily="34" charset="-122"/>
                <a:cs typeface="Calibri" pitchFamily="34" charset="-120"/>
              </a:rPr>
              <a:t>63% of rollout problems are human, not technical [4]</a:t>
            </a:r>
            <a:endParaRPr lang="en-US" sz="800" dirty="0"/>
          </a:p>
        </p:txBody>
      </p:sp>
      <p:sp>
        <p:nvSpPr>
          <p:cNvPr id="11" name="Text 8"/>
          <p:cNvSpPr txBox="1"/>
          <p:nvPr/>
        </p:nvSpPr>
        <p:spPr>
          <a:xfrm>
            <a:off x="502920" y="2596896"/>
            <a:ext cx="3840480" cy="219456"/>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Measure  </a:t>
            </a:r>
            <a:r>
              <a:rPr lang="en-US" sz="800" dirty="0">
                <a:solidFill>
                  <a:srgbClr val="5B6673"/>
                </a:solidFill>
                <a:latin typeface="Calibri" pitchFamily="34" charset="0"/>
                <a:ea typeface="Calibri" pitchFamily="34" charset="-122"/>
                <a:cs typeface="Calibri" pitchFamily="34" charset="-120"/>
              </a:rPr>
              <a:t>% staff using AI daily</a:t>
            </a:r>
            <a:endParaRPr lang="en-US" sz="800" dirty="0"/>
          </a:p>
        </p:txBody>
      </p:sp>
      <p:sp>
        <p:nvSpPr>
          <p:cNvPr id="12" name="Shape 9"/>
          <p:cNvSpPr/>
          <p:nvPr/>
        </p:nvSpPr>
        <p:spPr>
          <a:xfrm>
            <a:off x="4663440" y="1097280"/>
            <a:ext cx="4114800" cy="1783080"/>
          </a:xfrm>
          <a:prstGeom prst="rect">
            <a:avLst/>
          </a:prstGeom>
          <a:solidFill>
            <a:srgbClr val="F4F6F8"/>
          </a:solidFill>
          <a:ln w="12700">
            <a:solidFill>
              <a:srgbClr val="F4F6F8"/>
            </a:solidFill>
            <a:prstDash val="solid"/>
          </a:ln>
        </p:spPr>
      </p:sp>
      <p:sp>
        <p:nvSpPr>
          <p:cNvPr id="13" name="Shape 10"/>
          <p:cNvSpPr/>
          <p:nvPr/>
        </p:nvSpPr>
        <p:spPr>
          <a:xfrm>
            <a:off x="4800600" y="1234440"/>
            <a:ext cx="402336" cy="402336"/>
          </a:xfrm>
          <a:prstGeom prst="rect">
            <a:avLst/>
          </a:prstGeom>
          <a:solidFill>
            <a:srgbClr val="BC0018"/>
          </a:solidFill>
          <a:ln w="12700">
            <a:solidFill>
              <a:srgbClr val="BC0018"/>
            </a:solidFill>
            <a:prstDash val="solid"/>
          </a:ln>
        </p:spPr>
      </p:sp>
      <p:pic>
        <p:nvPicPr>
          <p:cNvPr id="14" name="Image 1" descr="preencoded.png">    </p:cNvPr>
          <p:cNvPicPr>
            <a:picLocks noChangeAspect="1"/>
          </p:cNvPicPr>
          <p:nvPr/>
        </p:nvPicPr>
        <p:blipFill>
          <a:blip r:embed="rId2"/>
          <a:stretch>
            <a:fillRect/>
          </a:stretch>
        </p:blipFill>
        <p:spPr>
          <a:xfrm>
            <a:off x="4864608" y="1298448"/>
            <a:ext cx="274320" cy="274320"/>
          </a:xfrm>
          <a:prstGeom prst="rect">
            <a:avLst/>
          </a:prstGeom>
        </p:spPr>
      </p:pic>
      <p:sp>
        <p:nvSpPr>
          <p:cNvPr id="15" name="Text 11"/>
          <p:cNvSpPr txBox="1"/>
          <p:nvPr/>
        </p:nvSpPr>
        <p:spPr>
          <a:xfrm>
            <a:off x="5321808" y="1207008"/>
            <a:ext cx="3337560" cy="457200"/>
          </a:xfrm>
          <a:prstGeom prst="rect">
            <a:avLst/>
          </a:prstGeom>
          <a:noFill/>
          <a:ln/>
        </p:spPr>
        <p:txBody>
          <a:bodyPr wrap="square" lIns="0" tIns="0" rIns="0" bIns="0" rtlCol="0" anchor="ctr"/>
          <a:lstStyle/>
          <a:p>
            <a:pPr indent="0" marL="0">
              <a:buNone/>
            </a:pPr>
            <a:r>
              <a:rPr lang="en-US" sz="1000" b="1" dirty="0">
                <a:solidFill>
                  <a:srgbClr val="BC0018"/>
                </a:solidFill>
                <a:latin typeface="Calibri" pitchFamily="34" charset="0"/>
                <a:ea typeface="Calibri" pitchFamily="34" charset="-122"/>
                <a:cs typeface="Calibri" pitchFamily="34" charset="-120"/>
              </a:rPr>
              <a:t>PROCESS
</a:t>
            </a:r>
            <a:r>
              <a:rPr lang="en-US" sz="900" b="1" dirty="0">
                <a:solidFill>
                  <a:srgbClr val="1B2431"/>
                </a:solidFill>
                <a:latin typeface="Calibri" pitchFamily="34" charset="0"/>
                <a:ea typeface="Calibri" pitchFamily="34" charset="-122"/>
                <a:cs typeface="Calibri" pitchFamily="34" charset="-120"/>
              </a:rPr>
              <a:t>Redesign the workflow around the agent</a:t>
            </a:r>
            <a:endParaRPr lang="en-US" sz="1000" dirty="0"/>
          </a:p>
        </p:txBody>
      </p:sp>
      <p:sp>
        <p:nvSpPr>
          <p:cNvPr id="16" name="Text 12"/>
          <p:cNvSpPr txBox="1"/>
          <p:nvPr/>
        </p:nvSpPr>
        <p:spPr>
          <a:xfrm>
            <a:off x="4800600" y="1755648"/>
            <a:ext cx="3840480" cy="457200"/>
          </a:xfrm>
          <a:prstGeom prst="rect">
            <a:avLst/>
          </a:prstGeom>
          <a:noFill/>
          <a:ln/>
        </p:spPr>
        <p:txBody>
          <a:bodyPr wrap="square" lIns="0" tIns="0" rIns="0" bIns="0" rtlCol="0" anchor="t"/>
          <a:lstStyle/>
          <a:p>
            <a:pPr marL="127000" indent="-127000">
              <a:spcAft>
                <a:spcPts val="200"/>
              </a:spcAft>
              <a:buSzPct val="100000"/>
              <a:buChar char="•"/>
            </a:pPr>
            <a:r>
              <a:rPr lang="en-US" sz="900" dirty="0">
                <a:solidFill>
                  <a:srgbClr val="1B2431"/>
                </a:solidFill>
                <a:latin typeface="Calibri" pitchFamily="34" charset="0"/>
                <a:ea typeface="Calibri" pitchFamily="34" charset="-122"/>
                <a:cs typeface="Calibri" pitchFamily="34" charset="-120"/>
              </a:rPr>
              <a:t>Every use case ships with a new SOP</a:t>
            </a:r>
            <a:endParaRPr lang="en-US" sz="900" dirty="0"/>
          </a:p>
          <a:p>
            <a:pPr marL="127000" indent="-127000">
              <a:spcAft>
                <a:spcPts val="200"/>
              </a:spcAft>
              <a:buSzPct val="100000"/>
              <a:buChar char="•"/>
            </a:pPr>
            <a:r>
              <a:rPr lang="en-US" sz="900" dirty="0">
                <a:solidFill>
                  <a:srgbClr val="1B2431"/>
                </a:solidFill>
                <a:latin typeface="Calibri" pitchFamily="34" charset="0"/>
                <a:ea typeface="Calibri" pitchFamily="34" charset="-122"/>
                <a:cs typeface="Calibri" pitchFamily="34" charset="-120"/>
              </a:rPr>
              <a:t>Approvals: 145 days → under 60</a:t>
            </a:r>
            <a:endParaRPr lang="en-US" sz="900" dirty="0"/>
          </a:p>
        </p:txBody>
      </p:sp>
      <p:sp>
        <p:nvSpPr>
          <p:cNvPr id="17" name="Shape 13"/>
          <p:cNvSpPr/>
          <p:nvPr/>
        </p:nvSpPr>
        <p:spPr>
          <a:xfrm>
            <a:off x="4800600" y="2267712"/>
            <a:ext cx="3840480" cy="292608"/>
          </a:xfrm>
          <a:prstGeom prst="rect">
            <a:avLst/>
          </a:prstGeom>
          <a:solidFill>
            <a:srgbClr val="FFFFFF"/>
          </a:solidFill>
          <a:ln w="6350">
            <a:solidFill>
              <a:srgbClr val="D8DEE4"/>
            </a:solidFill>
            <a:prstDash val="solid"/>
          </a:ln>
        </p:spPr>
      </p:sp>
      <p:sp>
        <p:nvSpPr>
          <p:cNvPr id="18" name="Text 14"/>
          <p:cNvSpPr txBox="1"/>
          <p:nvPr/>
        </p:nvSpPr>
        <p:spPr>
          <a:xfrm>
            <a:off x="4864608" y="2267712"/>
            <a:ext cx="3712464" cy="292608"/>
          </a:xfrm>
          <a:prstGeom prst="rect">
            <a:avLst/>
          </a:prstGeom>
          <a:noFill/>
          <a:ln/>
        </p:spPr>
        <p:txBody>
          <a:bodyPr wrap="square" lIns="0" tIns="0" rIns="0" bIns="0" rtlCol="0" anchor="ctr"/>
          <a:lstStyle/>
          <a:p>
            <a:pPr indent="0" marL="0">
              <a:buNone/>
            </a:pPr>
            <a:r>
              <a:rPr lang="en-US" sz="800" b="1" dirty="0">
                <a:solidFill>
                  <a:srgbClr val="BC0018"/>
                </a:solidFill>
                <a:latin typeface="Calibri" pitchFamily="34" charset="0"/>
                <a:ea typeface="Calibri" pitchFamily="34" charset="-122"/>
                <a:cs typeface="Calibri" pitchFamily="34" charset="-120"/>
              </a:rPr>
              <a:t>Why  </a:t>
            </a:r>
            <a:r>
              <a:rPr lang="en-US" sz="800" dirty="0">
                <a:solidFill>
                  <a:srgbClr val="5B6673"/>
                </a:solidFill>
                <a:latin typeface="Calibri" pitchFamily="34" charset="0"/>
                <a:ea typeface="Calibri" pitchFamily="34" charset="-122"/>
                <a:cs typeface="Calibri" pitchFamily="34" charset="-120"/>
              </a:rPr>
              <a:t>Only 21% of firms have redesigned workflows — the practice most tied to profit [3]</a:t>
            </a:r>
            <a:endParaRPr lang="en-US" sz="800" dirty="0"/>
          </a:p>
        </p:txBody>
      </p:sp>
      <p:sp>
        <p:nvSpPr>
          <p:cNvPr id="19" name="Text 15"/>
          <p:cNvSpPr txBox="1"/>
          <p:nvPr/>
        </p:nvSpPr>
        <p:spPr>
          <a:xfrm>
            <a:off x="4800600" y="2596896"/>
            <a:ext cx="3840480" cy="219456"/>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Measure  </a:t>
            </a:r>
            <a:r>
              <a:rPr lang="en-US" sz="800" dirty="0">
                <a:solidFill>
                  <a:srgbClr val="5B6673"/>
                </a:solidFill>
                <a:latin typeface="Calibri" pitchFamily="34" charset="0"/>
                <a:ea typeface="Calibri" pitchFamily="34" charset="-122"/>
                <a:cs typeface="Calibri" pitchFamily="34" charset="-120"/>
              </a:rPr>
              <a:t>Approval cycle time</a:t>
            </a:r>
            <a:endParaRPr lang="en-US" sz="800" dirty="0"/>
          </a:p>
        </p:txBody>
      </p:sp>
      <p:sp>
        <p:nvSpPr>
          <p:cNvPr id="20" name="Shape 16"/>
          <p:cNvSpPr/>
          <p:nvPr/>
        </p:nvSpPr>
        <p:spPr>
          <a:xfrm>
            <a:off x="365760" y="3017520"/>
            <a:ext cx="4114800" cy="1783080"/>
          </a:xfrm>
          <a:prstGeom prst="rect">
            <a:avLst/>
          </a:prstGeom>
          <a:solidFill>
            <a:srgbClr val="F4F6F8"/>
          </a:solidFill>
          <a:ln w="12700">
            <a:solidFill>
              <a:srgbClr val="F4F6F8"/>
            </a:solidFill>
            <a:prstDash val="solid"/>
          </a:ln>
        </p:spPr>
      </p:sp>
      <p:sp>
        <p:nvSpPr>
          <p:cNvPr id="21" name="Shape 17"/>
          <p:cNvSpPr/>
          <p:nvPr/>
        </p:nvSpPr>
        <p:spPr>
          <a:xfrm>
            <a:off x="502920" y="3154680"/>
            <a:ext cx="402336" cy="402336"/>
          </a:xfrm>
          <a:prstGeom prst="rect">
            <a:avLst/>
          </a:prstGeom>
          <a:solidFill>
            <a:srgbClr val="BC0018"/>
          </a:solidFill>
          <a:ln w="12700">
            <a:solidFill>
              <a:srgbClr val="BC0018"/>
            </a:solidFill>
            <a:prstDash val="solid"/>
          </a:ln>
        </p:spPr>
      </p:sp>
      <p:pic>
        <p:nvPicPr>
          <p:cNvPr id="22" name="Image 2" descr="preencoded.png">    </p:cNvPr>
          <p:cNvPicPr>
            <a:picLocks noChangeAspect="1"/>
          </p:cNvPicPr>
          <p:nvPr/>
        </p:nvPicPr>
        <p:blipFill>
          <a:blip r:embed="rId3"/>
          <a:stretch>
            <a:fillRect/>
          </a:stretch>
        </p:blipFill>
        <p:spPr>
          <a:xfrm>
            <a:off x="566928" y="3218688"/>
            <a:ext cx="274320" cy="274320"/>
          </a:xfrm>
          <a:prstGeom prst="rect">
            <a:avLst/>
          </a:prstGeom>
        </p:spPr>
      </p:pic>
      <p:sp>
        <p:nvSpPr>
          <p:cNvPr id="23" name="Text 18"/>
          <p:cNvSpPr txBox="1"/>
          <p:nvPr/>
        </p:nvSpPr>
        <p:spPr>
          <a:xfrm>
            <a:off x="1024128" y="3127248"/>
            <a:ext cx="3337560" cy="457200"/>
          </a:xfrm>
          <a:prstGeom prst="rect">
            <a:avLst/>
          </a:prstGeom>
          <a:noFill/>
          <a:ln/>
        </p:spPr>
        <p:txBody>
          <a:bodyPr wrap="square" lIns="0" tIns="0" rIns="0" bIns="0" rtlCol="0" anchor="ctr"/>
          <a:lstStyle/>
          <a:p>
            <a:pPr indent="0" marL="0">
              <a:buNone/>
            </a:pPr>
            <a:r>
              <a:rPr lang="en-US" sz="1000" b="1" dirty="0">
                <a:solidFill>
                  <a:srgbClr val="BC0018"/>
                </a:solidFill>
                <a:latin typeface="Calibri" pitchFamily="34" charset="0"/>
                <a:ea typeface="Calibri" pitchFamily="34" charset="-122"/>
                <a:cs typeface="Calibri" pitchFamily="34" charset="-120"/>
              </a:rPr>
              <a:t>TECHNOLOGY
</a:t>
            </a:r>
            <a:r>
              <a:rPr lang="en-US" sz="900" b="1" dirty="0">
                <a:solidFill>
                  <a:srgbClr val="1B2431"/>
                </a:solidFill>
                <a:latin typeface="Calibri" pitchFamily="34" charset="0"/>
                <a:ea typeface="Calibri" pitchFamily="34" charset="-122"/>
                <a:cs typeface="Calibri" pitchFamily="34" charset="-120"/>
              </a:rPr>
              <a:t>One platform, built once, reused</a:t>
            </a:r>
            <a:endParaRPr lang="en-US" sz="1000" dirty="0"/>
          </a:p>
        </p:txBody>
      </p:sp>
      <p:sp>
        <p:nvSpPr>
          <p:cNvPr id="24" name="Text 19"/>
          <p:cNvSpPr txBox="1"/>
          <p:nvPr/>
        </p:nvSpPr>
        <p:spPr>
          <a:xfrm>
            <a:off x="502920" y="3675888"/>
            <a:ext cx="3840480" cy="457200"/>
          </a:xfrm>
          <a:prstGeom prst="rect">
            <a:avLst/>
          </a:prstGeom>
          <a:noFill/>
          <a:ln/>
        </p:spPr>
        <p:txBody>
          <a:bodyPr wrap="square" lIns="0" tIns="0" rIns="0" bIns="0" rtlCol="0" anchor="t"/>
          <a:lstStyle/>
          <a:p>
            <a:pPr marL="127000" indent="-127000">
              <a:spcAft>
                <a:spcPts val="200"/>
              </a:spcAft>
              <a:buSzPct val="100000"/>
              <a:buChar char="•"/>
            </a:pPr>
            <a:r>
              <a:rPr lang="en-US" sz="900" dirty="0">
                <a:solidFill>
                  <a:srgbClr val="1B2431"/>
                </a:solidFill>
                <a:latin typeface="Calibri" pitchFamily="34" charset="0"/>
                <a:ea typeface="Calibri" pitchFamily="34" charset="-122"/>
                <a:cs typeface="Calibri" pitchFamily="34" charset="-120"/>
              </a:rPr>
              <a:t>Single delivery path from FY26</a:t>
            </a:r>
            <a:endParaRPr lang="en-US" sz="900" dirty="0"/>
          </a:p>
          <a:p>
            <a:pPr marL="127000" indent="-127000">
              <a:spcAft>
                <a:spcPts val="200"/>
              </a:spcAft>
              <a:buSzPct val="100000"/>
              <a:buChar char="•"/>
            </a:pPr>
            <a:r>
              <a:rPr lang="en-US" sz="900" dirty="0">
                <a:solidFill>
                  <a:srgbClr val="1B2431"/>
                </a:solidFill>
                <a:latin typeface="Calibri" pitchFamily="34" charset="0"/>
                <a:ea typeface="Calibri" pitchFamily="34" charset="-122"/>
                <a:cs typeface="Calibri" pitchFamily="34" charset="-120"/>
              </a:rPr>
              <a:t>Release every 8 weeks; meter usage from FY27 [6]</a:t>
            </a:r>
            <a:endParaRPr lang="en-US" sz="900" dirty="0"/>
          </a:p>
        </p:txBody>
      </p:sp>
      <p:sp>
        <p:nvSpPr>
          <p:cNvPr id="25" name="Shape 20"/>
          <p:cNvSpPr/>
          <p:nvPr/>
        </p:nvSpPr>
        <p:spPr>
          <a:xfrm>
            <a:off x="502920" y="4187952"/>
            <a:ext cx="3840480" cy="292608"/>
          </a:xfrm>
          <a:prstGeom prst="rect">
            <a:avLst/>
          </a:prstGeom>
          <a:solidFill>
            <a:srgbClr val="FFFFFF"/>
          </a:solidFill>
          <a:ln w="6350">
            <a:solidFill>
              <a:srgbClr val="D8DEE4"/>
            </a:solidFill>
            <a:prstDash val="solid"/>
          </a:ln>
        </p:spPr>
      </p:sp>
      <p:sp>
        <p:nvSpPr>
          <p:cNvPr id="26" name="Text 21"/>
          <p:cNvSpPr txBox="1"/>
          <p:nvPr/>
        </p:nvSpPr>
        <p:spPr>
          <a:xfrm>
            <a:off x="566928" y="4187952"/>
            <a:ext cx="3712464" cy="292608"/>
          </a:xfrm>
          <a:prstGeom prst="rect">
            <a:avLst/>
          </a:prstGeom>
          <a:noFill/>
          <a:ln/>
        </p:spPr>
        <p:txBody>
          <a:bodyPr wrap="square" lIns="0" tIns="0" rIns="0" bIns="0" rtlCol="0" anchor="ctr"/>
          <a:lstStyle/>
          <a:p>
            <a:pPr indent="0" marL="0">
              <a:buNone/>
            </a:pPr>
            <a:r>
              <a:rPr lang="en-US" sz="800" b="1" dirty="0">
                <a:solidFill>
                  <a:srgbClr val="BC0018"/>
                </a:solidFill>
                <a:latin typeface="Calibri" pitchFamily="34" charset="0"/>
                <a:ea typeface="Calibri" pitchFamily="34" charset="-122"/>
                <a:cs typeface="Calibri" pitchFamily="34" charset="-120"/>
              </a:rPr>
              <a:t>Why  </a:t>
            </a:r>
            <a:r>
              <a:rPr lang="en-US" sz="800" dirty="0">
                <a:solidFill>
                  <a:srgbClr val="5B6673"/>
                </a:solidFill>
                <a:latin typeface="Calibri" pitchFamily="34" charset="0"/>
                <a:ea typeface="Calibri" pitchFamily="34" charset="-122"/>
                <a:cs typeface="Calibri" pitchFamily="34" charset="-120"/>
              </a:rPr>
              <a:t>Today: 0 shared components, 15 of 37 in production</a:t>
            </a:r>
            <a:endParaRPr lang="en-US" sz="800" dirty="0"/>
          </a:p>
        </p:txBody>
      </p:sp>
      <p:sp>
        <p:nvSpPr>
          <p:cNvPr id="27" name="Text 22"/>
          <p:cNvSpPr txBox="1"/>
          <p:nvPr/>
        </p:nvSpPr>
        <p:spPr>
          <a:xfrm>
            <a:off x="502920" y="4517136"/>
            <a:ext cx="3840480" cy="219456"/>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Measure  </a:t>
            </a:r>
            <a:r>
              <a:rPr lang="en-US" sz="800" dirty="0">
                <a:solidFill>
                  <a:srgbClr val="5B6673"/>
                </a:solidFill>
                <a:latin typeface="Calibri" pitchFamily="34" charset="0"/>
                <a:ea typeface="Calibri" pitchFamily="34" charset="-122"/>
                <a:cs typeface="Calibri" pitchFamily="34" charset="-120"/>
              </a:rPr>
              <a:t>Agents reused across BUs</a:t>
            </a:r>
            <a:endParaRPr lang="en-US" sz="800" dirty="0"/>
          </a:p>
        </p:txBody>
      </p:sp>
      <p:sp>
        <p:nvSpPr>
          <p:cNvPr id="28" name="Shape 23"/>
          <p:cNvSpPr/>
          <p:nvPr/>
        </p:nvSpPr>
        <p:spPr>
          <a:xfrm>
            <a:off x="4663440" y="3017520"/>
            <a:ext cx="4114800" cy="1783080"/>
          </a:xfrm>
          <a:prstGeom prst="rect">
            <a:avLst/>
          </a:prstGeom>
          <a:solidFill>
            <a:srgbClr val="F4F6F8"/>
          </a:solidFill>
          <a:ln w="12700">
            <a:solidFill>
              <a:srgbClr val="F4F6F8"/>
            </a:solidFill>
            <a:prstDash val="solid"/>
          </a:ln>
        </p:spPr>
      </p:sp>
      <p:sp>
        <p:nvSpPr>
          <p:cNvPr id="29" name="Shape 24"/>
          <p:cNvSpPr/>
          <p:nvPr/>
        </p:nvSpPr>
        <p:spPr>
          <a:xfrm>
            <a:off x="4800600" y="3154680"/>
            <a:ext cx="402336" cy="402336"/>
          </a:xfrm>
          <a:prstGeom prst="rect">
            <a:avLst/>
          </a:prstGeom>
          <a:solidFill>
            <a:srgbClr val="BC0018"/>
          </a:solidFill>
          <a:ln w="12700">
            <a:solidFill>
              <a:srgbClr val="BC0018"/>
            </a:solidFill>
            <a:prstDash val="solid"/>
          </a:ln>
        </p:spPr>
      </p:sp>
      <p:pic>
        <p:nvPicPr>
          <p:cNvPr id="30" name="Image 3" descr="preencoded.png">    </p:cNvPr>
          <p:cNvPicPr>
            <a:picLocks noChangeAspect="1"/>
          </p:cNvPicPr>
          <p:nvPr/>
        </p:nvPicPr>
        <p:blipFill>
          <a:blip r:embed="rId4"/>
          <a:stretch>
            <a:fillRect/>
          </a:stretch>
        </p:blipFill>
        <p:spPr>
          <a:xfrm>
            <a:off x="4864608" y="3218688"/>
            <a:ext cx="274320" cy="274320"/>
          </a:xfrm>
          <a:prstGeom prst="rect">
            <a:avLst/>
          </a:prstGeom>
        </p:spPr>
      </p:pic>
      <p:sp>
        <p:nvSpPr>
          <p:cNvPr id="31" name="Text 25"/>
          <p:cNvSpPr txBox="1"/>
          <p:nvPr/>
        </p:nvSpPr>
        <p:spPr>
          <a:xfrm>
            <a:off x="5321808" y="3127248"/>
            <a:ext cx="3337560" cy="457200"/>
          </a:xfrm>
          <a:prstGeom prst="rect">
            <a:avLst/>
          </a:prstGeom>
          <a:noFill/>
          <a:ln/>
        </p:spPr>
        <p:txBody>
          <a:bodyPr wrap="square" lIns="0" tIns="0" rIns="0" bIns="0" rtlCol="0" anchor="ctr"/>
          <a:lstStyle/>
          <a:p>
            <a:pPr indent="0" marL="0">
              <a:buNone/>
            </a:pPr>
            <a:r>
              <a:rPr lang="en-US" sz="1000" b="1" dirty="0">
                <a:solidFill>
                  <a:srgbClr val="BC0018"/>
                </a:solidFill>
                <a:latin typeface="Calibri" pitchFamily="34" charset="0"/>
                <a:ea typeface="Calibri" pitchFamily="34" charset="-122"/>
                <a:cs typeface="Calibri" pitchFamily="34" charset="-120"/>
              </a:rPr>
              <a:t>RISK
</a:t>
            </a:r>
            <a:r>
              <a:rPr lang="en-US" sz="900" b="1" dirty="0">
                <a:solidFill>
                  <a:srgbClr val="1B2431"/>
                </a:solidFill>
                <a:latin typeface="Calibri" pitchFamily="34" charset="0"/>
                <a:ea typeface="Calibri" pitchFamily="34" charset="-122"/>
                <a:cs typeface="Calibri" pitchFamily="34" charset="-120"/>
              </a:rPr>
              <a:t>Governance decides what survives the pilot</a:t>
            </a:r>
            <a:endParaRPr lang="en-US" sz="1000" dirty="0"/>
          </a:p>
        </p:txBody>
      </p:sp>
      <p:sp>
        <p:nvSpPr>
          <p:cNvPr id="32" name="Text 26"/>
          <p:cNvSpPr txBox="1"/>
          <p:nvPr/>
        </p:nvSpPr>
        <p:spPr>
          <a:xfrm>
            <a:off x="4800600" y="3675888"/>
            <a:ext cx="3840480" cy="457200"/>
          </a:xfrm>
          <a:prstGeom prst="rect">
            <a:avLst/>
          </a:prstGeom>
          <a:noFill/>
          <a:ln/>
        </p:spPr>
        <p:txBody>
          <a:bodyPr wrap="square" lIns="0" tIns="0" rIns="0" bIns="0" rtlCol="0" anchor="t"/>
          <a:lstStyle/>
          <a:p>
            <a:pPr marL="127000" indent="-127000">
              <a:spcAft>
                <a:spcPts val="200"/>
              </a:spcAft>
              <a:buSzPct val="100000"/>
              <a:buChar char="•"/>
            </a:pPr>
            <a:r>
              <a:rPr lang="en-US" sz="900" dirty="0">
                <a:solidFill>
                  <a:srgbClr val="1B2431"/>
                </a:solidFill>
                <a:latin typeface="Calibri" pitchFamily="34" charset="0"/>
                <a:ea typeface="Calibri" pitchFamily="34" charset="-122"/>
                <a:cs typeface="Calibri" pitchFamily="34" charset="-120"/>
              </a:rPr>
              <a:t>Risk partner in every team</a:t>
            </a:r>
            <a:endParaRPr lang="en-US" sz="900" dirty="0"/>
          </a:p>
          <a:p>
            <a:pPr marL="127000" indent="-127000">
              <a:spcAft>
                <a:spcPts val="200"/>
              </a:spcAft>
              <a:buSzPct val="100000"/>
              <a:buChar char="•"/>
            </a:pPr>
            <a:r>
              <a:rPr lang="en-US" sz="900" dirty="0">
                <a:solidFill>
                  <a:srgbClr val="1B2431"/>
                </a:solidFill>
                <a:latin typeface="Calibri" pitchFamily="34" charset="0"/>
                <a:ea typeface="Calibri" pitchFamily="34" charset="-122"/>
                <a:cs typeface="Calibri" pitchFamily="34" charset="-120"/>
              </a:rPr>
              <a:t>Named executive owner for AI governance</a:t>
            </a:r>
            <a:endParaRPr lang="en-US" sz="900" dirty="0"/>
          </a:p>
        </p:txBody>
      </p:sp>
      <p:sp>
        <p:nvSpPr>
          <p:cNvPr id="33" name="Shape 27"/>
          <p:cNvSpPr/>
          <p:nvPr/>
        </p:nvSpPr>
        <p:spPr>
          <a:xfrm>
            <a:off x="4800600" y="4187952"/>
            <a:ext cx="3840480" cy="292608"/>
          </a:xfrm>
          <a:prstGeom prst="rect">
            <a:avLst/>
          </a:prstGeom>
          <a:solidFill>
            <a:srgbClr val="FFFFFF"/>
          </a:solidFill>
          <a:ln w="6350">
            <a:solidFill>
              <a:srgbClr val="D8DEE4"/>
            </a:solidFill>
            <a:prstDash val="solid"/>
          </a:ln>
        </p:spPr>
      </p:sp>
      <p:sp>
        <p:nvSpPr>
          <p:cNvPr id="34" name="Text 28"/>
          <p:cNvSpPr txBox="1"/>
          <p:nvPr/>
        </p:nvSpPr>
        <p:spPr>
          <a:xfrm>
            <a:off x="4864608" y="4187952"/>
            <a:ext cx="3712464" cy="292608"/>
          </a:xfrm>
          <a:prstGeom prst="rect">
            <a:avLst/>
          </a:prstGeom>
          <a:noFill/>
          <a:ln/>
        </p:spPr>
        <p:txBody>
          <a:bodyPr wrap="square" lIns="0" tIns="0" rIns="0" bIns="0" rtlCol="0" anchor="ctr"/>
          <a:lstStyle/>
          <a:p>
            <a:pPr indent="0" marL="0">
              <a:buNone/>
            </a:pPr>
            <a:r>
              <a:rPr lang="en-US" sz="800" b="1" dirty="0">
                <a:solidFill>
                  <a:srgbClr val="BC0018"/>
                </a:solidFill>
                <a:latin typeface="Calibri" pitchFamily="34" charset="0"/>
                <a:ea typeface="Calibri" pitchFamily="34" charset="-122"/>
                <a:cs typeface="Calibri" pitchFamily="34" charset="-120"/>
              </a:rPr>
              <a:t>Why  </a:t>
            </a:r>
            <a:r>
              <a:rPr lang="en-US" sz="800" dirty="0">
                <a:solidFill>
                  <a:srgbClr val="5B6673"/>
                </a:solidFill>
                <a:latin typeface="Calibri" pitchFamily="34" charset="0"/>
                <a:ea typeface="Calibri" pitchFamily="34" charset="-122"/>
                <a:cs typeface="Calibri" pitchFamily="34" charset="-120"/>
              </a:rPr>
              <a:t>30% of gen-AI pilots are abandoned for weak data, controls or value case [5]</a:t>
            </a:r>
            <a:endParaRPr lang="en-US" sz="800" dirty="0"/>
          </a:p>
        </p:txBody>
      </p:sp>
      <p:sp>
        <p:nvSpPr>
          <p:cNvPr id="35" name="Text 29"/>
          <p:cNvSpPr txBox="1"/>
          <p:nvPr/>
        </p:nvSpPr>
        <p:spPr>
          <a:xfrm>
            <a:off x="4800600" y="4517136"/>
            <a:ext cx="3840480" cy="219456"/>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Measure  </a:t>
            </a:r>
            <a:r>
              <a:rPr lang="en-US" sz="800" dirty="0">
                <a:solidFill>
                  <a:srgbClr val="5B6673"/>
                </a:solidFill>
                <a:latin typeface="Calibri" pitchFamily="34" charset="0"/>
                <a:ea typeface="Calibri" pitchFamily="34" charset="-122"/>
                <a:cs typeface="Calibri" pitchFamily="34" charset="-120"/>
              </a:rPr>
              <a:t>Pilot → production rate</a:t>
            </a:r>
            <a:endParaRPr lang="en-US" sz="800" dirty="0"/>
          </a:p>
        </p:txBody>
      </p:sp>
      <p:sp>
        <p:nvSpPr>
          <p:cNvPr id="36" name="Text 30"/>
          <p:cNvSpPr txBox="1"/>
          <p:nvPr/>
        </p:nvSpPr>
        <p:spPr>
          <a:xfrm>
            <a:off x="365760" y="4937760"/>
            <a:ext cx="1828800" cy="201168"/>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How it lands</a:t>
            </a:r>
            <a:endParaRPr lang="en-US" sz="900" dirty="0"/>
          </a:p>
        </p:txBody>
      </p:sp>
      <p:sp>
        <p:nvSpPr>
          <p:cNvPr id="37" name="Shape 31"/>
          <p:cNvSpPr/>
          <p:nvPr/>
        </p:nvSpPr>
        <p:spPr>
          <a:xfrm>
            <a:off x="365760" y="5175504"/>
            <a:ext cx="2767584" cy="566928"/>
          </a:xfrm>
          <a:prstGeom prst="chevron">
            <a:avLst/>
          </a:prstGeom>
          <a:solidFill>
            <a:srgbClr val="EFA4AB"/>
          </a:solidFill>
          <a:ln w="12700">
            <a:solidFill>
              <a:srgbClr val="FFFFFF"/>
            </a:solidFill>
            <a:prstDash val="solid"/>
          </a:ln>
        </p:spPr>
      </p:sp>
      <p:sp>
        <p:nvSpPr>
          <p:cNvPr id="38" name="Text 32"/>
          <p:cNvSpPr txBox="1"/>
          <p:nvPr/>
        </p:nvSpPr>
        <p:spPr>
          <a:xfrm>
            <a:off x="713232" y="5175504"/>
            <a:ext cx="2164080" cy="566928"/>
          </a:xfrm>
          <a:prstGeom prst="rect">
            <a:avLst/>
          </a:prstGeom>
          <a:noFill/>
          <a:ln/>
        </p:spPr>
        <p:txBody>
          <a:bodyPr wrap="square" lIns="0" tIns="0" rIns="0" bIns="0" rtlCol="0" anchor="ctr"/>
          <a:lstStyle/>
          <a:p>
            <a:pPr indent="0" marL="0">
              <a:buNone/>
            </a:pPr>
            <a:r>
              <a:rPr lang="en-US" sz="900" b="1" dirty="0">
                <a:solidFill>
                  <a:srgbClr val="1B2431"/>
                </a:solidFill>
                <a:latin typeface="Calibri" pitchFamily="34" charset="0"/>
                <a:ea typeface="Calibri" pitchFamily="34" charset="-122"/>
                <a:cs typeface="Calibri" pitchFamily="34" charset="-120"/>
              </a:rPr>
              <a:t>FY25–26  ASSIST
</a:t>
            </a:r>
            <a:r>
              <a:rPr lang="en-US" sz="800" dirty="0">
                <a:solidFill>
                  <a:srgbClr val="1B2431"/>
                </a:solidFill>
                <a:latin typeface="Calibri" pitchFamily="34" charset="0"/>
                <a:ea typeface="Calibri" pitchFamily="34" charset="-122"/>
                <a:cs typeface="Calibri" pitchFamily="34" charset="-120"/>
              </a:rPr>
              <a:t>AI literacy for all · use-case owners named · quick approval fixes</a:t>
            </a:r>
            <a:endParaRPr lang="en-US" sz="900" dirty="0"/>
          </a:p>
        </p:txBody>
      </p:sp>
      <p:sp>
        <p:nvSpPr>
          <p:cNvPr id="39" name="Shape 33"/>
          <p:cNvSpPr/>
          <p:nvPr/>
        </p:nvSpPr>
        <p:spPr>
          <a:xfrm>
            <a:off x="3169920" y="5175504"/>
            <a:ext cx="2767584" cy="566928"/>
          </a:xfrm>
          <a:prstGeom prst="chevron">
            <a:avLst/>
          </a:prstGeom>
          <a:solidFill>
            <a:srgbClr val="D9424F"/>
          </a:solidFill>
          <a:ln w="12700">
            <a:solidFill>
              <a:srgbClr val="FFFFFF"/>
            </a:solidFill>
            <a:prstDash val="solid"/>
          </a:ln>
        </p:spPr>
      </p:sp>
      <p:sp>
        <p:nvSpPr>
          <p:cNvPr id="40" name="Text 34"/>
          <p:cNvSpPr txBox="1"/>
          <p:nvPr/>
        </p:nvSpPr>
        <p:spPr>
          <a:xfrm>
            <a:off x="3517392" y="5175504"/>
            <a:ext cx="2164080" cy="56692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FY26–28  ORCHESTRATE
</a:t>
            </a:r>
            <a:r>
              <a:rPr lang="en-US" sz="800" dirty="0">
                <a:solidFill>
                  <a:srgbClr val="FFFFFF"/>
                </a:solidFill>
                <a:latin typeface="Calibri" pitchFamily="34" charset="0"/>
                <a:ea typeface="Calibri" pitchFamily="34" charset="-122"/>
                <a:cs typeface="Calibri" pitchFamily="34" charset="-120"/>
              </a:rPr>
              <a:t>First agent managers · redesigned SOPs · platform live, reused across BUs</a:t>
            </a:r>
            <a:endParaRPr lang="en-US" sz="900" dirty="0"/>
          </a:p>
        </p:txBody>
      </p:sp>
      <p:sp>
        <p:nvSpPr>
          <p:cNvPr id="41" name="Shape 35"/>
          <p:cNvSpPr/>
          <p:nvPr/>
        </p:nvSpPr>
        <p:spPr>
          <a:xfrm>
            <a:off x="5974080" y="5175504"/>
            <a:ext cx="2767584" cy="566928"/>
          </a:xfrm>
          <a:prstGeom prst="chevron">
            <a:avLst/>
          </a:prstGeom>
          <a:solidFill>
            <a:srgbClr val="BC0018"/>
          </a:solidFill>
          <a:ln w="12700">
            <a:solidFill>
              <a:srgbClr val="FFFFFF"/>
            </a:solidFill>
            <a:prstDash val="solid"/>
          </a:ln>
        </p:spPr>
      </p:sp>
      <p:sp>
        <p:nvSpPr>
          <p:cNvPr id="42" name="Text 36"/>
          <p:cNvSpPr txBox="1"/>
          <p:nvPr/>
        </p:nvSpPr>
        <p:spPr>
          <a:xfrm>
            <a:off x="6321552" y="5175504"/>
            <a:ext cx="2164080" cy="56692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FY28–30  AUTONOMIZE
</a:t>
            </a:r>
            <a:r>
              <a:rPr lang="en-US" sz="800" dirty="0">
                <a:solidFill>
                  <a:srgbClr val="FFFFFF"/>
                </a:solidFill>
                <a:latin typeface="Calibri" pitchFamily="34" charset="0"/>
                <a:ea typeface="Calibri" pitchFamily="34" charset="-122"/>
                <a:cs typeface="Calibri" pitchFamily="34" charset="-120"/>
              </a:rPr>
              <a:t>Teams managed by outcomes · exception-only human work · continuous assurance</a:t>
            </a:r>
            <a:endParaRPr lang="en-US" sz="900" dirty="0"/>
          </a:p>
        </p:txBody>
      </p:sp>
      <p:sp>
        <p:nvSpPr>
          <p:cNvPr id="43" name="Text 37"/>
          <p:cNvSpPr txBox="1"/>
          <p:nvPr/>
        </p:nvSpPr>
        <p:spPr>
          <a:xfrm>
            <a:off x="365760" y="5870448"/>
            <a:ext cx="1828800" cy="164592"/>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References</a:t>
            </a:r>
            <a:endParaRPr lang="en-US" sz="800" dirty="0"/>
          </a:p>
        </p:txBody>
      </p:sp>
      <p:sp>
        <p:nvSpPr>
          <p:cNvPr id="44" name="Text 38"/>
          <p:cNvSpPr txBox="1"/>
          <p:nvPr/>
        </p:nvSpPr>
        <p:spPr>
          <a:xfrm>
            <a:off x="365760" y="6053328"/>
            <a:ext cx="3017520" cy="548640"/>
          </a:xfrm>
          <a:prstGeom prst="rect">
            <a:avLst/>
          </a:prstGeom>
          <a:noFill/>
          <a:ln/>
        </p:spPr>
        <p:txBody>
          <a:bodyPr wrap="square" lIns="0" tIns="0" rIns="0" bIns="0" rtlCol="0" anchor="t"/>
          <a:lstStyle/>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[1] </a:t>
            </a:r>
            <a:r>
              <a:rPr lang="en-US" sz="800" u="sng" dirty="0">
                <a:solidFill>
                  <a:srgbClr val="1F6FEB"/>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BCG, Closing the AI impact gap (AI Radar), Jan 2025</a:t>
            </a:r>
            <a:endParaRPr lang="en-US" sz="800" dirty="0"/>
          </a:p>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[2] </a:t>
            </a:r>
            <a:r>
              <a:rPr lang="en-US" sz="800" u="sng" dirty="0">
                <a:solidFill>
                  <a:srgbClr val="1F6FE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BCG, AI at Work: momentum builds, but gaps remain, Jun 2025</a:t>
            </a:r>
            <a:endParaRPr lang="en-US" sz="800" dirty="0"/>
          </a:p>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[3] </a:t>
            </a:r>
            <a:r>
              <a:rPr lang="en-US" sz="800" u="sng" dirty="0">
                <a:solidFill>
                  <a:srgbClr val="1F6FEB"/>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McKinsey, The state of AI, Mar 2025</a:t>
            </a:r>
            <a:endParaRPr lang="en-US" sz="800" dirty="0"/>
          </a:p>
        </p:txBody>
      </p:sp>
      <p:sp>
        <p:nvSpPr>
          <p:cNvPr id="45" name="Text 39"/>
          <p:cNvSpPr txBox="1"/>
          <p:nvPr/>
        </p:nvSpPr>
        <p:spPr>
          <a:xfrm>
            <a:off x="3474720" y="6053328"/>
            <a:ext cx="2834640" cy="548640"/>
          </a:xfrm>
          <a:prstGeom prst="rect">
            <a:avLst/>
          </a:prstGeom>
          <a:noFill/>
          <a:ln/>
        </p:spPr>
        <p:txBody>
          <a:bodyPr wrap="square" lIns="0" tIns="0" rIns="0" bIns="0" rtlCol="0" anchor="t"/>
          <a:lstStyle/>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[4] </a:t>
            </a:r>
            <a:r>
              <a:rPr lang="en-US" sz="800" u="sng" dirty="0">
                <a:solidFill>
                  <a:srgbClr val="1F6FE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Prosci, Keys to unlocking AI adoption, May 2026</a:t>
            </a:r>
            <a:endParaRPr lang="en-US" sz="800" dirty="0"/>
          </a:p>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[5] </a:t>
            </a:r>
            <a:r>
              <a:rPr lang="en-US" sz="800" u="sng" dirty="0">
                <a:solidFill>
                  <a:srgbClr val="1F6FEB"/>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Gartner, 30% of gen-AI projects abandoned after PoC, Jul 2024</a:t>
            </a:r>
            <a:endParaRPr lang="en-US" sz="800" dirty="0"/>
          </a:p>
          <a:p>
            <a:pPr indent="0" marL="0">
              <a:spcAft>
                <a:spcPts val="100"/>
              </a:spcAft>
              <a:buNone/>
            </a:pPr>
            <a:r>
              <a:rPr lang="en-US" sz="800" b="1" dirty="0">
                <a:solidFill>
                  <a:srgbClr val="1B2431"/>
                </a:solidFill>
                <a:latin typeface="Calibri" pitchFamily="34" charset="0"/>
                <a:ea typeface="Calibri" pitchFamily="34" charset="-122"/>
                <a:cs typeface="Calibri" pitchFamily="34" charset="-120"/>
              </a:rPr>
              <a:t>[6] </a:t>
            </a:r>
            <a:r>
              <a:rPr lang="en-US" sz="800" u="sng" dirty="0">
                <a:solidFill>
                  <a:srgbClr val="1F6FE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AI News, JPMorgan LLM Suite rollout, Dec 2025</a:t>
            </a:r>
            <a:endParaRPr lang="en-US" sz="800" dirty="0"/>
          </a:p>
        </p:txBody>
      </p:sp>
      <p:sp>
        <p:nvSpPr>
          <p:cNvPr id="46" name="Shape 40"/>
          <p:cNvSpPr/>
          <p:nvPr/>
        </p:nvSpPr>
        <p:spPr>
          <a:xfrm>
            <a:off x="6400800" y="5870448"/>
            <a:ext cx="2377440" cy="731520"/>
          </a:xfrm>
          <a:prstGeom prst="rect">
            <a:avLst/>
          </a:prstGeom>
          <a:solidFill>
            <a:srgbClr val="FFF2A8"/>
          </a:solidFill>
          <a:ln w="9525">
            <a:solidFill>
              <a:srgbClr val="E5B800"/>
            </a:solidFill>
            <a:prstDash val="solid"/>
          </a:ln>
        </p:spPr>
      </p:sp>
      <p:sp>
        <p:nvSpPr>
          <p:cNvPr id="47" name="Text 41"/>
          <p:cNvSpPr txBox="1"/>
          <p:nvPr/>
        </p:nvSpPr>
        <p:spPr>
          <a:xfrm>
            <a:off x="6473952" y="5888736"/>
            <a:ext cx="2240280" cy="694944"/>
          </a:xfrm>
          <a:prstGeom prst="rect">
            <a:avLst/>
          </a:prstGeom>
          <a:noFill/>
          <a:ln/>
        </p:spPr>
        <p:txBody>
          <a:bodyPr wrap="square" lIns="0" tIns="0" rIns="0" bIns="0" rtlCol="0" anchor="ctr"/>
          <a:lstStyle/>
          <a:p>
            <a:pPr indent="0" marL="0">
              <a:buNone/>
            </a:pPr>
            <a:r>
              <a:rPr lang="en-US" sz="800" b="1" dirty="0">
                <a:solidFill>
                  <a:srgbClr val="1B2431"/>
                </a:solidFill>
                <a:latin typeface="Calibri" pitchFamily="34" charset="0"/>
                <a:ea typeface="Calibri" pitchFamily="34" charset="-122"/>
                <a:cs typeface="Calibri" pitchFamily="34" charset="-120"/>
              </a:rPr>
              <a:t>OPEN POINTS  </a:t>
            </a:r>
            <a:r>
              <a:rPr lang="en-US" sz="800" dirty="0">
                <a:solidFill>
                  <a:srgbClr val="1B2431"/>
                </a:solidFill>
                <a:latin typeface="Calibri" pitchFamily="34" charset="0"/>
                <a:ea typeface="Calibri" pitchFamily="34" charset="-122"/>
                <a:cs typeface="Calibri" pitchFamily="34" charset="-120"/>
              </a:rPr>
              <a:t>(1) targets per measure. (2) Executive owner of AI governance. (3) HR / L&amp;D co-ownership of People. (4) Redeployment-vs-reduction position per BU.</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2026-09-11T10:26:37Z</dcterms:created>
  <dcterms:modified xsi:type="dcterms:W3CDTF">2026-09-11T10:26:37Z</dcterms:modified>
</cp:coreProperties>
</file>