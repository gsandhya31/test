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/>
    <p:restoredTop sz="94610"/>
  </p:normalViewPr>
  <p:slideViewPr>
    <p:cSldViewPr snapToGrid="0" snapToObjects="1">
      <p:cViewPr>
        <p:scale>
          <a:sx n="116" d="100"/>
          <a:sy n="116" d="100"/>
        </p:scale>
        <p:origin x="440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2744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ervicenow.com/products/raptordb.html" TargetMode="External"/><Relationship Id="rId3" Type="http://schemas.openxmlformats.org/officeDocument/2006/relationships/hyperlink" Target="https://www.servicenow.com/platform.html" TargetMode="External"/><Relationship Id="rId7" Type="http://schemas.openxmlformats.org/officeDocument/2006/relationships/hyperlink" Target="https://www.servicenow.com/products/ui-builder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cio.com/article/3813359/" TargetMode="External"/><Relationship Id="rId5" Type="http://schemas.openxmlformats.org/officeDocument/2006/relationships/hyperlink" Target="https://www.servicenow.com/products/ai-agents.html" TargetMode="External"/><Relationship Id="rId4" Type="http://schemas.openxmlformats.org/officeDocument/2006/relationships/hyperlink" Target="https://www.servicenow.com/docs/bundle/zurich-intelligent-experiences/page/administer/now-assist-skill-kit/concept/now-assist-skill-kit-landing.html" TargetMode="External"/><Relationship Id="rId9" Type="http://schemas.openxmlformats.org/officeDocument/2006/relationships/hyperlink" Target="https://www.servicenow.com/platform/generative-ai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C2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Solution Platform Comparison: Functionality &amp; Scalability Assessment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7132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scope: 9 skills  ·  17 agents  ·  orchestration across 13 operational domains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524375"/>
              </p:ext>
            </p:extLst>
          </p:nvPr>
        </p:nvGraphicFramePr>
        <p:xfrm>
          <a:off x="411480" y="1207008"/>
          <a:ext cx="11365992" cy="4453128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47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 Nova" panose="020B0504020202020204" pitchFamily="34" charset="0"/>
                          <a:ea typeface="Calibri" pitchFamily="34" charset="-122"/>
                          <a:cs typeface="Calibri" pitchFamily="34" charset="-120"/>
                        </a:rPr>
                        <a:t>Component / Feature</a:t>
                      </a:r>
                      <a:endParaRPr lang="en-US" sz="1100" dirty="0">
                        <a:latin typeface="Arial Nova" panose="020B05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D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 Nova" panose="020B0504020202020204" pitchFamily="34" charset="0"/>
                          <a:ea typeface="Calibri" pitchFamily="34" charset="-122"/>
                          <a:cs typeface="Calibri" pitchFamily="34" charset="-120"/>
                        </a:rPr>
                        <a:t>Proposed Solution</a:t>
                      </a:r>
                      <a:endParaRPr lang="en-US" sz="1100" dirty="0">
                        <a:latin typeface="Arial Nova" panose="020B05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D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 Nova" panose="020B0504020202020204" pitchFamily="34" charset="0"/>
                          <a:ea typeface="Calibri" pitchFamily="34" charset="-122"/>
                          <a:cs typeface="Calibri" pitchFamily="34" charset="-120"/>
                        </a:rPr>
                        <a:t>SNOW (Now Assist)</a:t>
                      </a:r>
                      <a:endParaRPr lang="en-US" sz="1100" dirty="0">
                        <a:latin typeface="Arial Nova" panose="020B05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D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 Nova" panose="020B0504020202020204" pitchFamily="34" charset="0"/>
                          <a:ea typeface="Calibri" pitchFamily="34" charset="-122"/>
                          <a:cs typeface="Calibri" pitchFamily="34" charset="-120"/>
                        </a:rPr>
                        <a:t>Internal IT</a:t>
                      </a:r>
                      <a:endParaRPr lang="en-US" sz="1100" dirty="0">
                        <a:latin typeface="Arial Nova" panose="020B05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D5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 Nova" panose="020B0504020202020204" pitchFamily="34" charset="0"/>
                          <a:ea typeface="Calibri" pitchFamily="34" charset="-122"/>
                          <a:cs typeface="Calibri" pitchFamily="34" charset="-120"/>
                        </a:rPr>
                        <a:t>Reference (SNOW Claims)</a:t>
                      </a:r>
                      <a:endParaRPr lang="en-US" sz="1100" dirty="0">
                        <a:latin typeface="Arial Nova" panose="020B05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D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560A8"/>
                          </a:solidFill>
                          <a:latin typeface="Arial Nova" panose="020B0504020202020204" pitchFamily="34" charset="0"/>
                          <a:ea typeface="Calibri" pitchFamily="34" charset="-122"/>
                          <a:cs typeface="Calibri" pitchFamily="34" charset="-120"/>
                        </a:rPr>
                        <a:t>1. Platform Architecture</a:t>
                      </a:r>
                      <a:endParaRPr lang="en-US" sz="950" dirty="0">
                        <a:latin typeface="Arial Nova" panose="020B05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Arial Nova" panose="020B0504020202020204" pitchFamily="34" charset="0"/>
                          <a:ea typeface="Calibri" pitchFamily="34" charset="-122"/>
                          <a:cs typeface="Calibri" pitchFamily="34" charset="-120"/>
                        </a:rPr>
                        <a:t>Single shared platform hosts all 17 agents across 13 operational domains.</a:t>
                      </a:r>
                      <a:endParaRPr lang="en-US" sz="900" dirty="0">
                        <a:latin typeface="Arial Nova" panose="020B05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Arial Nova" panose="020B0504020202020204" pitchFamily="34" charset="0"/>
                          <a:ea typeface="Calibri" pitchFamily="34" charset="-122"/>
                          <a:cs typeface="Calibri" pitchFamily="34" charset="-120"/>
                        </a:rPr>
                        <a:t>Native single platform; unified data model and architecture (ServiceNow AI Platform).</a:t>
                      </a:r>
                      <a:endParaRPr lang="en-US" sz="900" dirty="0">
                        <a:latin typeface="Arial Nova" panose="020B05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Arial Nova" panose="020B0504020202020204" pitchFamily="34" charset="0"/>
                          <a:ea typeface="Calibri" pitchFamily="34" charset="-122"/>
                          <a:cs typeface="Calibri" pitchFamily="34" charset="-120"/>
                        </a:rPr>
                        <a:t>Not on a single platform; pilot covers one domain currently.</a:t>
                      </a:r>
                      <a:endParaRPr lang="en-US" sz="900" dirty="0">
                        <a:latin typeface="Arial Nova" panose="020B05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u="sng" dirty="0">
                          <a:solidFill>
                            <a:srgbClr val="6B7278"/>
                          </a:solidFill>
                          <a:latin typeface="Arial Nova" panose="020B0504020202020204" pitchFamily="34" charset="0"/>
                          <a:ea typeface="Calibri" pitchFamily="34" charset="-122"/>
                          <a:cs typeface="Calibri" pitchFamily="34" charset="-120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ServiceNow – AI Platform</a:t>
                      </a:r>
                      <a:endParaRPr lang="en-US" sz="850" dirty="0">
                        <a:latin typeface="Arial Nova" panose="020B05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560A8"/>
                          </a:solidFill>
                          <a:latin typeface="Arial Nova" panose="020B0504020202020204" pitchFamily="34" charset="0"/>
                          <a:ea typeface="Calibri" pitchFamily="34" charset="-122"/>
                          <a:cs typeface="Calibri" pitchFamily="34" charset="-120"/>
                        </a:rPr>
                        <a:t>2. Skills &amp; Agent Definition *</a:t>
                      </a:r>
                      <a:endParaRPr lang="en-US" sz="950" dirty="0">
                        <a:latin typeface="Arial Nova" panose="020B05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Arial Nova" panose="020B0504020202020204" pitchFamily="34" charset="0"/>
                          <a:ea typeface="Calibri" pitchFamily="34" charset="-122"/>
                          <a:cs typeface="Calibri" pitchFamily="34" charset="-120"/>
                        </a:rPr>
                        <a:t>9 native skills power 17 purpose-built, domain-mapped agents.</a:t>
                      </a:r>
                      <a:endParaRPr lang="en-US" sz="900" dirty="0">
                        <a:latin typeface="Arial Nova" panose="020B05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Arial Nova" panose="020B0504020202020204" pitchFamily="34" charset="0"/>
                          <a:ea typeface="Calibri" pitchFamily="34" charset="-122"/>
                          <a:cs typeface="Calibri" pitchFamily="34" charset="-120"/>
                        </a:rPr>
                        <a:t>Skills built via Now Assist Skill Kit; agents assembled in AI Agent Studio.</a:t>
                      </a:r>
                      <a:endParaRPr lang="en-US" sz="900" dirty="0">
                        <a:latin typeface="Arial Nova" panose="020B05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Arial Nova" panose="020B0504020202020204" pitchFamily="34" charset="0"/>
                          <a:ea typeface="Calibri" pitchFamily="34" charset="-122"/>
                          <a:cs typeface="Calibri" pitchFamily="34" charset="-120"/>
                        </a:rPr>
                        <a:t>Skills not packaged as reusable units; fixed tools reused, agents remain undefined.</a:t>
                      </a:r>
                      <a:endParaRPr lang="en-US" sz="900" dirty="0">
                        <a:latin typeface="Arial Nova" panose="020B05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u="sng" dirty="0">
                          <a:solidFill>
                            <a:srgbClr val="6B7278"/>
                          </a:solidFill>
                          <a:latin typeface="Arial Nova" panose="020B0504020202020204" pitchFamily="34" charset="0"/>
                          <a:ea typeface="Calibri" pitchFamily="34" charset="-122"/>
                          <a:cs typeface="Calibri" pitchFamily="34" charset="-120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SNOW Docs – Skill Kit
</a:t>
                      </a:r>
                      <a:endParaRPr lang="en-US" sz="850" dirty="0">
                        <a:latin typeface="Arial Nova" panose="020B0504020202020204" pitchFamily="34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u="sng" dirty="0">
                          <a:solidFill>
                            <a:srgbClr val="6B7278"/>
                          </a:solidFill>
                          <a:latin typeface="Arial Nova" panose="020B0504020202020204" pitchFamily="34" charset="0"/>
                          <a:ea typeface="Calibri" pitchFamily="34" charset="-122"/>
                          <a:cs typeface="Calibri" pitchFamily="34" charset="-120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ServiceNow – AI Agents</a:t>
                      </a:r>
                      <a:endParaRPr lang="en-US" sz="850" dirty="0">
                        <a:latin typeface="Arial Nova" panose="020B05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560A8"/>
                          </a:solidFill>
                          <a:latin typeface="Arial Nova" panose="020B0504020202020204" pitchFamily="34" charset="0"/>
                          <a:ea typeface="Calibri" pitchFamily="34" charset="-122"/>
                          <a:cs typeface="Calibri" pitchFamily="34" charset="-120"/>
                        </a:rPr>
                        <a:t>3. Orchestration Capability *</a:t>
                      </a:r>
                      <a:endParaRPr lang="en-US" sz="950" dirty="0">
                        <a:latin typeface="Arial Nova" panose="020B05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Arial Nova" panose="020B0504020202020204" pitchFamily="34" charset="0"/>
                          <a:ea typeface="Calibri" pitchFamily="34" charset="-122"/>
                          <a:cs typeface="Calibri" pitchFamily="34" charset="-120"/>
                        </a:rPr>
                        <a:t>Dedicated Orchestration Agent sequences tasks across 13 domains.</a:t>
                      </a:r>
                      <a:endParaRPr lang="en-US" sz="900" dirty="0">
                        <a:latin typeface="Arial Nova" panose="020B05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Arial Nova" panose="020B0504020202020204" pitchFamily="34" charset="0"/>
                          <a:ea typeface="Calibri" pitchFamily="34" charset="-122"/>
                          <a:cs typeface="Calibri" pitchFamily="34" charset="-120"/>
                        </a:rPr>
                        <a:t>AI Agent Orchestrator coordinates agent teams across systems </a:t>
                      </a:r>
                      <a:r>
                        <a:rPr lang="en-US" sz="900">
                          <a:solidFill>
                            <a:srgbClr val="212121"/>
                          </a:solidFill>
                          <a:latin typeface="Arial Nova" panose="020B0504020202020204" pitchFamily="34" charset="0"/>
                          <a:ea typeface="Calibri" pitchFamily="34" charset="-122"/>
                          <a:cs typeface="Calibri" pitchFamily="34" charset="-120"/>
                        </a:rPr>
                        <a:t>and departments.</a:t>
                      </a:r>
                      <a:endParaRPr lang="en-US" sz="900" dirty="0">
                        <a:latin typeface="Arial Nova" panose="020B05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Arial Nova" panose="020B0504020202020204" pitchFamily="34" charset="0"/>
                          <a:ea typeface="Calibri" pitchFamily="34" charset="-122"/>
                          <a:cs typeface="Calibri" pitchFamily="34" charset="-120"/>
                        </a:rPr>
                        <a:t>No orchestration layer today; needs to be created.</a:t>
                      </a:r>
                      <a:endParaRPr lang="en-US" sz="900" dirty="0">
                        <a:latin typeface="Arial Nova" panose="020B05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u="sng" dirty="0">
                          <a:solidFill>
                            <a:srgbClr val="6B7278"/>
                          </a:solidFill>
                          <a:latin typeface="Arial Nova" panose="020B0504020202020204" pitchFamily="34" charset="0"/>
                          <a:ea typeface="Calibri" pitchFamily="34" charset="-122"/>
                          <a:cs typeface="Calibri" pitchFamily="34" charset="-120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ServiceNow – AI Agents
</a:t>
                      </a:r>
                      <a:endParaRPr lang="en-US" sz="850" dirty="0">
                        <a:latin typeface="Arial Nova" panose="020B0504020202020204" pitchFamily="34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u="sng" dirty="0">
                          <a:solidFill>
                            <a:srgbClr val="6B7278"/>
                          </a:solidFill>
                          <a:latin typeface="Arial Nova" panose="020B0504020202020204" pitchFamily="34" charset="0"/>
                          <a:ea typeface="Calibri" pitchFamily="34" charset="-122"/>
                          <a:cs typeface="Calibri" pitchFamily="34" charset="-120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CIO – AI Agent Orchestrator</a:t>
                      </a:r>
                      <a:endParaRPr lang="en-US" sz="850" dirty="0">
                        <a:latin typeface="Arial Nova" panose="020B05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560A8"/>
                          </a:solidFill>
                          <a:latin typeface="Arial Nova" panose="020B0504020202020204" pitchFamily="34" charset="0"/>
                          <a:ea typeface="Calibri" pitchFamily="34" charset="-122"/>
                          <a:cs typeface="Calibri" pitchFamily="34" charset="-120"/>
                        </a:rPr>
                        <a:t>4. No-Code Onboarding Wizard *</a:t>
                      </a:r>
                      <a:endParaRPr lang="en-US" sz="950" dirty="0">
                        <a:latin typeface="Arial Nova" panose="020B05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Arial Nova" panose="020B0504020202020204" pitchFamily="34" charset="0"/>
                          <a:ea typeface="Calibri" pitchFamily="34" charset="-122"/>
                          <a:cs typeface="Calibri" pitchFamily="34" charset="-120"/>
                        </a:rPr>
                        <a:t>Easy to use Wizard allowing users to create their own workflows, using skills &amp; agents.</a:t>
                      </a:r>
                      <a:endParaRPr lang="en-US" sz="900" dirty="0">
                        <a:latin typeface="Arial Nova" panose="020B05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Arial Nova" panose="020B0504020202020204" pitchFamily="34" charset="0"/>
                          <a:ea typeface="Calibri" pitchFamily="34" charset="-122"/>
                          <a:cs typeface="Calibri" pitchFamily="34" charset="-120"/>
                        </a:rPr>
                        <a:t>AI Agent Studio offers no-code, natural-language agent creation and setup. </a:t>
                      </a:r>
                      <a:r>
                        <a:rPr lang="en-IN" sz="900" dirty="0">
                          <a:highlight>
                            <a:srgbClr val="FFFF00"/>
                          </a:highlight>
                        </a:rPr>
                        <a:t>UI Builder may not support the wizard screens we need.</a:t>
                      </a:r>
                      <a:endParaRPr lang="en-US" sz="900" dirty="0">
                        <a:highlight>
                          <a:srgbClr val="FFFF00"/>
                        </a:highlight>
                        <a:latin typeface="Arial Nova" panose="020B05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Arial Nova" panose="020B0504020202020204" pitchFamily="34" charset="0"/>
                          <a:ea typeface="Calibri" pitchFamily="34" charset="-122"/>
                          <a:cs typeface="Calibri" pitchFamily="34" charset="-120"/>
                        </a:rPr>
                        <a:t>Wizard exists only for pilot scope; skill onboarding yet to be demonstrated; needs IT expertise to build.</a:t>
                      </a:r>
                      <a:endParaRPr lang="en-US" sz="900" dirty="0">
                        <a:latin typeface="Arial Nova" panose="020B05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u="sng" dirty="0">
                          <a:solidFill>
                            <a:srgbClr val="6B7278"/>
                          </a:solidFill>
                          <a:latin typeface="Arial Nova" panose="020B0504020202020204" pitchFamily="34" charset="0"/>
                          <a:ea typeface="Calibri" pitchFamily="34" charset="-122"/>
                          <a:cs typeface="Calibri" pitchFamily="34" charset="-120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ServiceNow – AI Agents
</a:t>
                      </a:r>
                      <a:endParaRPr lang="en-US" sz="850" dirty="0">
                        <a:latin typeface="Arial Nova" panose="020B0504020202020204" pitchFamily="34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u="sng" dirty="0">
                          <a:solidFill>
                            <a:srgbClr val="6B7278"/>
                          </a:solidFill>
                          <a:latin typeface="Arial Nova" panose="020B0504020202020204" pitchFamily="34" charset="0"/>
                          <a:ea typeface="Calibri" pitchFamily="34" charset="-122"/>
                          <a:cs typeface="Calibri" pitchFamily="34" charset="-120"/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ServiceNow – UI Builder</a:t>
                      </a:r>
                      <a:endParaRPr lang="en-US" sz="850" dirty="0">
                        <a:latin typeface="Arial Nova" panose="020B05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560A8"/>
                          </a:solidFill>
                          <a:latin typeface="Arial Nova" panose="020B0504020202020204" pitchFamily="34" charset="0"/>
                          <a:ea typeface="Calibri" pitchFamily="34" charset="-122"/>
                          <a:cs typeface="Calibri" pitchFamily="34" charset="-120"/>
                        </a:rPr>
                        <a:t>5. Scalability &amp; Future-Readiness</a:t>
                      </a:r>
                      <a:endParaRPr lang="en-US" sz="950" dirty="0">
                        <a:latin typeface="Arial Nova" panose="020B05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Arial Nova" panose="020B0504020202020204" pitchFamily="34" charset="0"/>
                          <a:ea typeface="Calibri" pitchFamily="34" charset="-122"/>
                          <a:cs typeface="Calibri" pitchFamily="34" charset="-120"/>
                        </a:rPr>
                        <a:t>Shared core scales from 7 to 17 agents across all domains.</a:t>
                      </a:r>
                      <a:endParaRPr lang="en-US" sz="900" dirty="0">
                        <a:latin typeface="Arial Nova" panose="020B05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Arial Nova" panose="020B0504020202020204" pitchFamily="34" charset="0"/>
                          <a:ea typeface="Calibri" pitchFamily="34" charset="-122"/>
                          <a:cs typeface="Calibri" pitchFamily="34" charset="-120"/>
                        </a:rPr>
                        <a:t>Platform built for enterprise scale with out-of-box audit, RBAC and ACLs; </a:t>
                      </a:r>
                      <a:r>
                        <a:rPr lang="en-US" sz="900" dirty="0" err="1">
                          <a:solidFill>
                            <a:srgbClr val="212121"/>
                          </a:solidFill>
                          <a:latin typeface="Arial Nova" panose="020B0504020202020204" pitchFamily="34" charset="0"/>
                          <a:ea typeface="Calibri" pitchFamily="34" charset="-122"/>
                          <a:cs typeface="Calibri" pitchFamily="34" charset="-120"/>
                        </a:rPr>
                        <a:t>RaptorDB</a:t>
                      </a:r>
                      <a:r>
                        <a:rPr lang="en-US" sz="900" dirty="0">
                          <a:solidFill>
                            <a:srgbClr val="212121"/>
                          </a:solidFill>
                          <a:latin typeface="Arial Nova" panose="020B0504020202020204" pitchFamily="34" charset="0"/>
                          <a:ea typeface="Calibri" pitchFamily="34" charset="-122"/>
                          <a:cs typeface="Calibri" pitchFamily="34" charset="-120"/>
                        </a:rPr>
                        <a:t>(add-on) Pro supports high-volume agent transactions.</a:t>
                      </a:r>
                      <a:endParaRPr lang="en-US" sz="900" dirty="0">
                        <a:latin typeface="Arial Nova" panose="020B05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Arial Nova" panose="020B0504020202020204" pitchFamily="34" charset="0"/>
                          <a:ea typeface="Calibri" pitchFamily="34" charset="-122"/>
                          <a:cs typeface="Calibri" pitchFamily="34" charset="-120"/>
                        </a:rPr>
                        <a:t>Single-domain pilot; path not yet defined to scale beyond current use case.</a:t>
                      </a:r>
                      <a:endParaRPr lang="en-US" sz="900" dirty="0">
                        <a:latin typeface="Arial Nova" panose="020B05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u="sng" dirty="0">
                          <a:solidFill>
                            <a:srgbClr val="6B7278"/>
                          </a:solidFill>
                          <a:latin typeface="Arial Nova" panose="020B0504020202020204" pitchFamily="34" charset="0"/>
                          <a:ea typeface="Calibri" pitchFamily="34" charset="-122"/>
                          <a:cs typeface="Calibri" pitchFamily="34" charset="-120"/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ServiceNow – RaptorDB Pro</a:t>
                      </a:r>
                      <a:endParaRPr lang="en-US" sz="850" dirty="0">
                        <a:latin typeface="Arial Nova" panose="020B05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560A8"/>
                          </a:solidFill>
                          <a:latin typeface="Arial Nova" panose="020B0504020202020204" pitchFamily="34" charset="0"/>
                          <a:ea typeface="Calibri" pitchFamily="34" charset="-122"/>
                          <a:cs typeface="Calibri" pitchFamily="34" charset="-120"/>
                        </a:rPr>
                        <a:t>6. Integration with Existing Nomura Infrastructure</a:t>
                      </a:r>
                      <a:endParaRPr lang="en-US" sz="950" dirty="0">
                        <a:latin typeface="Arial Nova" panose="020B05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Arial Nova" panose="020B0504020202020204" pitchFamily="34" charset="0"/>
                          <a:ea typeface="Calibri" pitchFamily="34" charset="-122"/>
                          <a:cs typeface="Calibri" pitchFamily="34" charset="-120"/>
                        </a:rPr>
                        <a:t>New platform; integration path to existing infrastructure is required.</a:t>
                      </a:r>
                      <a:endParaRPr lang="en-US" sz="900" dirty="0">
                        <a:latin typeface="Arial Nova" panose="020B05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Arial Nova" panose="020B0504020202020204" pitchFamily="34" charset="0"/>
                          <a:ea typeface="Calibri" pitchFamily="34" charset="-122"/>
                          <a:cs typeface="Calibri" pitchFamily="34" charset="-120"/>
                        </a:rPr>
                        <a:t>Direct fit; extends Nomura's existing, mature ServiceNow footprint.</a:t>
                      </a:r>
                      <a:endParaRPr lang="en-US" sz="900" dirty="0">
                        <a:latin typeface="Arial Nova" panose="020B05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Arial Nova" panose="020B0504020202020204" pitchFamily="34" charset="0"/>
                          <a:ea typeface="Calibri" pitchFamily="34" charset="-122"/>
                          <a:cs typeface="Calibri" pitchFamily="34" charset="-120"/>
                        </a:rPr>
                        <a:t>Integrated only within its own single-domain pilot stack. Team long-embedded in Nomura infra; deep knowledge of Nomura systems, entitlements and networks.</a:t>
                      </a:r>
                      <a:endParaRPr lang="en-US" sz="900" dirty="0">
                        <a:latin typeface="Arial Nova" panose="020B05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B7278"/>
                          </a:solidFill>
                          <a:latin typeface="Arial Nova" panose="020B0504020202020204" pitchFamily="34" charset="0"/>
                          <a:ea typeface="Calibri" pitchFamily="34" charset="-122"/>
                          <a:cs typeface="Calibri" pitchFamily="34" charset="-120"/>
                        </a:rPr>
                        <a:t>Internal assumption</a:t>
                      </a:r>
                      <a:endParaRPr lang="en-US" sz="850" dirty="0">
                        <a:latin typeface="Arial Nova" panose="020B05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560A8"/>
                          </a:solidFill>
                          <a:latin typeface="Arial Nova" panose="020B0504020202020204" pitchFamily="34" charset="0"/>
                          <a:ea typeface="Calibri" pitchFamily="34" charset="-122"/>
                          <a:cs typeface="Calibri" pitchFamily="34" charset="-120"/>
                        </a:rPr>
                        <a:t>7. Who Builds and Runs It</a:t>
                      </a:r>
                      <a:endParaRPr lang="en-US" sz="950" dirty="0">
                        <a:latin typeface="Arial Nova" panose="020B05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Arial Nova" panose="020B0504020202020204" pitchFamily="34" charset="0"/>
                          <a:ea typeface="Calibri" pitchFamily="34" charset="-122"/>
                          <a:cs typeface="Calibri" pitchFamily="34" charset="-120"/>
                        </a:rPr>
                        <a:t>Sustainable delivery and support model.</a:t>
                      </a:r>
                      <a:endParaRPr lang="en-US" sz="900" dirty="0">
                        <a:latin typeface="Arial Nova" panose="020B05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Arial Nova" panose="020B0504020202020204" pitchFamily="34" charset="0"/>
                          <a:ea typeface="Calibri" pitchFamily="34" charset="-122"/>
                          <a:cs typeface="Calibri" pitchFamily="34" charset="-120"/>
                        </a:rPr>
                        <a:t>SNOW IT team + SABRE.</a:t>
                      </a:r>
                      <a:endParaRPr lang="en-US" sz="900" dirty="0">
                        <a:latin typeface="Arial Nova" panose="020B05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Arial Nova" panose="020B0504020202020204" pitchFamily="34" charset="0"/>
                          <a:ea typeface="Calibri" pitchFamily="34" charset="-122"/>
                          <a:cs typeface="Calibri" pitchFamily="34" charset="-120"/>
                        </a:rPr>
                        <a:t>Fully dependent on in-house team.</a:t>
                      </a:r>
                      <a:endParaRPr lang="en-US" sz="900" dirty="0">
                        <a:latin typeface="Arial Nova" panose="020B05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Arial Nova" panose="020B05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560A8"/>
                          </a:solidFill>
                          <a:latin typeface="Arial Nova" panose="020B0504020202020204" pitchFamily="34" charset="0"/>
                          <a:ea typeface="Calibri" pitchFamily="34" charset="-122"/>
                          <a:cs typeface="Calibri" pitchFamily="34" charset="-120"/>
                        </a:rPr>
                        <a:t>8. License Cost *</a:t>
                      </a:r>
                      <a:endParaRPr lang="en-US" sz="950" dirty="0">
                        <a:latin typeface="Arial Nova" panose="020B05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Arial Nova" panose="020B0504020202020204" pitchFamily="34" charset="0"/>
                          <a:ea typeface="Calibri" pitchFamily="34" charset="-122"/>
                          <a:cs typeface="Calibri" pitchFamily="34" charset="-120"/>
                        </a:rPr>
                        <a:t>Predictable cost at scale.</a:t>
                      </a:r>
                      <a:endParaRPr lang="en-US" sz="900" dirty="0">
                        <a:latin typeface="Arial Nova" panose="020B05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Arial Nova" panose="020B0504020202020204" pitchFamily="34" charset="0"/>
                          <a:ea typeface="Calibri" pitchFamily="34" charset="-122"/>
                          <a:cs typeface="Calibri" pitchFamily="34" charset="-120"/>
                        </a:rPr>
                        <a:t>Now Assist firm-wide license from Mar 2026 (proposed). Agent Studio, RaptorDB Pro and AI Control Tower costing to be discussed.</a:t>
                      </a:r>
                      <a:endParaRPr lang="en-US" sz="900" dirty="0">
                        <a:latin typeface="Arial Nova" panose="020B05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Arial Nova" panose="020B0504020202020204" pitchFamily="34" charset="0"/>
                          <a:ea typeface="Calibri" pitchFamily="34" charset="-122"/>
                          <a:cs typeface="Calibri" pitchFamily="34" charset="-120"/>
                        </a:rPr>
                        <a:t>No platform license; cost is engineering capacity.</a:t>
                      </a:r>
                      <a:endParaRPr lang="en-US" sz="900" dirty="0">
                        <a:latin typeface="Arial Nova" panose="020B05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u="sng" dirty="0">
                          <a:solidFill>
                            <a:srgbClr val="6B7278"/>
                          </a:solidFill>
                          <a:latin typeface="Arial Nova" panose="020B0504020202020204" pitchFamily="34" charset="0"/>
                          <a:ea typeface="Calibri" pitchFamily="34" charset="-122"/>
                          <a:cs typeface="Calibri" pitchFamily="34" charset="-120"/>
                          <a:hlinkClick r:id="rId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ServiceNow – Generative AI</a:t>
                      </a:r>
                      <a:endParaRPr lang="en-US" sz="850" dirty="0">
                        <a:latin typeface="Arial Nova" panose="020B050402020202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11480" y="6208776"/>
            <a:ext cx="13322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r>
              <a:rPr lang="en-US" sz="9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6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Assist capability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455</Words>
  <Application>Microsoft Macintosh PowerPoint</Application>
  <PresentationFormat>Widescreen</PresentationFormat>
  <Paragraphs>51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Arial Nova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x59078@365mmt.com</cp:lastModifiedBy>
  <cp:revision>4</cp:revision>
  <dcterms:created xsi:type="dcterms:W3CDTF">2026-09-10T08:49:33Z</dcterms:created>
  <dcterms:modified xsi:type="dcterms:W3CDTF">2026-09-10T09:25:59Z</dcterms:modified>
</cp:coreProperties>
</file>