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457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&amp; Form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2286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OTC Allege: A Day in the Analyst's Life Today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228600" y="667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mail is worked by hand across Outlook and PCM; the clicks add up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424160" y="0"/>
            <a:ext cx="1737360" cy="5029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424160" y="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NOMURA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1024128"/>
            <a:ext cx="3246120" cy="566928"/>
          </a:xfrm>
          <a:prstGeom prst="roundRect">
            <a:avLst>
              <a:gd name="adj" fmla="val 8065"/>
            </a:avLst>
          </a:prstGeom>
          <a:solidFill>
            <a:srgbClr val="F4F4F4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" y="102412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  </a:t>
            </a:r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mails/day into otcmailbox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858768" y="1170432"/>
            <a:ext cx="292608" cy="274320"/>
          </a:xfrm>
          <a:prstGeom prst="chevron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1024128"/>
            <a:ext cx="3246120" cy="566928"/>
          </a:xfrm>
          <a:prstGeom prst="roundRect">
            <a:avLst>
              <a:gd name="adj" fmla="val 8065"/>
            </a:avLst>
          </a:prstGeom>
          <a:solidFill>
            <a:srgbClr val="F4F4F4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61688" y="102412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~1,200  </a:t>
            </a:r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tagged; full PCM search cycle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07808" y="1170432"/>
            <a:ext cx="292608" cy="274320"/>
          </a:xfrm>
          <a:prstGeom prst="chevron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1000" y="1024128"/>
            <a:ext cx="3246120" cy="566928"/>
          </a:xfrm>
          <a:prstGeom prst="roundRect">
            <a:avLst>
              <a:gd name="adj" fmla="val 8065"/>
            </a:avLst>
          </a:prstGeom>
          <a:solidFill>
            <a:srgbClr val="F4F4F4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10728" y="102412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 </a:t>
            </a:r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as allege DK exceptions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" y="170078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· OUTLOOK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1938528"/>
            <a:ext cx="2139696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5875">
            <a:solidFill>
              <a:srgbClr val="BFBF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2048256"/>
            <a:ext cx="310896" cy="310896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4048" y="2048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2075688"/>
            <a:ext cx="237744" cy="237744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384048" y="24140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&amp; tag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384048" y="267004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each mail in otcmailbox, applies the analyst's name as an Outlook tag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84048" y="3218688"/>
            <a:ext cx="868680" cy="219456"/>
          </a:xfrm>
          <a:prstGeom prst="roundRect">
            <a:avLst>
              <a:gd name="adj" fmla="val 37500"/>
            </a:avLst>
          </a:prstGeom>
          <a:solidFill>
            <a:srgbClr val="FBE9EC"/>
          </a:solidFill>
          <a:ln w="9525">
            <a:solidFill>
              <a:srgbClr val="C8102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84048" y="321868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0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clicks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455164" y="2606040"/>
            <a:ext cx="219456" cy="237744"/>
          </a:xfrm>
          <a:prstGeom prst="chevron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697480" y="170078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OUTLOOK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697480" y="1938528"/>
            <a:ext cx="2139696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5875">
            <a:solidFill>
              <a:srgbClr val="BFBFB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807208" y="2048256"/>
            <a:ext cx="310896" cy="310896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807208" y="2048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28" y="2075688"/>
            <a:ext cx="237744" cy="237744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2807208" y="24140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up mail</a:t>
            </a:r>
            <a:endParaRPr lang="en-US" sz="1250" dirty="0"/>
          </a:p>
        </p:txBody>
      </p:sp>
      <p:sp>
        <p:nvSpPr>
          <p:cNvPr id="31" name="Text 27"/>
          <p:cNvSpPr txBox="1"/>
          <p:nvPr/>
        </p:nvSpPr>
        <p:spPr>
          <a:xfrm>
            <a:off x="2807208" y="267004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mailbox by own tag, opens the mail, reads the trade details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2807208" y="3218688"/>
            <a:ext cx="868680" cy="219456"/>
          </a:xfrm>
          <a:prstGeom prst="roundRect">
            <a:avLst>
              <a:gd name="adj" fmla="val 37500"/>
            </a:avLst>
          </a:prstGeom>
          <a:solidFill>
            <a:srgbClr val="FBE9EC"/>
          </a:solidFill>
          <a:ln w="9525">
            <a:solidFill>
              <a:srgbClr val="C8102E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2807208" y="321868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0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clicks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4878324" y="2606040"/>
            <a:ext cx="219456" cy="237744"/>
          </a:xfrm>
          <a:prstGeom prst="chevron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5120640" y="170078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PCM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5120640" y="1938528"/>
            <a:ext cx="2139696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5875">
            <a:solidFill>
              <a:srgbClr val="BFBFBF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5230368" y="2048256"/>
            <a:ext cx="310896" cy="310896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5230368" y="2048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2075688"/>
            <a:ext cx="237744" cy="237744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5230368" y="24140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 PCM</a:t>
            </a:r>
            <a:endParaRPr lang="en-US" sz="1250" dirty="0"/>
          </a:p>
        </p:txBody>
      </p:sp>
      <p:sp>
        <p:nvSpPr>
          <p:cNvPr id="41" name="Text 36"/>
          <p:cNvSpPr txBox="1"/>
          <p:nvPr/>
        </p:nvSpPr>
        <p:spPr>
          <a:xfrm>
            <a:off x="5230368" y="267004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to PCM, keys 4-6 fields by hand, runs the search; retries if needed</a:t>
            </a:r>
            <a:endParaRPr lang="en-US" sz="950" dirty="0"/>
          </a:p>
        </p:txBody>
      </p:sp>
      <p:sp>
        <p:nvSpPr>
          <p:cNvPr id="42" name="Shape 37"/>
          <p:cNvSpPr/>
          <p:nvPr/>
        </p:nvSpPr>
        <p:spPr>
          <a:xfrm>
            <a:off x="5230368" y="3218688"/>
            <a:ext cx="868680" cy="219456"/>
          </a:xfrm>
          <a:prstGeom prst="roundRect">
            <a:avLst>
              <a:gd name="adj" fmla="val 37500"/>
            </a:avLst>
          </a:prstGeom>
          <a:solidFill>
            <a:srgbClr val="FBE9EC"/>
          </a:solidFill>
          <a:ln w="9525">
            <a:solidFill>
              <a:srgbClr val="C8102E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5230368" y="321868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0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8-12 clicks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7301484" y="2606040"/>
            <a:ext cx="219456" cy="237744"/>
          </a:xfrm>
          <a:prstGeom prst="chevron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7543800" y="170078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PCM</a:t>
            </a:r>
            <a:endParaRPr lang="en-US" sz="850" dirty="0"/>
          </a:p>
        </p:txBody>
      </p:sp>
      <p:sp>
        <p:nvSpPr>
          <p:cNvPr id="46" name="Shape 41"/>
          <p:cNvSpPr/>
          <p:nvPr/>
        </p:nvSpPr>
        <p:spPr>
          <a:xfrm>
            <a:off x="7543800" y="1938528"/>
            <a:ext cx="2139696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5875">
            <a:solidFill>
              <a:srgbClr val="BFBFBF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7653528" y="2048256"/>
            <a:ext cx="310896" cy="310896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7653528" y="2048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pic>
        <p:nvPicPr>
          <p:cNvPr id="4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9448" y="2075688"/>
            <a:ext cx="237744" cy="237744"/>
          </a:xfrm>
          <a:prstGeom prst="rect">
            <a:avLst/>
          </a:prstGeom>
        </p:spPr>
      </p:pic>
      <p:sp>
        <p:nvSpPr>
          <p:cNvPr id="50" name="Text 44"/>
          <p:cNvSpPr txBox="1"/>
          <p:nvPr/>
        </p:nvSpPr>
        <p:spPr>
          <a:xfrm>
            <a:off x="7653528" y="24140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as matched</a:t>
            </a:r>
            <a:endParaRPr lang="en-US" sz="1250" dirty="0"/>
          </a:p>
        </p:txBody>
      </p:sp>
      <p:sp>
        <p:nvSpPr>
          <p:cNvPr id="51" name="Text 45"/>
          <p:cNvSpPr txBox="1"/>
          <p:nvPr/>
        </p:nvSpPr>
        <p:spPr>
          <a:xfrm>
            <a:off x="7653528" y="267004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the cashflow status to matched on the found record</a:t>
            </a:r>
            <a:endParaRPr lang="en-US" sz="950" dirty="0"/>
          </a:p>
        </p:txBody>
      </p:sp>
      <p:sp>
        <p:nvSpPr>
          <p:cNvPr id="52" name="Shape 46"/>
          <p:cNvSpPr/>
          <p:nvPr/>
        </p:nvSpPr>
        <p:spPr>
          <a:xfrm>
            <a:off x="7653528" y="3218688"/>
            <a:ext cx="868680" cy="219456"/>
          </a:xfrm>
          <a:prstGeom prst="roundRect">
            <a:avLst>
              <a:gd name="adj" fmla="val 37500"/>
            </a:avLst>
          </a:prstGeom>
          <a:solidFill>
            <a:srgbClr val="FBE9EC"/>
          </a:solidFill>
          <a:ln w="9525">
            <a:solidFill>
              <a:srgbClr val="C8102E"/>
            </a:solidFill>
            <a:prstDash val="solid"/>
          </a:ln>
        </p:spPr>
      </p:sp>
      <p:sp>
        <p:nvSpPr>
          <p:cNvPr id="53" name="Text 47"/>
          <p:cNvSpPr txBox="1"/>
          <p:nvPr/>
        </p:nvSpPr>
        <p:spPr>
          <a:xfrm>
            <a:off x="7653528" y="321868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0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clicks</a:t>
            </a:r>
            <a:endParaRPr lang="en-US" sz="900" dirty="0"/>
          </a:p>
        </p:txBody>
      </p:sp>
      <p:sp>
        <p:nvSpPr>
          <p:cNvPr id="54" name="Shape 48"/>
          <p:cNvSpPr/>
          <p:nvPr/>
        </p:nvSpPr>
        <p:spPr>
          <a:xfrm>
            <a:off x="9724644" y="2606040"/>
            <a:ext cx="219456" cy="237744"/>
          </a:xfrm>
          <a:prstGeom prst="chevron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5" name="Text 49"/>
          <p:cNvSpPr txBox="1"/>
          <p:nvPr/>
        </p:nvSpPr>
        <p:spPr>
          <a:xfrm>
            <a:off x="9966960" y="170078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OUTLOOK</a:t>
            </a:r>
            <a:endParaRPr lang="en-US" sz="850" dirty="0"/>
          </a:p>
        </p:txBody>
      </p:sp>
      <p:sp>
        <p:nvSpPr>
          <p:cNvPr id="56" name="Shape 50"/>
          <p:cNvSpPr/>
          <p:nvPr/>
        </p:nvSpPr>
        <p:spPr>
          <a:xfrm>
            <a:off x="9966960" y="1938528"/>
            <a:ext cx="2139696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5875">
            <a:solidFill>
              <a:srgbClr val="BFBFBF"/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10076688" y="2048256"/>
            <a:ext cx="310896" cy="310896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10076688" y="2048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pic>
        <p:nvPicPr>
          <p:cNvPr id="5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22608" y="2075688"/>
            <a:ext cx="237744" cy="237744"/>
          </a:xfrm>
          <a:prstGeom prst="rect">
            <a:avLst/>
          </a:prstGeom>
        </p:spPr>
      </p:pic>
      <p:sp>
        <p:nvSpPr>
          <p:cNvPr id="60" name="Text 53"/>
          <p:cNvSpPr txBox="1"/>
          <p:nvPr/>
        </p:nvSpPr>
        <p:spPr>
          <a:xfrm>
            <a:off x="10076688" y="24140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to counterparty</a:t>
            </a:r>
            <a:endParaRPr lang="en-US" sz="1250" dirty="0"/>
          </a:p>
        </p:txBody>
      </p:sp>
      <p:sp>
        <p:nvSpPr>
          <p:cNvPr id="61" name="Text 54"/>
          <p:cNvSpPr txBox="1"/>
          <p:nvPr/>
        </p:nvSpPr>
        <p:spPr>
          <a:xfrm>
            <a:off x="10076688" y="267004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back to Outlook, drafts the reply and sends it</a:t>
            </a:r>
            <a:endParaRPr lang="en-US" sz="950" dirty="0"/>
          </a:p>
        </p:txBody>
      </p:sp>
      <p:sp>
        <p:nvSpPr>
          <p:cNvPr id="62" name="Shape 55"/>
          <p:cNvSpPr/>
          <p:nvPr/>
        </p:nvSpPr>
        <p:spPr>
          <a:xfrm>
            <a:off x="10076688" y="3218688"/>
            <a:ext cx="868680" cy="219456"/>
          </a:xfrm>
          <a:prstGeom prst="roundRect">
            <a:avLst>
              <a:gd name="adj" fmla="val 37500"/>
            </a:avLst>
          </a:prstGeom>
          <a:solidFill>
            <a:srgbClr val="FBE9EC"/>
          </a:solidFill>
          <a:ln w="9525">
            <a:solidFill>
              <a:srgbClr val="C8102E"/>
            </a:solidFill>
            <a:prstDash val="solid"/>
          </a:ln>
        </p:spPr>
      </p:sp>
      <p:sp>
        <p:nvSpPr>
          <p:cNvPr id="63" name="Text 56"/>
          <p:cNvSpPr txBox="1"/>
          <p:nvPr/>
        </p:nvSpPr>
        <p:spPr>
          <a:xfrm>
            <a:off x="10076688" y="321868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0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4-5 clicks</a:t>
            </a:r>
            <a:endParaRPr lang="en-US" sz="900" dirty="0"/>
          </a:p>
        </p:txBody>
      </p:sp>
      <p:sp>
        <p:nvSpPr>
          <p:cNvPr id="64" name="Shape 57"/>
          <p:cNvSpPr/>
          <p:nvPr/>
        </p:nvSpPr>
        <p:spPr>
          <a:xfrm>
            <a:off x="6190488" y="3511296"/>
            <a:ext cx="0" cy="310896"/>
          </a:xfrm>
          <a:prstGeom prst="line">
            <a:avLst/>
          </a:prstGeom>
          <a:noFill/>
          <a:ln w="19050">
            <a:solidFill>
              <a:srgbClr val="B97A0F"/>
            </a:solidFill>
            <a:prstDash val="dash"/>
            <a:tailEnd type="triangle"/>
          </a:ln>
        </p:spPr>
      </p:sp>
      <p:sp>
        <p:nvSpPr>
          <p:cNvPr id="65" name="Shape 58"/>
          <p:cNvSpPr/>
          <p:nvPr/>
        </p:nvSpPr>
        <p:spPr>
          <a:xfrm>
            <a:off x="274320" y="3822192"/>
            <a:ext cx="11640312" cy="530352"/>
          </a:xfrm>
          <a:prstGeom prst="roundRect">
            <a:avLst>
              <a:gd name="adj" fmla="val 8621"/>
            </a:avLst>
          </a:prstGeom>
          <a:solidFill>
            <a:srgbClr val="FDF3E3"/>
          </a:solidFill>
          <a:ln w="12700">
            <a:solidFill>
              <a:srgbClr val="B97A0F"/>
            </a:solidFill>
            <a:prstDash val="solid"/>
          </a:ln>
        </p:spPr>
      </p:sp>
      <p:pic>
        <p:nvPicPr>
          <p:cNvPr id="6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977640"/>
            <a:ext cx="219456" cy="219456"/>
          </a:xfrm>
          <a:prstGeom prst="rect">
            <a:avLst/>
          </a:prstGeom>
        </p:spPr>
      </p:pic>
      <p:sp>
        <p:nvSpPr>
          <p:cNvPr id="67" name="Text 59"/>
          <p:cNvSpPr txBox="1"/>
          <p:nvPr/>
        </p:nvSpPr>
        <p:spPr>
          <a:xfrm>
            <a:off x="731520" y="382219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4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 (~10/day, allege DK):  </a:t>
            </a:r>
            <a:pPr indent="0" marL="0">
              <a:buNone/>
            </a:pPr>
            <a:r>
              <a:rPr lang="en-US" sz="1100" dirty="0">
                <a:solidFill>
                  <a:srgbClr val="6E4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to internal team or counterparty via email and update the status in PCM; adds 10-15 clicks plus investigation time per case</a:t>
            </a:r>
            <a:endParaRPr lang="en-US" sz="1100" dirty="0"/>
          </a:p>
        </p:txBody>
      </p:sp>
      <p:sp>
        <p:nvSpPr>
          <p:cNvPr id="68" name="Shape 60"/>
          <p:cNvSpPr/>
          <p:nvPr/>
        </p:nvSpPr>
        <p:spPr>
          <a:xfrm>
            <a:off x="274320" y="4645152"/>
            <a:ext cx="6720840" cy="1883664"/>
          </a:xfrm>
          <a:prstGeom prst="roundRect">
            <a:avLst>
              <a:gd name="adj" fmla="val 2913"/>
            </a:avLst>
          </a:prstGeom>
          <a:solidFill>
            <a:srgbClr val="F4F4F4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69" name="Text 61"/>
          <p:cNvSpPr txBox="1"/>
          <p:nvPr/>
        </p:nvSpPr>
        <p:spPr>
          <a:xfrm>
            <a:off x="457200" y="4754880"/>
            <a:ext cx="6355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IN CLICKS</a:t>
            </a:r>
            <a:endParaRPr lang="en-US" sz="1100" dirty="0"/>
          </a:p>
        </p:txBody>
      </p:sp>
      <p:sp>
        <p:nvSpPr>
          <p:cNvPr id="70" name="Shape 62"/>
          <p:cNvSpPr/>
          <p:nvPr/>
        </p:nvSpPr>
        <p:spPr>
          <a:xfrm>
            <a:off x="457200" y="5084064"/>
            <a:ext cx="2057400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1" name="Text 63"/>
          <p:cNvSpPr txBox="1"/>
          <p:nvPr/>
        </p:nvSpPr>
        <p:spPr>
          <a:xfrm>
            <a:off x="548640" y="519379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</a:t>
            </a:r>
            <a:endParaRPr lang="en-US" sz="2400" dirty="0"/>
          </a:p>
        </p:txBody>
      </p:sp>
      <p:sp>
        <p:nvSpPr>
          <p:cNvPr id="72" name="Text 64"/>
          <p:cNvSpPr txBox="1"/>
          <p:nvPr/>
        </p:nvSpPr>
        <p:spPr>
          <a:xfrm>
            <a:off x="548640" y="568756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to work one mail end to end</a:t>
            </a:r>
            <a:endParaRPr lang="en-US" sz="1000" dirty="0"/>
          </a:p>
        </p:txBody>
      </p:sp>
      <p:sp>
        <p:nvSpPr>
          <p:cNvPr id="73" name="Shape 65"/>
          <p:cNvSpPr/>
          <p:nvPr/>
        </p:nvSpPr>
        <p:spPr>
          <a:xfrm>
            <a:off x="2651760" y="5084064"/>
            <a:ext cx="2057400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4" name="Text 66"/>
          <p:cNvSpPr txBox="1"/>
          <p:nvPr/>
        </p:nvSpPr>
        <p:spPr>
          <a:xfrm>
            <a:off x="2743200" y="519379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24,000-30,000</a:t>
            </a:r>
            <a:endParaRPr lang="en-US" sz="2000" dirty="0"/>
          </a:p>
        </p:txBody>
      </p:sp>
      <p:sp>
        <p:nvSpPr>
          <p:cNvPr id="75" name="Text 67"/>
          <p:cNvSpPr txBox="1"/>
          <p:nvPr/>
        </p:nvSpPr>
        <p:spPr>
          <a:xfrm>
            <a:off x="2743200" y="568756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clicks/day across ~1,200 mails</a:t>
            </a:r>
            <a:endParaRPr lang="en-US" sz="1000" dirty="0"/>
          </a:p>
        </p:txBody>
      </p:sp>
      <p:sp>
        <p:nvSpPr>
          <p:cNvPr id="76" name="Shape 68"/>
          <p:cNvSpPr/>
          <p:nvPr/>
        </p:nvSpPr>
        <p:spPr>
          <a:xfrm>
            <a:off x="4846320" y="5084064"/>
            <a:ext cx="2057400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7" name="Text 69"/>
          <p:cNvSpPr txBox="1"/>
          <p:nvPr/>
        </p:nvSpPr>
        <p:spPr>
          <a:xfrm>
            <a:off x="4937760" y="519379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~2,400</a:t>
            </a:r>
            <a:endParaRPr lang="en-US" sz="2400" dirty="0"/>
          </a:p>
        </p:txBody>
      </p:sp>
      <p:sp>
        <p:nvSpPr>
          <p:cNvPr id="78" name="Text 70"/>
          <p:cNvSpPr txBox="1"/>
          <p:nvPr/>
        </p:nvSpPr>
        <p:spPr>
          <a:xfrm>
            <a:off x="4937760" y="568756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switches/day (Outlook &gt; PCM &gt; Outlook)</a:t>
            </a:r>
            <a:endParaRPr lang="en-US" sz="1000" dirty="0"/>
          </a:p>
        </p:txBody>
      </p:sp>
      <p:sp>
        <p:nvSpPr>
          <p:cNvPr id="79" name="Shape 71"/>
          <p:cNvSpPr/>
          <p:nvPr/>
        </p:nvSpPr>
        <p:spPr>
          <a:xfrm>
            <a:off x="7178040" y="4645152"/>
            <a:ext cx="4736592" cy="1883664"/>
          </a:xfrm>
          <a:prstGeom prst="roundRect">
            <a:avLst>
              <a:gd name="adj" fmla="val 2913"/>
            </a:avLst>
          </a:prstGeom>
          <a:solidFill>
            <a:srgbClr val="FBE9EC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0" name="Text 72"/>
          <p:cNvSpPr txBox="1"/>
          <p:nvPr/>
        </p:nvSpPr>
        <p:spPr>
          <a:xfrm>
            <a:off x="7360920" y="4754880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C0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RISK</a:t>
            </a:r>
            <a:endParaRPr lang="en-US" sz="1100" dirty="0"/>
          </a:p>
        </p:txBody>
      </p:sp>
      <p:pic>
        <p:nvPicPr>
          <p:cNvPr id="8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9208" y="5093208"/>
            <a:ext cx="201168" cy="201168"/>
          </a:xfrm>
          <a:prstGeom prst="rect">
            <a:avLst/>
          </a:prstGeom>
        </p:spPr>
      </p:pic>
      <p:sp>
        <p:nvSpPr>
          <p:cNvPr id="82" name="Text 73"/>
          <p:cNvSpPr txBox="1"/>
          <p:nvPr/>
        </p:nvSpPr>
        <p:spPr>
          <a:xfrm>
            <a:off x="7680960" y="5065776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0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finger:  </a:t>
            </a:r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search field is rekeyed by hand; one wrong digit misdirects a cashflow</a:t>
            </a:r>
            <a:endParaRPr lang="en-US" sz="1000" dirty="0"/>
          </a:p>
        </p:txBody>
      </p:sp>
      <p:pic>
        <p:nvPicPr>
          <p:cNvPr id="8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79208" y="5568696"/>
            <a:ext cx="201168" cy="201168"/>
          </a:xfrm>
          <a:prstGeom prst="rect">
            <a:avLst/>
          </a:prstGeom>
        </p:spPr>
      </p:pic>
      <p:sp>
        <p:nvSpPr>
          <p:cNvPr id="84" name="Text 74"/>
          <p:cNvSpPr txBox="1"/>
          <p:nvPr/>
        </p:nvSpPr>
        <p:spPr>
          <a:xfrm>
            <a:off x="7680960" y="5541264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0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Fatigue:  </a:t>
            </a:r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triage and search loop repeats ~1,200 times a day and erodes attention</a:t>
            </a:r>
            <a:endParaRPr lang="en-US" sz="1000" dirty="0"/>
          </a:p>
        </p:txBody>
      </p:sp>
      <p:pic>
        <p:nvPicPr>
          <p:cNvPr id="8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9208" y="6044184"/>
            <a:ext cx="201168" cy="201168"/>
          </a:xfrm>
          <a:prstGeom prst="rect">
            <a:avLst/>
          </a:prstGeom>
        </p:spPr>
      </p:pic>
      <p:sp>
        <p:nvSpPr>
          <p:cNvPr id="86" name="Text 75"/>
          <p:cNvSpPr txBox="1"/>
          <p:nvPr/>
        </p:nvSpPr>
        <p:spPr>
          <a:xfrm>
            <a:off x="7680960" y="6016752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C0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switching:  </a:t>
            </a:r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app switches per mail fragment focus and invite missed steps</a:t>
            </a:r>
            <a:endParaRPr lang="en-US" sz="1000" dirty="0"/>
          </a:p>
        </p:txBody>
      </p:sp>
      <p:sp>
        <p:nvSpPr>
          <p:cNvPr id="87" name="Shape 76"/>
          <p:cNvSpPr/>
          <p:nvPr/>
        </p:nvSpPr>
        <p:spPr>
          <a:xfrm flipH="1">
            <a:off x="11750040" y="6446520"/>
            <a:ext cx="411480" cy="411480"/>
          </a:xfrm>
          <a:prstGeom prst="rtTriangl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OTC Allege Pilot - Current State Analyst Day</dc:title>
  <dc:subject>PptxGenJS Presentation</dc:subject>
  <dc:creator>Name &amp; Form Programme</dc:creator>
  <cp:lastModifiedBy>Name &amp; Form Programme</cp:lastModifiedBy>
  <cp:revision>1</cp:revision>
  <dcterms:created xsi:type="dcterms:W3CDTF">2026-09-02T12:29:32Z</dcterms:created>
  <dcterms:modified xsi:type="dcterms:W3CDTF">2026-09-02T12:29:32Z</dcterms:modified>
</cp:coreProperties>
</file>