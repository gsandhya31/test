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822960" y="1874520"/>
            <a:ext cx="128016" cy="1737360"/>
          </a:xfrm>
          <a:prstGeom prst="rect">
            <a:avLst/>
          </a:prstGeom>
          <a:solidFill>
            <a:srgbClr val="990011"/>
          </a:solidFill>
          <a:ln/>
        </p:spPr>
      </p:sp>
      <p:sp>
        <p:nvSpPr>
          <p:cNvPr id="3" name="Text 1"/>
          <p:cNvSpPr txBox="1"/>
          <p:nvPr/>
        </p:nvSpPr>
        <p:spPr>
          <a:xfrm>
            <a:off x="1143000" y="182880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AI Platform Pilot Evaluation</a:t>
            </a:r>
            <a:endParaRPr lang="en-US" sz="4400" dirty="0"/>
          </a:p>
        </p:txBody>
      </p:sp>
      <p:sp>
        <p:nvSpPr>
          <p:cNvPr id="4" name="Text 2"/>
          <p:cNvSpPr txBox="1"/>
          <p:nvPr/>
        </p:nvSpPr>
        <p:spPr>
          <a:xfrm>
            <a:off x="1143000" y="2743200"/>
            <a:ext cx="10058400" cy="548640"/>
          </a:xfrm>
          <a:prstGeom prst="rect">
            <a:avLst/>
          </a:prstGeom>
          <a:noFill/>
          <a:ln/>
        </p:spPr>
        <p:txBody>
          <a:bodyPr wrap="square" lIns="0" tIns="0" rIns="0" bIns="0" rtlCol="0" anchor="ctr"/>
          <a:lstStyle/>
          <a:p>
            <a:pPr indent="0" marL="0">
              <a:buNone/>
            </a:pPr>
            <a:r>
              <a:rPr lang="en-US" sz="2200" dirty="0">
                <a:solidFill>
                  <a:srgbClr val="CFCFCF"/>
                </a:solidFill>
                <a:latin typeface="Calibri" pitchFamily="34" charset="0"/>
                <a:ea typeface="Calibri" pitchFamily="34" charset="-122"/>
                <a:cs typeface="Calibri" pitchFamily="34" charset="-120"/>
              </a:rPr>
              <a:t>ServiceNow Track vs Internal Tools Track</a:t>
            </a:r>
            <a:endParaRPr lang="en-US" sz="2200" dirty="0"/>
          </a:p>
        </p:txBody>
      </p:sp>
      <p:sp>
        <p:nvSpPr>
          <p:cNvPr id="5" name="Text 3"/>
          <p:cNvSpPr txBox="1"/>
          <p:nvPr/>
        </p:nvSpPr>
        <p:spPr>
          <a:xfrm>
            <a:off x="1143000" y="3337560"/>
            <a:ext cx="10058400" cy="365760"/>
          </a:xfrm>
          <a:prstGeom prst="rect">
            <a:avLst/>
          </a:prstGeom>
          <a:noFill/>
          <a:ln/>
        </p:spPr>
        <p:txBody>
          <a:bodyPr wrap="square" lIns="0" tIns="0" rIns="0" bIns="0" rtlCol="0" anchor="ctr"/>
          <a:lstStyle/>
          <a:p>
            <a:pPr indent="0" marL="0">
              <a:buNone/>
            </a:pPr>
            <a:r>
              <a:rPr lang="en-US" sz="1300" dirty="0">
                <a:solidFill>
                  <a:srgbClr val="9AA0A4"/>
                </a:solidFill>
                <a:latin typeface="Calibri" pitchFamily="34" charset="0"/>
                <a:ea typeface="Calibri" pitchFamily="34" charset="-122"/>
                <a:cs typeface="Calibri" pitchFamily="34" charset="-120"/>
              </a:rPr>
              <a:t>AI-assisted non-STP processing  |  Wholesale Operations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11155680" cy="594360"/>
          </a:xfrm>
          <a:prstGeom prst="rect">
            <a:avLst/>
          </a:prstGeom>
          <a:noFill/>
          <a:ln/>
        </p:spPr>
        <p:txBody>
          <a:bodyPr wrap="square" lIns="0" tIns="0" rIns="0" bIns="0" rtlCol="0" anchor="ctr"/>
          <a:lstStyle/>
          <a:p>
            <a:pPr indent="0" marL="0">
              <a:buNone/>
            </a:pPr>
            <a:r>
              <a:rPr lang="en-US" sz="2800" b="1" dirty="0">
                <a:solidFill>
                  <a:srgbClr val="212121"/>
                </a:solidFill>
                <a:latin typeface="Cambria" pitchFamily="34" charset="0"/>
                <a:ea typeface="Cambria" pitchFamily="34" charset="-122"/>
                <a:cs typeface="Cambria" pitchFamily="34" charset="-120"/>
              </a:rPr>
              <a:t>Two Parallel Pilots, One Target Solution</a:t>
            </a:r>
            <a:endParaRPr lang="en-US" sz="2800" dirty="0"/>
          </a:p>
        </p:txBody>
      </p:sp>
      <p:sp>
        <p:nvSpPr>
          <p:cNvPr id="3" name="Shape 1"/>
          <p:cNvSpPr/>
          <p:nvPr/>
        </p:nvSpPr>
        <p:spPr>
          <a:xfrm>
            <a:off x="502920" y="1371600"/>
            <a:ext cx="1700784" cy="566928"/>
          </a:xfrm>
          <a:prstGeom prst="roundRect">
            <a:avLst>
              <a:gd name="adj" fmla="val 12903"/>
            </a:avLst>
          </a:prstGeom>
          <a:solidFill>
            <a:srgbClr val="F2F2F2"/>
          </a:solidFill>
          <a:ln w="9525">
            <a:solidFill>
              <a:srgbClr val="D9D9D9"/>
            </a:solidFill>
            <a:prstDash val="solid"/>
          </a:ln>
        </p:spPr>
      </p:sp>
      <p:sp>
        <p:nvSpPr>
          <p:cNvPr id="4" name="Text 2"/>
          <p:cNvSpPr txBox="1"/>
          <p:nvPr/>
        </p:nvSpPr>
        <p:spPr>
          <a:xfrm>
            <a:off x="502920" y="1371600"/>
            <a:ext cx="1700784" cy="566928"/>
          </a:xfrm>
          <a:prstGeom prst="rect">
            <a:avLst/>
          </a:prstGeom>
          <a:noFill/>
          <a:ln/>
        </p:spPr>
        <p:txBody>
          <a:bodyPr wrap="square" lIns="254" tIns="254" rIns="254" bIns="254"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Email ingestion</a:t>
            </a:r>
            <a:endParaRPr lang="en-US" sz="1050" dirty="0"/>
          </a:p>
        </p:txBody>
      </p:sp>
      <p:sp>
        <p:nvSpPr>
          <p:cNvPr id="5" name="Text 3"/>
          <p:cNvSpPr txBox="1"/>
          <p:nvPr/>
        </p:nvSpPr>
        <p:spPr>
          <a:xfrm>
            <a:off x="2185416" y="1371600"/>
            <a:ext cx="256032" cy="566928"/>
          </a:xfrm>
          <a:prstGeom prst="rect">
            <a:avLst/>
          </a:prstGeom>
          <a:noFill/>
          <a:ln/>
        </p:spPr>
        <p:txBody>
          <a:bodyPr wrap="square" lIns="0" tIns="0" rIns="0" bIns="0" rtlCol="0" anchor="ctr"/>
          <a:lstStyle/>
          <a:p>
            <a:pPr algn="ctr" indent="0" marL="0">
              <a:buNone/>
            </a:pPr>
            <a:r>
              <a:rPr lang="en-US" sz="1200" dirty="0">
                <a:solidFill>
                  <a:srgbClr val="6B7278"/>
                </a:solidFill>
                <a:latin typeface="Calibri" pitchFamily="34" charset="0"/>
                <a:ea typeface="Calibri" pitchFamily="34" charset="-122"/>
                <a:cs typeface="Calibri" pitchFamily="34" charset="-120"/>
              </a:rPr>
              <a:t>▸</a:t>
            </a:r>
            <a:endParaRPr lang="en-US" sz="1200" dirty="0"/>
          </a:p>
        </p:txBody>
      </p:sp>
      <p:sp>
        <p:nvSpPr>
          <p:cNvPr id="6" name="Shape 4"/>
          <p:cNvSpPr/>
          <p:nvPr/>
        </p:nvSpPr>
        <p:spPr>
          <a:xfrm>
            <a:off x="2404872" y="1371600"/>
            <a:ext cx="1700784" cy="566928"/>
          </a:xfrm>
          <a:prstGeom prst="roundRect">
            <a:avLst>
              <a:gd name="adj" fmla="val 12903"/>
            </a:avLst>
          </a:prstGeom>
          <a:solidFill>
            <a:srgbClr val="F2F2F2"/>
          </a:solidFill>
          <a:ln w="9525">
            <a:solidFill>
              <a:srgbClr val="D9D9D9"/>
            </a:solidFill>
            <a:prstDash val="solid"/>
          </a:ln>
        </p:spPr>
      </p:sp>
      <p:sp>
        <p:nvSpPr>
          <p:cNvPr id="7" name="Text 5"/>
          <p:cNvSpPr txBox="1"/>
          <p:nvPr/>
        </p:nvSpPr>
        <p:spPr>
          <a:xfrm>
            <a:off x="2404872" y="1371600"/>
            <a:ext cx="1700784" cy="566928"/>
          </a:xfrm>
          <a:prstGeom prst="rect">
            <a:avLst/>
          </a:prstGeom>
          <a:noFill/>
          <a:ln/>
        </p:spPr>
        <p:txBody>
          <a:bodyPr wrap="square" lIns="254" tIns="254" rIns="254" bIns="254"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Classification</a:t>
            </a:r>
            <a:endParaRPr lang="en-US" sz="1050" dirty="0"/>
          </a:p>
        </p:txBody>
      </p:sp>
      <p:sp>
        <p:nvSpPr>
          <p:cNvPr id="8" name="Text 6"/>
          <p:cNvSpPr txBox="1"/>
          <p:nvPr/>
        </p:nvSpPr>
        <p:spPr>
          <a:xfrm>
            <a:off x="4087368" y="1371600"/>
            <a:ext cx="256032" cy="566928"/>
          </a:xfrm>
          <a:prstGeom prst="rect">
            <a:avLst/>
          </a:prstGeom>
          <a:noFill/>
          <a:ln/>
        </p:spPr>
        <p:txBody>
          <a:bodyPr wrap="square" lIns="0" tIns="0" rIns="0" bIns="0" rtlCol="0" anchor="ctr"/>
          <a:lstStyle/>
          <a:p>
            <a:pPr algn="ctr" indent="0" marL="0">
              <a:buNone/>
            </a:pPr>
            <a:r>
              <a:rPr lang="en-US" sz="1200" dirty="0">
                <a:solidFill>
                  <a:srgbClr val="6B7278"/>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306824" y="1371600"/>
            <a:ext cx="1700784" cy="566928"/>
          </a:xfrm>
          <a:prstGeom prst="roundRect">
            <a:avLst>
              <a:gd name="adj" fmla="val 12903"/>
            </a:avLst>
          </a:prstGeom>
          <a:solidFill>
            <a:srgbClr val="F2F2F2"/>
          </a:solidFill>
          <a:ln w="9525">
            <a:solidFill>
              <a:srgbClr val="D9D9D9"/>
            </a:solidFill>
            <a:prstDash val="solid"/>
          </a:ln>
        </p:spPr>
      </p:sp>
      <p:sp>
        <p:nvSpPr>
          <p:cNvPr id="10" name="Text 8"/>
          <p:cNvSpPr txBox="1"/>
          <p:nvPr/>
        </p:nvSpPr>
        <p:spPr>
          <a:xfrm>
            <a:off x="4306824" y="1371600"/>
            <a:ext cx="1700784" cy="566928"/>
          </a:xfrm>
          <a:prstGeom prst="rect">
            <a:avLst/>
          </a:prstGeom>
          <a:noFill/>
          <a:ln/>
        </p:spPr>
        <p:txBody>
          <a:bodyPr wrap="square" lIns="254" tIns="254" rIns="254" bIns="254"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Extraction</a:t>
            </a:r>
            <a:endParaRPr lang="en-US" sz="1050" dirty="0"/>
          </a:p>
        </p:txBody>
      </p:sp>
      <p:sp>
        <p:nvSpPr>
          <p:cNvPr id="11" name="Text 9"/>
          <p:cNvSpPr txBox="1"/>
          <p:nvPr/>
        </p:nvSpPr>
        <p:spPr>
          <a:xfrm>
            <a:off x="5989320" y="1371600"/>
            <a:ext cx="256032" cy="566928"/>
          </a:xfrm>
          <a:prstGeom prst="rect">
            <a:avLst/>
          </a:prstGeom>
          <a:noFill/>
          <a:ln/>
        </p:spPr>
        <p:txBody>
          <a:bodyPr wrap="square" lIns="0" tIns="0" rIns="0" bIns="0" rtlCol="0" anchor="ctr"/>
          <a:lstStyle/>
          <a:p>
            <a:pPr algn="ctr" indent="0" marL="0">
              <a:buNone/>
            </a:pPr>
            <a:r>
              <a:rPr lang="en-US" sz="1200" dirty="0">
                <a:solidFill>
                  <a:srgbClr val="6B7278"/>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6208776" y="1371600"/>
            <a:ext cx="1700784" cy="566928"/>
          </a:xfrm>
          <a:prstGeom prst="roundRect">
            <a:avLst>
              <a:gd name="adj" fmla="val 12903"/>
            </a:avLst>
          </a:prstGeom>
          <a:solidFill>
            <a:srgbClr val="F2F2F2"/>
          </a:solidFill>
          <a:ln w="9525">
            <a:solidFill>
              <a:srgbClr val="D9D9D9"/>
            </a:solidFill>
            <a:prstDash val="solid"/>
          </a:ln>
        </p:spPr>
      </p:sp>
      <p:sp>
        <p:nvSpPr>
          <p:cNvPr id="13" name="Text 11"/>
          <p:cNvSpPr txBox="1"/>
          <p:nvPr/>
        </p:nvSpPr>
        <p:spPr>
          <a:xfrm>
            <a:off x="6208776" y="1371600"/>
            <a:ext cx="1700784" cy="566928"/>
          </a:xfrm>
          <a:prstGeom prst="rect">
            <a:avLst/>
          </a:prstGeom>
          <a:noFill/>
          <a:ln/>
        </p:spPr>
        <p:txBody>
          <a:bodyPr wrap="square" lIns="254" tIns="254" rIns="254" bIns="254"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Validation vs cashflow</a:t>
            </a:r>
            <a:endParaRPr lang="en-US" sz="1050" dirty="0"/>
          </a:p>
        </p:txBody>
      </p:sp>
      <p:sp>
        <p:nvSpPr>
          <p:cNvPr id="14" name="Text 12"/>
          <p:cNvSpPr txBox="1"/>
          <p:nvPr/>
        </p:nvSpPr>
        <p:spPr>
          <a:xfrm>
            <a:off x="7891272" y="1371600"/>
            <a:ext cx="256032" cy="566928"/>
          </a:xfrm>
          <a:prstGeom prst="rect">
            <a:avLst/>
          </a:prstGeom>
          <a:noFill/>
          <a:ln/>
        </p:spPr>
        <p:txBody>
          <a:bodyPr wrap="square" lIns="0" tIns="0" rIns="0" bIns="0" rtlCol="0" anchor="ctr"/>
          <a:lstStyle/>
          <a:p>
            <a:pPr algn="ctr" indent="0" marL="0">
              <a:buNone/>
            </a:pPr>
            <a:r>
              <a:rPr lang="en-US" sz="1200" dirty="0">
                <a:solidFill>
                  <a:srgbClr val="6B7278"/>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8110728" y="1371600"/>
            <a:ext cx="1700784" cy="566928"/>
          </a:xfrm>
          <a:prstGeom prst="roundRect">
            <a:avLst>
              <a:gd name="adj" fmla="val 12903"/>
            </a:avLst>
          </a:prstGeom>
          <a:solidFill>
            <a:srgbClr val="F2F2F2"/>
          </a:solidFill>
          <a:ln w="9525">
            <a:solidFill>
              <a:srgbClr val="D9D9D9"/>
            </a:solidFill>
            <a:prstDash val="solid"/>
          </a:ln>
        </p:spPr>
      </p:sp>
      <p:sp>
        <p:nvSpPr>
          <p:cNvPr id="16" name="Text 14"/>
          <p:cNvSpPr txBox="1"/>
          <p:nvPr/>
        </p:nvSpPr>
        <p:spPr>
          <a:xfrm>
            <a:off x="8110728" y="1371600"/>
            <a:ext cx="1700784" cy="566928"/>
          </a:xfrm>
          <a:prstGeom prst="rect">
            <a:avLst/>
          </a:prstGeom>
          <a:noFill/>
          <a:ln/>
        </p:spPr>
        <p:txBody>
          <a:bodyPr wrap="square" lIns="254" tIns="254" rIns="254" bIns="254"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PCM write-back + email draft</a:t>
            </a:r>
            <a:endParaRPr lang="en-US" sz="1050" dirty="0"/>
          </a:p>
        </p:txBody>
      </p:sp>
      <p:sp>
        <p:nvSpPr>
          <p:cNvPr id="17" name="Text 15"/>
          <p:cNvSpPr txBox="1"/>
          <p:nvPr/>
        </p:nvSpPr>
        <p:spPr>
          <a:xfrm>
            <a:off x="9793224" y="1371600"/>
            <a:ext cx="256032" cy="566928"/>
          </a:xfrm>
          <a:prstGeom prst="rect">
            <a:avLst/>
          </a:prstGeom>
          <a:noFill/>
          <a:ln/>
        </p:spPr>
        <p:txBody>
          <a:bodyPr wrap="square" lIns="0" tIns="0" rIns="0" bIns="0" rtlCol="0" anchor="ctr"/>
          <a:lstStyle/>
          <a:p>
            <a:pPr algn="ctr" indent="0" marL="0">
              <a:buNone/>
            </a:pPr>
            <a:r>
              <a:rPr lang="en-US" sz="1200" dirty="0">
                <a:solidFill>
                  <a:srgbClr val="6B7278"/>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10012680" y="1371600"/>
            <a:ext cx="1700784" cy="566928"/>
          </a:xfrm>
          <a:prstGeom prst="roundRect">
            <a:avLst>
              <a:gd name="adj" fmla="val 12903"/>
            </a:avLst>
          </a:prstGeom>
          <a:solidFill>
            <a:srgbClr val="F4E6E8"/>
          </a:solidFill>
          <a:ln w="9525">
            <a:solidFill>
              <a:srgbClr val="D9D9D9"/>
            </a:solidFill>
            <a:prstDash val="solid"/>
          </a:ln>
        </p:spPr>
      </p:sp>
      <p:sp>
        <p:nvSpPr>
          <p:cNvPr id="19" name="Text 17"/>
          <p:cNvSpPr txBox="1"/>
          <p:nvPr/>
        </p:nvSpPr>
        <p:spPr>
          <a:xfrm>
            <a:off x="10012680" y="1371600"/>
            <a:ext cx="1700784" cy="566928"/>
          </a:xfrm>
          <a:prstGeom prst="rect">
            <a:avLst/>
          </a:prstGeom>
          <a:noFill/>
          <a:ln/>
        </p:spPr>
        <p:txBody>
          <a:bodyPr wrap="square" lIns="254" tIns="254" rIns="254" bIns="254" rtlCol="0" anchor="ctr"/>
          <a:lstStyle/>
          <a:p>
            <a:pPr algn="ctr" indent="0" marL="0">
              <a:buNone/>
            </a:pPr>
            <a:r>
              <a:rPr lang="en-US" sz="1050" b="1" dirty="0">
                <a:solidFill>
                  <a:srgbClr val="212121"/>
                </a:solidFill>
                <a:latin typeface="Calibri" pitchFamily="34" charset="0"/>
                <a:ea typeface="Calibri" pitchFamily="34" charset="-122"/>
                <a:cs typeface="Calibri" pitchFamily="34" charset="-120"/>
              </a:rPr>
              <a:t>HITL review</a:t>
            </a:r>
            <a:endParaRPr lang="en-US" sz="1050" dirty="0"/>
          </a:p>
        </p:txBody>
      </p:sp>
      <p:sp>
        <p:nvSpPr>
          <p:cNvPr id="20" name="Shape 18"/>
          <p:cNvSpPr/>
          <p:nvPr/>
        </p:nvSpPr>
        <p:spPr>
          <a:xfrm>
            <a:off x="502920" y="2240280"/>
            <a:ext cx="5440680" cy="3886200"/>
          </a:xfrm>
          <a:prstGeom prst="roundRect">
            <a:avLst>
              <a:gd name="adj" fmla="val 2118"/>
            </a:avLst>
          </a:prstGeom>
          <a:solidFill>
            <a:srgbClr val="FFFFFF"/>
          </a:solidFill>
          <a:ln w="12700">
            <a:solidFill>
              <a:srgbClr val="D9D9D9"/>
            </a:solidFill>
            <a:prstDash val="solid"/>
          </a:ln>
          <a:effectLst>
            <a:outerShdw sx="100000" sy="100000" kx="0" ky="0" algn="bl" rotWithShape="0" blurRad="76200" dist="25400" dir="5400000">
              <a:srgbClr val="000000">
                <a:alpha val="18000"/>
              </a:srgbClr>
            </a:outerShdw>
          </a:effectLst>
        </p:spPr>
      </p:sp>
      <p:sp>
        <p:nvSpPr>
          <p:cNvPr id="21" name="Text 19"/>
          <p:cNvSpPr txBox="1"/>
          <p:nvPr/>
        </p:nvSpPr>
        <p:spPr>
          <a:xfrm>
            <a:off x="777240" y="2395728"/>
            <a:ext cx="4892040" cy="411480"/>
          </a:xfrm>
          <a:prstGeom prst="rect">
            <a:avLst/>
          </a:prstGeom>
          <a:noFill/>
          <a:ln/>
        </p:spPr>
        <p:txBody>
          <a:bodyPr wrap="square" lIns="0" tIns="0" rIns="0" bIns="0" rtlCol="0" anchor="ctr"/>
          <a:lstStyle/>
          <a:p>
            <a:pPr indent="0" marL="0">
              <a:buNone/>
            </a:pPr>
            <a:r>
              <a:rPr lang="en-US" sz="1800" b="1" dirty="0">
                <a:solidFill>
                  <a:srgbClr val="990011"/>
                </a:solidFill>
                <a:latin typeface="Cambria" pitchFamily="34" charset="0"/>
                <a:ea typeface="Cambria" pitchFamily="34" charset="-122"/>
                <a:cs typeface="Cambria" pitchFamily="34" charset="-120"/>
              </a:rPr>
              <a:t>Track 1: ServiceNow</a:t>
            </a:r>
            <a:endParaRPr lang="en-US" sz="1800" dirty="0"/>
          </a:p>
        </p:txBody>
      </p:sp>
      <p:sp>
        <p:nvSpPr>
          <p:cNvPr id="22" name="Text 20"/>
          <p:cNvSpPr txBox="1"/>
          <p:nvPr/>
        </p:nvSpPr>
        <p:spPr>
          <a:xfrm>
            <a:off x="777240" y="2852928"/>
            <a:ext cx="489204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Built on a SNOW evaluation instance with mock email and mock cashflow data</a:t>
            </a:r>
            <a:endParaRPr lang="en-US" sz="1250" dirty="0"/>
          </a:p>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Workflow, HITL review and extraction custom-developed on the platform</a:t>
            </a:r>
            <a:endParaRPr lang="en-US" sz="1250" dirty="0"/>
          </a:p>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LLM calls via Now Assist, routed to the in-house Chinou API</a:t>
            </a:r>
            <a:endParaRPr lang="en-US" sz="1250" dirty="0"/>
          </a:p>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Existing prod SNOW instance already integrates mailboxes, trade data and counterparty email flows</a:t>
            </a:r>
            <a:endParaRPr lang="en-US" sz="1250" dirty="0"/>
          </a:p>
        </p:txBody>
      </p:sp>
      <p:sp>
        <p:nvSpPr>
          <p:cNvPr id="23" name="Shape 21"/>
          <p:cNvSpPr/>
          <p:nvPr/>
        </p:nvSpPr>
        <p:spPr>
          <a:xfrm>
            <a:off x="777240" y="5257800"/>
            <a:ext cx="4892040" cy="10973"/>
          </a:xfrm>
          <a:prstGeom prst="rect">
            <a:avLst/>
          </a:prstGeom>
          <a:solidFill>
            <a:srgbClr val="D9D9D9"/>
          </a:solidFill>
          <a:ln/>
        </p:spPr>
      </p:sp>
      <p:sp>
        <p:nvSpPr>
          <p:cNvPr id="24" name="Text 22"/>
          <p:cNvSpPr txBox="1"/>
          <p:nvPr/>
        </p:nvSpPr>
        <p:spPr>
          <a:xfrm>
            <a:off x="777240" y="5349240"/>
            <a:ext cx="4892040" cy="658368"/>
          </a:xfrm>
          <a:prstGeom prst="rect">
            <a:avLst/>
          </a:prstGeom>
          <a:noFill/>
          <a:ln/>
        </p:spPr>
        <p:txBody>
          <a:bodyPr wrap="square" lIns="0" tIns="0" rIns="0" bIns="0" rtlCol="0" anchor="t"/>
          <a:lstStyle/>
          <a:p>
            <a:pPr indent="0" marL="0">
              <a:buNone/>
            </a:pPr>
            <a:r>
              <a:rPr lang="en-US" sz="1200" b="1" dirty="0">
                <a:solidFill>
                  <a:srgbClr val="990011"/>
                </a:solidFill>
                <a:latin typeface="Calibri" pitchFamily="34" charset="0"/>
                <a:ea typeface="Calibri" pitchFamily="34" charset="-122"/>
                <a:cs typeface="Calibri" pitchFamily="34" charset="-120"/>
              </a:rPr>
              <a:t>What it proved:  </a:t>
            </a:r>
            <a:pPr indent="0" marL="0">
              <a:buNone/>
            </a:pPr>
            <a:r>
              <a:rPr lang="en-US" sz="1200" dirty="0">
                <a:solidFill>
                  <a:srgbClr val="212121"/>
                </a:solidFill>
                <a:latin typeface="Calibri" pitchFamily="34" charset="0"/>
                <a:ea typeface="Calibri" pitchFamily="34" charset="-122"/>
                <a:cs typeface="Calibri" pitchFamily="34" charset="-120"/>
              </a:rPr>
              <a:t>Custom AI development on the platform using the firm's approved LLM.</a:t>
            </a:r>
            <a:endParaRPr lang="en-US" sz="1200" dirty="0"/>
          </a:p>
        </p:txBody>
      </p:sp>
      <p:sp>
        <p:nvSpPr>
          <p:cNvPr id="25" name="Shape 23"/>
          <p:cNvSpPr/>
          <p:nvPr/>
        </p:nvSpPr>
        <p:spPr>
          <a:xfrm>
            <a:off x="6245352" y="2240280"/>
            <a:ext cx="5440680" cy="3886200"/>
          </a:xfrm>
          <a:prstGeom prst="roundRect">
            <a:avLst>
              <a:gd name="adj" fmla="val 2118"/>
            </a:avLst>
          </a:prstGeom>
          <a:solidFill>
            <a:srgbClr val="FFFFFF"/>
          </a:solidFill>
          <a:ln w="12700">
            <a:solidFill>
              <a:srgbClr val="D9D9D9"/>
            </a:solidFill>
            <a:prstDash val="solid"/>
          </a:ln>
          <a:effectLst>
            <a:outerShdw sx="100000" sy="100000" kx="0" ky="0" algn="bl" rotWithShape="0" blurRad="76200" dist="25400" dir="5400000">
              <a:srgbClr val="000000">
                <a:alpha val="18000"/>
              </a:srgbClr>
            </a:outerShdw>
          </a:effectLst>
        </p:spPr>
      </p:sp>
      <p:sp>
        <p:nvSpPr>
          <p:cNvPr id="26" name="Text 24"/>
          <p:cNvSpPr txBox="1"/>
          <p:nvPr/>
        </p:nvSpPr>
        <p:spPr>
          <a:xfrm>
            <a:off x="6519672" y="2395728"/>
            <a:ext cx="4892040" cy="411480"/>
          </a:xfrm>
          <a:prstGeom prst="rect">
            <a:avLst/>
          </a:prstGeom>
          <a:noFill/>
          <a:ln/>
        </p:spPr>
        <p:txBody>
          <a:bodyPr wrap="square" lIns="0" tIns="0" rIns="0" bIns="0" rtlCol="0" anchor="ctr"/>
          <a:lstStyle/>
          <a:p>
            <a:pPr indent="0" marL="0">
              <a:buNone/>
            </a:pPr>
            <a:r>
              <a:rPr lang="en-US" sz="1800" b="1" dirty="0">
                <a:solidFill>
                  <a:srgbClr val="36454F"/>
                </a:solidFill>
                <a:latin typeface="Cambria" pitchFamily="34" charset="0"/>
                <a:ea typeface="Cambria" pitchFamily="34" charset="-122"/>
                <a:cs typeface="Cambria" pitchFamily="34" charset="-120"/>
              </a:rPr>
              <a:t>Track 2: Internal Tools</a:t>
            </a:r>
            <a:endParaRPr lang="en-US" sz="1800" dirty="0"/>
          </a:p>
        </p:txBody>
      </p:sp>
      <p:sp>
        <p:nvSpPr>
          <p:cNvPr id="27" name="Text 25"/>
          <p:cNvSpPr txBox="1"/>
          <p:nvPr/>
        </p:nvSpPr>
        <p:spPr>
          <a:xfrm>
            <a:off x="6519672" y="2852928"/>
            <a:ext cx="489204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Built on internal infrastructure with full architectural control</a:t>
            </a:r>
            <a:endParaRPr lang="en-US" sz="1250" dirty="0"/>
          </a:p>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Actual mailbox integration via Graph API (mock email content)</a:t>
            </a:r>
            <a:endParaRPr lang="en-US" sz="1250" dirty="0"/>
          </a:p>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Live connectivity to the test cashflow system, including PCM write-back</a:t>
            </a:r>
            <a:endParaRPr lang="en-US" sz="1250" dirty="0"/>
          </a:p>
          <a:p>
            <a:pPr marL="342900" indent="-342900">
              <a:spcAft>
                <a:spcPts val="600"/>
              </a:spcAft>
              <a:buSzPct val="100000"/>
              <a:buChar char="•"/>
            </a:pPr>
            <a:r>
              <a:rPr lang="en-US" sz="1250" dirty="0">
                <a:solidFill>
                  <a:srgbClr val="212121"/>
                </a:solidFill>
                <a:latin typeface="Calibri" pitchFamily="34" charset="0"/>
                <a:ea typeface="Calibri" pitchFamily="34" charset="-122"/>
                <a:cs typeface="Calibri" pitchFamily="34" charset="-120"/>
              </a:rPr>
              <a:t>Production-grade case management, audit and RBAC still to build</a:t>
            </a:r>
            <a:endParaRPr lang="en-US" sz="1250" dirty="0"/>
          </a:p>
        </p:txBody>
      </p:sp>
      <p:sp>
        <p:nvSpPr>
          <p:cNvPr id="28" name="Shape 26"/>
          <p:cNvSpPr/>
          <p:nvPr/>
        </p:nvSpPr>
        <p:spPr>
          <a:xfrm>
            <a:off x="6519672" y="5257800"/>
            <a:ext cx="4892040" cy="10973"/>
          </a:xfrm>
          <a:prstGeom prst="rect">
            <a:avLst/>
          </a:prstGeom>
          <a:solidFill>
            <a:srgbClr val="D9D9D9"/>
          </a:solidFill>
          <a:ln/>
        </p:spPr>
      </p:sp>
      <p:sp>
        <p:nvSpPr>
          <p:cNvPr id="29" name="Text 27"/>
          <p:cNvSpPr txBox="1"/>
          <p:nvPr/>
        </p:nvSpPr>
        <p:spPr>
          <a:xfrm>
            <a:off x="6519672" y="5349240"/>
            <a:ext cx="4892040" cy="658368"/>
          </a:xfrm>
          <a:prstGeom prst="rect">
            <a:avLst/>
          </a:prstGeom>
          <a:noFill/>
          <a:ln/>
        </p:spPr>
        <p:txBody>
          <a:bodyPr wrap="square" lIns="0" tIns="0" rIns="0" bIns="0" rtlCol="0" anchor="t"/>
          <a:lstStyle/>
          <a:p>
            <a:pPr indent="0" marL="0">
              <a:buNone/>
            </a:pPr>
            <a:r>
              <a:rPr lang="en-US" sz="1200" b="1" dirty="0">
                <a:solidFill>
                  <a:srgbClr val="36454F"/>
                </a:solidFill>
                <a:latin typeface="Calibri" pitchFamily="34" charset="0"/>
                <a:ea typeface="Calibri" pitchFamily="34" charset="-122"/>
                <a:cs typeface="Calibri" pitchFamily="34" charset="-120"/>
              </a:rPr>
              <a:t>What it proved:  </a:t>
            </a:r>
            <a:pPr indent="0" marL="0">
              <a:buNone/>
            </a:pPr>
            <a:r>
              <a:rPr lang="en-US" sz="1200" dirty="0">
                <a:solidFill>
                  <a:srgbClr val="212121"/>
                </a:solidFill>
                <a:latin typeface="Calibri" pitchFamily="34" charset="0"/>
                <a:ea typeface="Calibri" pitchFamily="34" charset="-122"/>
                <a:cs typeface="Calibri" pitchFamily="34" charset="-120"/>
              </a:rPr>
              <a:t>Live end-to-end integration: mailbox, cashflow system and write-back.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11155680" cy="594360"/>
          </a:xfrm>
          <a:prstGeom prst="rect">
            <a:avLst/>
          </a:prstGeom>
          <a:noFill/>
          <a:ln/>
        </p:spPr>
        <p:txBody>
          <a:bodyPr wrap="square" lIns="0" tIns="0" rIns="0" bIns="0" rtlCol="0" anchor="ctr"/>
          <a:lstStyle/>
          <a:p>
            <a:pPr indent="0" marL="0">
              <a:buNone/>
            </a:pPr>
            <a:r>
              <a:rPr lang="en-US" sz="2800" b="1" dirty="0">
                <a:solidFill>
                  <a:srgbClr val="212121"/>
                </a:solidFill>
                <a:latin typeface="Cambria" pitchFamily="34" charset="0"/>
                <a:ea typeface="Cambria" pitchFamily="34" charset="-122"/>
                <a:cs typeface="Cambria" pitchFamily="34" charset="-120"/>
              </a:rPr>
              <a:t>Comparison (1 of 3): Build and Integration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914400"/>
        </p:xfrm>
        <a:graphic>
          <a:graphicData uri="http://schemas.openxmlformats.org/drawingml/2006/table">
            <a:tbl>
              <a:tblPr/>
              <a:tblGrid>
                <a:gridCol w="1783080"/>
                <a:gridCol w="4160520"/>
                <a:gridCol w="3913632"/>
                <a:gridCol w="1325880"/>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1212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Track 1: ServiceNow</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99001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Track 2: Internal Tools</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36454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Assessment</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12121"/>
                    </a:solidFill>
                  </a:tcPr>
                </a:tc>
              </a:tr>
              <a:tr h="475488">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Build type</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Custom-developed on platform (workflow, HITL, extraction, prompt/agent logic); config-over-code advantage reduced, though SNOW marketplace functionality can accelerate build</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Fully bespoke build on internal infrastructure; complete architectural control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r h="475488">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Input formats supported</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Mock email and mock cashflow data only; real-format edge cases (malformed emails, cashflow quirks) untested</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Actual mailbox content ingested; PDF, Excel and image formats supported</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6454F"/>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9EDEF"/>
                    </a:solidFill>
                  </a:tcPr>
                </a:tc>
              </a:tr>
              <a:tr h="475488">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Connectivity with Outlook</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Prod SNOW instance integrates with the target mailbox via Exchange services; two-way counterparty email flows in place; pilot itself ran on a mock mailbox</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Outlook integration via Graph API; actual mailbox integration proven (auth, entitlements, network access exercised, not simulated)</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6454F"/>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9EDEF"/>
                    </a:solidFill>
                  </a:tcPr>
                </a:tc>
              </a:tr>
              <a:tr h="475488">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Connectivity with target system (read and write-back)</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Prod instance already accesses trade data (PCM), but not tested on real data in the pilot</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Live connectivity to the test cashflow system proven, including validated PCM write-back</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6454F"/>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9EDEF"/>
                    </a:solidFill>
                  </a:tcPr>
                </a:tc>
              </a:tr>
              <a:tr h="475488">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POC environment</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Ran on an evaluation instance</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Ran on internal infrastructure with live test-system integration; production-grade case management still to build</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6454F"/>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9EDEF"/>
                    </a:solidFill>
                  </a:tcPr>
                </a:tc>
              </a:tr>
              <a:tr h="475488">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NTI</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In progress</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In progress</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rgbClr val="6B7278"/>
                          </a:solidFill>
                          <a:latin typeface="Calibri" pitchFamily="34" charset="0"/>
                          <a:ea typeface="Calibri" pitchFamily="34" charset="-122"/>
                          <a:cs typeface="Calibri" pitchFamily="34" charset="-120"/>
                        </a:rPr>
                        <a:t>Neutral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75488">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Underlying LLM</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Chinou LLM (via Now Assist); same model as the internal track</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Chinou LLM; same model as the SNOW track</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rgbClr val="6B7278"/>
                          </a:solidFill>
                          <a:latin typeface="Calibri" pitchFamily="34" charset="0"/>
                          <a:ea typeface="Calibri" pitchFamily="34" charset="-122"/>
                          <a:cs typeface="Calibri" pitchFamily="34" charset="-120"/>
                        </a:rPr>
                        <a:t>Neutral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11155680" cy="594360"/>
          </a:xfrm>
          <a:prstGeom prst="rect">
            <a:avLst/>
          </a:prstGeom>
          <a:noFill/>
          <a:ln/>
        </p:spPr>
        <p:txBody>
          <a:bodyPr wrap="square" lIns="0" tIns="0" rIns="0" bIns="0" rtlCol="0" anchor="ctr"/>
          <a:lstStyle/>
          <a:p>
            <a:pPr indent="0" marL="0">
              <a:buNone/>
            </a:pPr>
            <a:r>
              <a:rPr lang="en-US" sz="2800" b="1" dirty="0">
                <a:solidFill>
                  <a:srgbClr val="212121"/>
                </a:solidFill>
                <a:latin typeface="Cambria" pitchFamily="34" charset="0"/>
                <a:ea typeface="Cambria" pitchFamily="34" charset="-122"/>
                <a:cs typeface="Cambria" pitchFamily="34" charset="-120"/>
              </a:rPr>
              <a:t>Comparison (2 of 3): Cost and Delivery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1783080"/>
                <a:gridCol w="4160520"/>
                <a:gridCol w="3913632"/>
                <a:gridCol w="1325880"/>
              </a:tblGrid>
              <a:tr h="7772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1212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Track 1: ServiceNow</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99001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Track 2: Internal Tools</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36454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Assessment</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12121"/>
                    </a:solidFill>
                  </a:tcPr>
                </a:tc>
              </a:tr>
              <a:tr h="7772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AI tokens / cost optimisation</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Token cost via Now Assist / Chinou routing; optimisation levers may be tied to the platform</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Direct control over token usage, batching, caching and model selection</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r h="7772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Cost: licensing</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Firm-wide Now Assist license available from Mar 2026 onwards</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No platform licensing exposure</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6454F"/>
                          </a:solidFill>
                          <a:latin typeface="Calibri" pitchFamily="34" charset="0"/>
                          <a:ea typeface="Calibri" pitchFamily="34" charset="-122"/>
                          <a:cs typeface="Calibri" pitchFamily="34" charset="-120"/>
                        </a:rPr>
                        <a:t>Internal</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9EDEF"/>
                    </a:solidFill>
                  </a:tcPr>
                </a:tc>
              </a:tr>
              <a:tr h="7772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Cost: resourcing</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Can be staffed with SABRE, Protiviti and IT resources</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Can be staffed with SABRE, Protiviti and IT resources</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r h="7772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Time to market</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Faster where prod integration patterns are reused; licensing available from Mar 2026</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Slower horizontal scaling; each new team or feature is an engineering effort</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r h="7772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Skillset</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SNOW platform, Now Assist and Chinou API integration skills</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Full-stack internal engineering (UI, workflow, integration, MLOps/GenAI)</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11155680" cy="594360"/>
          </a:xfrm>
          <a:prstGeom prst="rect">
            <a:avLst/>
          </a:prstGeom>
          <a:noFill/>
          <a:ln/>
        </p:spPr>
        <p:txBody>
          <a:bodyPr wrap="square" lIns="0" tIns="0" rIns="0" bIns="0" rtlCol="0" anchor="ctr"/>
          <a:lstStyle/>
          <a:p>
            <a:pPr indent="0" marL="0">
              <a:buNone/>
            </a:pPr>
            <a:r>
              <a:rPr lang="en-US" sz="2800" b="1" dirty="0">
                <a:solidFill>
                  <a:srgbClr val="212121"/>
                </a:solidFill>
                <a:latin typeface="Cambria" pitchFamily="34" charset="0"/>
                <a:ea typeface="Cambria" pitchFamily="34" charset="-122"/>
                <a:cs typeface="Cambria" pitchFamily="34" charset="-120"/>
              </a:rPr>
              <a:t>Comparison (3 of 3): Run and Governance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1783080"/>
                <a:gridCol w="4160520"/>
                <a:gridCol w="3913632"/>
                <a:gridCol w="1325880"/>
              </a:tblGrid>
              <a:tr h="10058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1212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Track 1: ServiceNow</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99001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Track 2: Internal Tools</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36454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Assessment</a:t>
                      </a:r>
                      <a:endParaRPr lang="en-US" sz="11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12121"/>
                    </a:solidFill>
                  </a:tcPr>
                </a:tc>
              </a:tr>
              <a:tr h="10058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Platform availability</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No downtime observed historically on the SNOW platform</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Downtime profile unknown; no availability track record yet</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r h="10058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Auditability</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Out-of-the-box audit feature on the platform</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Must be built from the ground up internally</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r h="10058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LangSmith integration (observability)</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Integration being done on the SNOW track</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Not present on the internal track</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r h="1005840">
                <a:tc>
                  <a:txBody>
                    <a:bodyPr/>
                    <a:lstStyle/>
                    <a:p>
                      <a:pPr indent="0" marL="0">
                        <a:buNone/>
                      </a:pPr>
                      <a:r>
                        <a:rPr lang="en-US" sz="1000" b="1" dirty="0">
                          <a:solidFill>
                            <a:srgbClr val="212121"/>
                          </a:solidFill>
                          <a:latin typeface="Calibri" pitchFamily="34" charset="0"/>
                          <a:ea typeface="Calibri" pitchFamily="34" charset="-122"/>
                          <a:cs typeface="Calibri" pitchFamily="34" charset="-120"/>
                        </a:rPr>
                        <a:t>Run-the-bank (RTB) costs</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Lower, as the platform provides native audit, RBAC and change management; some vendor-roadmap dependency</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Full run burden in-house (support, on-call, enhancement, governance evidence)</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90011"/>
                          </a:solidFill>
                          <a:latin typeface="Calibri" pitchFamily="34" charset="0"/>
                          <a:ea typeface="Calibri" pitchFamily="34" charset="-122"/>
                          <a:cs typeface="Calibri" pitchFamily="34" charset="-120"/>
                        </a:rPr>
                        <a:t>ServiceNow</a:t>
                      </a:r>
                      <a:endParaRPr lang="en-US" sz="1000" dirty="0">
                        <a:latin typeface="Calibri" charset="0"/>
                        <a:ea typeface="Calibri" charset="0"/>
                        <a:cs typeface="Calibri" charset="0"/>
                      </a:endParaRPr>
                    </a:p>
                  </a:txBody>
                  <a:tcPr marL="73152" marR="73152"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E6E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02920" y="365760"/>
            <a:ext cx="1115568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Assessment Summary</a:t>
            </a:r>
            <a:endParaRPr lang="en-US" sz="2800" dirty="0"/>
          </a:p>
        </p:txBody>
      </p:sp>
      <p:sp>
        <p:nvSpPr>
          <p:cNvPr id="3" name="Text 1"/>
          <p:cNvSpPr txBox="1"/>
          <p:nvPr/>
        </p:nvSpPr>
        <p:spPr>
          <a:xfrm>
            <a:off x="502920" y="932688"/>
            <a:ext cx="11155680" cy="320040"/>
          </a:xfrm>
          <a:prstGeom prst="rect">
            <a:avLst/>
          </a:prstGeom>
          <a:noFill/>
          <a:ln/>
        </p:spPr>
        <p:txBody>
          <a:bodyPr wrap="square" lIns="0" tIns="0" rIns="0" bIns="0" rtlCol="0" anchor="ctr"/>
          <a:lstStyle/>
          <a:p>
            <a:pPr indent="0" marL="0">
              <a:buNone/>
            </a:pPr>
            <a:r>
              <a:rPr lang="en-US" sz="1300" dirty="0">
                <a:solidFill>
                  <a:srgbClr val="9AA0A4"/>
                </a:solidFill>
                <a:latin typeface="Calibri" pitchFamily="34" charset="0"/>
                <a:ea typeface="Calibri" pitchFamily="34" charset="-122"/>
                <a:cs typeface="Calibri" pitchFamily="34" charset="-120"/>
              </a:rPr>
              <a:t>16 parameters assessed across build, integration, cost, delivery and run</a:t>
            </a:r>
            <a:endParaRPr lang="en-US" sz="1300" dirty="0"/>
          </a:p>
        </p:txBody>
      </p:sp>
      <p:sp>
        <p:nvSpPr>
          <p:cNvPr id="4" name="Shape 2"/>
          <p:cNvSpPr/>
          <p:nvPr/>
        </p:nvSpPr>
        <p:spPr>
          <a:xfrm>
            <a:off x="502920" y="1508760"/>
            <a:ext cx="3520440" cy="1691640"/>
          </a:xfrm>
          <a:prstGeom prst="roundRect">
            <a:avLst>
              <a:gd name="adj" fmla="val 5405"/>
            </a:avLst>
          </a:prstGeom>
          <a:solidFill>
            <a:srgbClr val="2B2B2B"/>
          </a:solidFill>
          <a:ln w="12700">
            <a:solidFill>
              <a:srgbClr val="3D3D3D"/>
            </a:solidFill>
            <a:prstDash val="solid"/>
          </a:ln>
        </p:spPr>
      </p:sp>
      <p:sp>
        <p:nvSpPr>
          <p:cNvPr id="5" name="Text 3"/>
          <p:cNvSpPr txBox="1"/>
          <p:nvPr/>
        </p:nvSpPr>
        <p:spPr>
          <a:xfrm>
            <a:off x="502920" y="1627632"/>
            <a:ext cx="3520440" cy="914400"/>
          </a:xfrm>
          <a:prstGeom prst="rect">
            <a:avLst/>
          </a:prstGeom>
          <a:noFill/>
          <a:ln/>
        </p:spPr>
        <p:txBody>
          <a:bodyPr wrap="square" lIns="0" tIns="0" rIns="0" bIns="0" rtlCol="0" anchor="ctr"/>
          <a:lstStyle/>
          <a:p>
            <a:pPr algn="ctr" indent="0" marL="0">
              <a:buNone/>
            </a:pPr>
            <a:r>
              <a:rPr lang="en-US" sz="6000" b="1" dirty="0">
                <a:solidFill>
                  <a:srgbClr val="E06070"/>
                </a:solidFill>
                <a:latin typeface="Cambria" pitchFamily="34" charset="0"/>
                <a:ea typeface="Cambria" pitchFamily="34" charset="-122"/>
                <a:cs typeface="Cambria" pitchFamily="34" charset="-120"/>
              </a:rPr>
              <a:t>9</a:t>
            </a:r>
            <a:endParaRPr lang="en-US" sz="6000" dirty="0"/>
          </a:p>
        </p:txBody>
      </p:sp>
      <p:sp>
        <p:nvSpPr>
          <p:cNvPr id="6" name="Text 4"/>
          <p:cNvSpPr txBox="1"/>
          <p:nvPr/>
        </p:nvSpPr>
        <p:spPr>
          <a:xfrm>
            <a:off x="685800" y="2578608"/>
            <a:ext cx="3154680" cy="502920"/>
          </a:xfrm>
          <a:prstGeom prst="rect">
            <a:avLst/>
          </a:prstGeom>
          <a:noFill/>
          <a:ln/>
        </p:spPr>
        <p:txBody>
          <a:bodyPr wrap="square" lIns="0" tIns="0" rIns="0" bIns="0" rtlCol="0" anchor="ctr"/>
          <a:lstStyle/>
          <a:p>
            <a:pPr algn="ctr" indent="0" marL="0">
              <a:buNone/>
            </a:pPr>
            <a:r>
              <a:rPr lang="en-US" sz="1300" dirty="0">
                <a:solidFill>
                  <a:srgbClr val="CFCFCF"/>
                </a:solidFill>
                <a:latin typeface="Calibri" pitchFamily="34" charset="0"/>
                <a:ea typeface="Calibri" pitchFamily="34" charset="-122"/>
                <a:cs typeface="Calibri" pitchFamily="34" charset="-120"/>
              </a:rPr>
              <a:t>parameters favour ServiceNow</a:t>
            </a:r>
            <a:endParaRPr lang="en-US" sz="1300" dirty="0"/>
          </a:p>
        </p:txBody>
      </p:sp>
      <p:sp>
        <p:nvSpPr>
          <p:cNvPr id="7" name="Shape 5"/>
          <p:cNvSpPr/>
          <p:nvPr/>
        </p:nvSpPr>
        <p:spPr>
          <a:xfrm>
            <a:off x="4334256" y="1508760"/>
            <a:ext cx="3520440" cy="1691640"/>
          </a:xfrm>
          <a:prstGeom prst="roundRect">
            <a:avLst>
              <a:gd name="adj" fmla="val 5405"/>
            </a:avLst>
          </a:prstGeom>
          <a:solidFill>
            <a:srgbClr val="2B2B2B"/>
          </a:solidFill>
          <a:ln w="12700">
            <a:solidFill>
              <a:srgbClr val="3D3D3D"/>
            </a:solidFill>
            <a:prstDash val="solid"/>
          </a:ln>
        </p:spPr>
      </p:sp>
      <p:sp>
        <p:nvSpPr>
          <p:cNvPr id="8" name="Text 6"/>
          <p:cNvSpPr txBox="1"/>
          <p:nvPr/>
        </p:nvSpPr>
        <p:spPr>
          <a:xfrm>
            <a:off x="4334256" y="1627632"/>
            <a:ext cx="3520440" cy="914400"/>
          </a:xfrm>
          <a:prstGeom prst="rect">
            <a:avLst/>
          </a:prstGeom>
          <a:noFill/>
          <a:ln/>
        </p:spPr>
        <p:txBody>
          <a:bodyPr wrap="square" lIns="0" tIns="0" rIns="0" bIns="0" rtlCol="0" anchor="ctr"/>
          <a:lstStyle/>
          <a:p>
            <a:pPr algn="ctr" indent="0" marL="0">
              <a:buNone/>
            </a:pPr>
            <a:r>
              <a:rPr lang="en-US" sz="6000" b="1" dirty="0">
                <a:solidFill>
                  <a:srgbClr val="9FC3D9"/>
                </a:solidFill>
                <a:latin typeface="Cambria" pitchFamily="34" charset="0"/>
                <a:ea typeface="Cambria" pitchFamily="34" charset="-122"/>
                <a:cs typeface="Cambria" pitchFamily="34" charset="-120"/>
              </a:rPr>
              <a:t>5</a:t>
            </a:r>
            <a:endParaRPr lang="en-US" sz="6000" dirty="0"/>
          </a:p>
        </p:txBody>
      </p:sp>
      <p:sp>
        <p:nvSpPr>
          <p:cNvPr id="9" name="Text 7"/>
          <p:cNvSpPr txBox="1"/>
          <p:nvPr/>
        </p:nvSpPr>
        <p:spPr>
          <a:xfrm>
            <a:off x="4517136" y="2578608"/>
            <a:ext cx="3154680" cy="502920"/>
          </a:xfrm>
          <a:prstGeom prst="rect">
            <a:avLst/>
          </a:prstGeom>
          <a:noFill/>
          <a:ln/>
        </p:spPr>
        <p:txBody>
          <a:bodyPr wrap="square" lIns="0" tIns="0" rIns="0" bIns="0" rtlCol="0" anchor="ctr"/>
          <a:lstStyle/>
          <a:p>
            <a:pPr algn="ctr" indent="0" marL="0">
              <a:buNone/>
            </a:pPr>
            <a:r>
              <a:rPr lang="en-US" sz="1300" dirty="0">
                <a:solidFill>
                  <a:srgbClr val="CFCFCF"/>
                </a:solidFill>
                <a:latin typeface="Calibri" pitchFamily="34" charset="0"/>
                <a:ea typeface="Calibri" pitchFamily="34" charset="-122"/>
                <a:cs typeface="Calibri" pitchFamily="34" charset="-120"/>
              </a:rPr>
              <a:t>parameters favour Internal Tools</a:t>
            </a:r>
            <a:endParaRPr lang="en-US" sz="1300" dirty="0"/>
          </a:p>
        </p:txBody>
      </p:sp>
      <p:sp>
        <p:nvSpPr>
          <p:cNvPr id="10" name="Shape 8"/>
          <p:cNvSpPr/>
          <p:nvPr/>
        </p:nvSpPr>
        <p:spPr>
          <a:xfrm>
            <a:off x="8165592" y="1508760"/>
            <a:ext cx="3520440" cy="1691640"/>
          </a:xfrm>
          <a:prstGeom prst="roundRect">
            <a:avLst>
              <a:gd name="adj" fmla="val 5405"/>
            </a:avLst>
          </a:prstGeom>
          <a:solidFill>
            <a:srgbClr val="2B2B2B"/>
          </a:solidFill>
          <a:ln w="12700">
            <a:solidFill>
              <a:srgbClr val="3D3D3D"/>
            </a:solidFill>
            <a:prstDash val="solid"/>
          </a:ln>
        </p:spPr>
      </p:sp>
      <p:sp>
        <p:nvSpPr>
          <p:cNvPr id="11" name="Text 9"/>
          <p:cNvSpPr txBox="1"/>
          <p:nvPr/>
        </p:nvSpPr>
        <p:spPr>
          <a:xfrm>
            <a:off x="8165592" y="1627632"/>
            <a:ext cx="3520440" cy="914400"/>
          </a:xfrm>
          <a:prstGeom prst="rect">
            <a:avLst/>
          </a:prstGeom>
          <a:noFill/>
          <a:ln/>
        </p:spPr>
        <p:txBody>
          <a:bodyPr wrap="square" lIns="0" tIns="0" rIns="0" bIns="0" rtlCol="0" anchor="ctr"/>
          <a:lstStyle/>
          <a:p>
            <a:pPr algn="ctr" indent="0" marL="0">
              <a:buNone/>
            </a:pPr>
            <a:r>
              <a:rPr lang="en-US" sz="6000" b="1" dirty="0">
                <a:solidFill>
                  <a:srgbClr val="9AA0A4"/>
                </a:solidFill>
                <a:latin typeface="Cambria" pitchFamily="34" charset="0"/>
                <a:ea typeface="Cambria" pitchFamily="34" charset="-122"/>
                <a:cs typeface="Cambria" pitchFamily="34" charset="-120"/>
              </a:rPr>
              <a:t>2</a:t>
            </a:r>
            <a:endParaRPr lang="en-US" sz="6000" dirty="0"/>
          </a:p>
        </p:txBody>
      </p:sp>
      <p:sp>
        <p:nvSpPr>
          <p:cNvPr id="12" name="Text 10"/>
          <p:cNvSpPr txBox="1"/>
          <p:nvPr/>
        </p:nvSpPr>
        <p:spPr>
          <a:xfrm>
            <a:off x="8348472" y="2578608"/>
            <a:ext cx="3154680" cy="502920"/>
          </a:xfrm>
          <a:prstGeom prst="rect">
            <a:avLst/>
          </a:prstGeom>
          <a:noFill/>
          <a:ln/>
        </p:spPr>
        <p:txBody>
          <a:bodyPr wrap="square" lIns="0" tIns="0" rIns="0" bIns="0" rtlCol="0" anchor="ctr"/>
          <a:lstStyle/>
          <a:p>
            <a:pPr algn="ctr" indent="0" marL="0">
              <a:buNone/>
            </a:pPr>
            <a:r>
              <a:rPr lang="en-US" sz="1300" dirty="0">
                <a:solidFill>
                  <a:srgbClr val="CFCFCF"/>
                </a:solidFill>
                <a:latin typeface="Calibri" pitchFamily="34" charset="0"/>
                <a:ea typeface="Calibri" pitchFamily="34" charset="-122"/>
                <a:cs typeface="Calibri" pitchFamily="34" charset="-120"/>
              </a:rPr>
              <a:t>parameters neutral (NTI, LLM)</a:t>
            </a:r>
            <a:endParaRPr lang="en-US" sz="1300" dirty="0"/>
          </a:p>
        </p:txBody>
      </p:sp>
      <p:sp>
        <p:nvSpPr>
          <p:cNvPr id="13" name="Text 11"/>
          <p:cNvSpPr txBox="1"/>
          <p:nvPr/>
        </p:nvSpPr>
        <p:spPr>
          <a:xfrm>
            <a:off x="502920" y="3520440"/>
            <a:ext cx="11155680" cy="685800"/>
          </a:xfrm>
          <a:prstGeom prst="rect">
            <a:avLst/>
          </a:prstGeom>
          <a:noFill/>
          <a:ln/>
        </p:spPr>
        <p:txBody>
          <a:bodyPr wrap="square" lIns="0" tIns="0" rIns="0" bIns="0" rtlCol="0" anchor="ctr"/>
          <a:lstStyle/>
          <a:p>
            <a:pPr indent="0" marL="0">
              <a:buNone/>
            </a:pPr>
            <a:r>
              <a:rPr lang="en-US" sz="1400" b="1" dirty="0">
                <a:solidFill>
                  <a:srgbClr val="E06070"/>
                </a:solidFill>
                <a:latin typeface="Calibri" pitchFamily="34" charset="0"/>
                <a:ea typeface="Calibri" pitchFamily="34" charset="-122"/>
                <a:cs typeface="Calibri" pitchFamily="34" charset="-120"/>
              </a:rPr>
              <a:t>Where ServiceNow leads:  </a:t>
            </a:r>
            <a:pPr indent="0" marL="0">
              <a:buNone/>
            </a:pPr>
            <a:r>
              <a:rPr lang="en-US" sz="1400" dirty="0">
                <a:solidFill>
                  <a:srgbClr val="E6E6E6"/>
                </a:solidFill>
                <a:latin typeface="Calibri" pitchFamily="34" charset="0"/>
                <a:ea typeface="Calibri" pitchFamily="34" charset="-122"/>
                <a:cs typeface="Calibri" pitchFamily="34" charset="-120"/>
              </a:rPr>
              <a:t>delivery acceleration, resourcing, availability, auditability, observability, skillset and run costs; production-proven mailbox and trade data integration patterns to reuse.</a:t>
            </a:r>
            <a:endParaRPr lang="en-US" sz="1400" dirty="0"/>
          </a:p>
        </p:txBody>
      </p:sp>
      <p:sp>
        <p:nvSpPr>
          <p:cNvPr id="14" name="Text 12"/>
          <p:cNvSpPr txBox="1"/>
          <p:nvPr/>
        </p:nvSpPr>
        <p:spPr>
          <a:xfrm>
            <a:off x="502920" y="4251960"/>
            <a:ext cx="11155680" cy="685800"/>
          </a:xfrm>
          <a:prstGeom prst="rect">
            <a:avLst/>
          </a:prstGeom>
          <a:noFill/>
          <a:ln/>
        </p:spPr>
        <p:txBody>
          <a:bodyPr wrap="square" lIns="0" tIns="0" rIns="0" bIns="0" rtlCol="0" anchor="ctr"/>
          <a:lstStyle/>
          <a:p>
            <a:pPr indent="0" marL="0">
              <a:buNone/>
            </a:pPr>
            <a:r>
              <a:rPr lang="en-US" sz="1400" b="1" dirty="0">
                <a:solidFill>
                  <a:srgbClr val="9FC3D9"/>
                </a:solidFill>
                <a:latin typeface="Calibri" pitchFamily="34" charset="0"/>
                <a:ea typeface="Calibri" pitchFamily="34" charset="-122"/>
                <a:cs typeface="Calibri" pitchFamily="34" charset="-120"/>
              </a:rPr>
              <a:t>Where Internal Tools leads:  </a:t>
            </a:r>
            <a:pPr indent="0" marL="0">
              <a:buNone/>
            </a:pPr>
            <a:r>
              <a:rPr lang="en-US" sz="1400" dirty="0">
                <a:solidFill>
                  <a:srgbClr val="E6E6E6"/>
                </a:solidFill>
                <a:latin typeface="Calibri" pitchFamily="34" charset="0"/>
                <a:ea typeface="Calibri" pitchFamily="34" charset="-122"/>
                <a:cs typeface="Calibri" pitchFamily="34" charset="-120"/>
              </a:rPr>
              <a:t>proven live integration (Graph API mailbox, test cashflow system, PCM write-back), broader input format handling (PDF, Excel, image) and no licensing exposure.</a:t>
            </a:r>
            <a:endParaRPr lang="en-US" sz="1400" dirty="0"/>
          </a:p>
        </p:txBody>
      </p:sp>
      <p:sp>
        <p:nvSpPr>
          <p:cNvPr id="15" name="Shape 13"/>
          <p:cNvSpPr/>
          <p:nvPr/>
        </p:nvSpPr>
        <p:spPr>
          <a:xfrm>
            <a:off x="502920" y="5120640"/>
            <a:ext cx="11183112" cy="1234440"/>
          </a:xfrm>
          <a:prstGeom prst="roundRect">
            <a:avLst>
              <a:gd name="adj" fmla="val 7407"/>
            </a:avLst>
          </a:prstGeom>
          <a:solidFill>
            <a:srgbClr val="2B2B2B"/>
          </a:solidFill>
          <a:ln w="15875">
            <a:solidFill>
              <a:srgbClr val="990011"/>
            </a:solidFill>
            <a:prstDash val="solid"/>
          </a:ln>
        </p:spPr>
      </p:sp>
      <p:sp>
        <p:nvSpPr>
          <p:cNvPr id="16" name="Text 14"/>
          <p:cNvSpPr txBox="1"/>
          <p:nvPr/>
        </p:nvSpPr>
        <p:spPr>
          <a:xfrm>
            <a:off x="777240" y="5285232"/>
            <a:ext cx="10607040" cy="914400"/>
          </a:xfrm>
          <a:prstGeom prst="rect">
            <a:avLst/>
          </a:prstGeom>
          <a:noFill/>
          <a:ln/>
        </p:spPr>
        <p:txBody>
          <a:bodyPr wrap="square" lIns="0" tIns="0" rIns="0" bIns="0" rtlCol="0" anchor="ctr"/>
          <a:lstStyle/>
          <a:p>
            <a:pPr indent="0" marL="0">
              <a:buNone/>
            </a:pPr>
            <a:r>
              <a:rPr lang="en-US" sz="1400" b="1" dirty="0">
                <a:solidFill>
                  <a:srgbClr val="E06070"/>
                </a:solidFill>
                <a:latin typeface="Calibri" pitchFamily="34" charset="0"/>
                <a:ea typeface="Calibri" pitchFamily="34" charset="-122"/>
                <a:cs typeface="Calibri" pitchFamily="34" charset="-120"/>
              </a:rPr>
              <a:t>Hybrid option:  </a:t>
            </a:r>
            <a:pPr indent="0" marL="0">
              <a:buNone/>
            </a:pPr>
            <a:r>
              <a:rPr lang="en-US" sz="1400" dirty="0">
                <a:solidFill>
                  <a:srgbClr val="E6E6E6"/>
                </a:solidFill>
                <a:latin typeface="Calibri" pitchFamily="34" charset="0"/>
                <a:ea typeface="Calibri" pitchFamily="34" charset="-122"/>
                <a:cs typeface="Calibri" pitchFamily="34" charset="-120"/>
              </a:rPr>
              <a:t>leverage the internal track's proven ingestion layer (mailbox integration and format handling) feeding the SNOW workflow, case management and HITL layer. Interface handoff between the two was not tested in either pilot and should be prototyped early.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2026-09-03T14:35:47Z</dcterms:created>
  <dcterms:modified xsi:type="dcterms:W3CDTF">2026-09-03T14:35:47Z</dcterms:modified>
</cp:coreProperties>
</file>