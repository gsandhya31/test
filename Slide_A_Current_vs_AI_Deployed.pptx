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4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an AI use case moves in a straight line: the business writes a requirement, a central engineer builds it, IT deploys it after a 145-day NTI cycle, and the business receives a tool it did not shape and does not manage. That was fine for RPA. It does not work for agents, because agents keep changing after go-live - thresholds set, overrides reviewed, knowledge refreshed. That is operational work, not IT work.
Two lifecycles. Left, the software development lifecycle (ISO 12207): requirement, build, test, deploy, maintain - deterministic code, fixed test cases, deployment is where the stable state begins. Right, the AI system lifecycle (ISO 5338): frame the outcome and the human-agent responsibility map, compose reusable agents, evaluate behaviour on accuracy and hallucination rate, activate in stages, then supervise and keep learning - deployment is where monitoring starts, not ends.
The table walks six dimensions and the evidence sits in the rows. Who defines: a business use-case owner keeps the outcome - only 21% of firms have redesigned workflows, and that is the practice most tied to bottom-line impact. Who builds: a forward-deployed engineer in the ops pod, from reusable agents. Who deploys: the platform team with pre-approved guardrails and a staged ramp, instead of 145 days of one-off approvals. Who does the work: agents run the standard flow and analysts move to exceptions - this matters because operations is 60-70% of a bank's cost base, and 84% of companies have not redesigned jobs for it yet. Who supervises: the agent manager, today's team lead or AVP, accountable for agent output as for a team member's - McKinsey reports 2-5 people already supervising 50-100 agents. Who owns the risk: an AI risk and control partner embedded from design, with agent-level KRIs feeding a continuous RCSA - which is the guardrails and RCSA slides later.
Roles that emerge, all bold in the table: use-case owner, forward-deployed engineer, agent manager, AI risk &amp; control partner. A knowledge curator role (SOPs, prompts, evaluation sets) is also expected and is covered on the change-management slide.
References [1]-[6]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o.org/standard/81118.html" TargetMode="External"/><Relationship Id="rId3" Type="http://schemas.openxmlformats.org/officeDocument/2006/relationships/hyperlink" Target="https://www.mckinsey.com/capabilities/operations/our-insights/ai-in-asia-reimagining-banking-operations-through-agentic-ai" TargetMode="External"/><Relationship Id="rId7" Type="http://schemas.openxmlformats.org/officeDocument/2006/relationships/hyperlink" Target="https://www.iso.org/standard/63712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ckinsey.com/capabilities/people-and-organizational-performance/our-insights/the-agentic-organization-contours-of-the-next-paradigm-for-the-ai-era" TargetMode="External"/><Relationship Id="rId5" Type="http://schemas.openxmlformats.org/officeDocument/2006/relationships/hyperlink" Target="https://www.mckinsey.com/capabilities/quantumblack/our-insights/the-state-of-ai-how-organizations-are-rewiring-to-capture-value" TargetMode="External"/><Relationship Id="rId4" Type="http://schemas.openxmlformats.org/officeDocument/2006/relationships/hyperlink" Target="https://www.deloitte.com/us/en/insights/topics/talent/operating-models-for-humans-ai-agen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2004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C0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changes who does the work </a:t>
            </a:r>
            <a:r>
              <a:rPr lang="en-US" sz="2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gets done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5532120" cy="365760"/>
          </a:xfrm>
          <a:prstGeom prst="rect">
            <a:avLst/>
          </a:prstGeom>
          <a:solidFill>
            <a:srgbClr val="6B7580"/>
          </a:solidFill>
          <a:ln w="12700">
            <a:solidFill>
              <a:srgbClr val="6B7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21208" y="1051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[5] — build a tool, hand it over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1051560"/>
            <a:ext cx="5532120" cy="365760"/>
          </a:xfrm>
          <a:prstGeom prst="rect">
            <a:avLst/>
          </a:prstGeom>
          <a:solidFill>
            <a:srgbClr val="BC0018"/>
          </a:solidFill>
          <a:ln w="12700">
            <a:solidFill>
              <a:srgbClr val="BC00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373368" y="1051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lifecycle [6] — compose agents, supervise continuously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062533" cy="713232"/>
          </a:xfrm>
          <a:prstGeom prst="chevron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Requirement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/ NTI; scope frozen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28877" y="1508760"/>
            <a:ext cx="1062533" cy="713232"/>
          </a:xfrm>
          <a:prstGeom prst="chevron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656893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Build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developer codes to spec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46274" y="1508760"/>
            <a:ext cx="1062533" cy="713232"/>
          </a:xfrm>
          <a:prstGeom prst="chevron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774290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fixed test cases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3670" y="1508760"/>
            <a:ext cx="1062533" cy="713232"/>
          </a:xfrm>
          <a:prstGeom prst="chevron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891686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release; stable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1067" y="1508760"/>
            <a:ext cx="1062533" cy="713232"/>
          </a:xfrm>
          <a:prstGeom prst="chevron">
            <a:avLst/>
          </a:prstGeom>
          <a:solidFill>
            <a:srgbClr val="E6EAEE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09083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Maintain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 per fix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1062533" cy="713232"/>
          </a:xfrm>
          <a:prstGeom prst="chevron">
            <a:avLst/>
          </a:prstGeom>
          <a:solidFill>
            <a:srgbClr val="FBEBED"/>
          </a:solidFill>
          <a:ln w="12700">
            <a:solidFill>
              <a:srgbClr val="FBEB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91656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Frame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Outcome; human–agent responsibility map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81037" y="1508760"/>
            <a:ext cx="1062533" cy="713232"/>
          </a:xfrm>
          <a:prstGeom prst="chevron">
            <a:avLst/>
          </a:prstGeom>
          <a:solidFill>
            <a:srgbClr val="FBEBED"/>
          </a:solidFill>
          <a:ln w="12700">
            <a:solidFill>
              <a:srgbClr val="FBEB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09053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Compose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agents, prompts, tools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98434" y="1508760"/>
            <a:ext cx="1062533" cy="713232"/>
          </a:xfrm>
          <a:prstGeom prst="chevron">
            <a:avLst/>
          </a:prstGeom>
          <a:solidFill>
            <a:srgbClr val="FBEBED"/>
          </a:solidFill>
          <a:ln w="12700">
            <a:solidFill>
              <a:srgbClr val="FBEB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26450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Evaluate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hallucination, guardrails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15830" y="1508760"/>
            <a:ext cx="1062533" cy="713232"/>
          </a:xfrm>
          <a:prstGeom prst="chevron">
            <a:avLst/>
          </a:prstGeom>
          <a:solidFill>
            <a:srgbClr val="FBEBED"/>
          </a:solidFill>
          <a:ln w="12700">
            <a:solidFill>
              <a:srgbClr val="FBEB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743846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Activate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ramp; monitoring starts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33227" y="1508760"/>
            <a:ext cx="1062533" cy="713232"/>
          </a:xfrm>
          <a:prstGeom prst="chevron">
            <a:avLst/>
          </a:prstGeom>
          <a:solidFill>
            <a:srgbClr val="FBEBED"/>
          </a:solidFill>
          <a:ln w="12700">
            <a:solidFill>
              <a:srgbClr val="FBEB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861243" y="1508760"/>
            <a:ext cx="78821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Supervise
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Overrides, telemetry, learning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77440"/>
          <a:ext cx="1138428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 — SDLC, tool handed 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state — AI lifecycle, agents supervised in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defines the need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writes a requirement / NTI; scope frozen at intake, then waits.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 owner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(business) owns the outcome after go-live and evolves it. Only 21% of firms have redesigned workflows — the practice most tied to EBIT impact</a:t>
                      </a:r>
                      <a:r>
                        <a:rPr lang="en-US" sz="900" dirty="0">
                          <a:solidFill>
                            <a:srgbClr val="5B6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builds and changes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IT builds per BU; no reuse across SSG, CSG, IWM, MO.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Forward-deployed engineer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co-builds in the ops pod from reusable agents — build once, reuse across BUs.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deploys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release after NTI → CDO → CTA → InfoSec (145 days today).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team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ships with pre-approved guardrails; staged ramp 10→25→50→100% replaces one-off approvals.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the work day-to-day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Analysts process every item; volume drives headcount — operations is 60–70% of a bank's cost base</a:t>
                      </a:r>
                      <a:r>
                        <a:rPr lang="en-US" sz="900" dirty="0">
                          <a:solidFill>
                            <a:srgbClr val="5B6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run the standard flow; analysts handle exceptions and quality. 84% of companies have not redesigned jobs for this yet</a:t>
                      </a:r>
                      <a:r>
                        <a:rPr lang="en-US" sz="900" dirty="0">
                          <a:solidFill>
                            <a:srgbClr val="5B6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supervises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 allocates queues; nobody "manages" a tool.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manager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(today's team lead / AVP) runs people + agents: thresholds, overrides, HITL sampling. 2–5 people can supervise 50–100 agents</a:t>
                      </a:r>
                      <a:r>
                        <a:rPr lang="en-US" sz="900" dirty="0">
                          <a:solidFill>
                            <a:srgbClr val="5B6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the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 reviews after build; annual RCSA; model risk sits with IT.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 &amp; control partner</a:t>
                      </a:r>
                      <a:r>
                        <a:rPr lang="en-US" sz="9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embedded from design; agent-level KRIs (override rate, drift) feed a continuous RCSA.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411480" y="5623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58338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McKinsey, AI in Asia: reimagining banking operations, Dec 2025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Deloitte, Rethinking operating models for humans with agents, Apr 2026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McKinsey, The state of AI, Mar 2025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297680" y="583387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McKinsey, The agentic organization, Sept 2025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ISO/IEC/IEEE 12207 — Software life cycle processes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800" u="sng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ISO/IEC 5338:2023 — AI system life cycle processes, Dec 2023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5623560"/>
            <a:ext cx="3611880" cy="868680"/>
          </a:xfrm>
          <a:prstGeom prst="rect">
            <a:avLst/>
          </a:prstGeom>
          <a:solidFill>
            <a:srgbClr val="FFF2A8"/>
          </a:solidFill>
          <a:ln w="9525">
            <a:solidFill>
              <a:srgbClr val="E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8257032" y="5641848"/>
            <a:ext cx="34747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  </a:t>
            </a:r>
            <a:r>
              <a:rPr lang="en-US" sz="8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New role titles vs responsibilities on existing grades. (2) Phase in which the first agent-manager role is created (proposed FY26–27).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950</Words>
  <Application>Microsoft Macintosh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x59078@365mmt.com</cp:lastModifiedBy>
  <cp:revision>1</cp:revision>
  <dcterms:created xsi:type="dcterms:W3CDTF">2026-09-11T07:38:48Z</dcterms:created>
  <dcterms:modified xsi:type="dcterms:W3CDTF">2026-09-11T07:56:10Z</dcterms:modified>
</cp:coreProperties>
</file>