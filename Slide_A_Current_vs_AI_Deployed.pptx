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Today an AI use case moves in a straight line: the business writes a requirement, a central engineer builds it, IT deploys it after a 145-day NTI cycle, and the business receives a tool it did not shape and does not manage. That model was fine for RPA. It does not work for agents, because agents keep changing after go-live: they need thresholds set, overrides reviewed and knowledge refreshed. That is operational work, not IT work.
Walk the two lifecycles. Left, SDLC: requirement, build, test, deploy, maintain - deterministic code, fixed test cases, and deployment is where the stable state begins. Right, ADLC: frame the outcome, compose reusable agents, evaluate behaviour (accuracy and hallucination rates, not pass/fail), activate in stages, then supervise and learn continuously - deployment is where active monitoring starts, not ends. The other difference SDLC has no equivalent for is the human-agent responsibility map: who decides, who approves, at what authority level.
The table shows ownership moving into operations: business use-case owners keep the outcome; forward-deployed engineers build alongside them from reusable marketplace agents; team leads become agent managers running hybrid teams; and risk partners sit in the pod rather than at the end of the queue. This is the same three-phase journey on the next slide, seen from the people side.
External evidence: operations is 60-70% of a bank's cost base, but 84% of companies have not redesigned jobs for AI and only about a fifth have redesigned workflows. The firms that report bottom-line impact are the ones that did.
Sources: McKinsey "AI in Asia: reimagining banking operations through agentic AI" (Dec 2025); Deloitte "Rethinking operating models for humans with agents" (Apr 2026); McKinsey "State of AI" (Mar 2025); McKinsey "The agentic organization" (Sept 2025); EY FDE roles (Apr 2026); Microsoft Work Trend Index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mckinsey.com/capabilities/operations/our-insights/ai-in-asia-reimagining-banking-operations-through-agentic-ai" TargetMode="External"/><Relationship Id="rId2" Type="http://schemas.openxmlformats.org/officeDocument/2006/relationships/hyperlink" Target="https://www.deloitte.com/us/en/insights/topics/talent/operating-models-for-humans-ai-agents.html" TargetMode="External"/><Relationship Id="rId3" Type="http://schemas.openxmlformats.org/officeDocument/2006/relationships/hyperlink" Target="https://www.mckinsey.com/capabilities/quantumblack/our-insights/the-state-of-ai-how-organizations-are-rewiring-to-capture-value" TargetMode="External"/><Relationship Id="rId4" Type="http://schemas.openxmlformats.org/officeDocument/2006/relationships/hyperlink" Target="https://www.mckinsey.com/capabilities/people-and-organizational-performance/our-insights/the-agentic-organization-contours-of-the-next-paradigm-for-the-ai-era" TargetMode="External"/><Relationship Id="rId5" Type="http://schemas.openxmlformats.org/officeDocument/2006/relationships/hyperlink" Target="https://www.iso.org/standard/63712.html" TargetMode="External"/><Relationship Id="rId6" Type="http://schemas.openxmlformats.org/officeDocument/2006/relationships/hyperlink" Target="https://www.iso.org/standard/81118.html" TargetMode="External"/><Relationship Id="rId7" Type="http://schemas.openxmlformats.org/officeDocument/2006/relationships/hyperlink" Target="https://www.epam.com/insights/ai/blogs/agentic-development-lifecycle-explained" TargetMode="External"/><Relationship Id="rId8" Type="http://schemas.openxmlformats.org/officeDocument/2006/relationships/hyperlink" Target="https://www.palo-it.com/en/blog/what-is-adlc" TargetMode="External"/><Relationship Id="rId9" Type="http://schemas.openxmlformats.org/officeDocument/2006/relationships/hyperlink" Target="https://cycode.com/blog/agentic-development-lifecycle-adlc/" TargetMode="Externa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32004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C0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changes who does the work </a:t>
            </a:r>
            <a:pPr indent="0" marL="0">
              <a:buNone/>
            </a:pPr>
            <a:r>
              <a:rPr lang="en-US" sz="22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how it gets done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86868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EVOLVING OPERATING WORKFLOWS  ·  FROM THE SOFTWARE DEVELOPMENT LIFECYCLE (SDLC) TO THE AI SYSTEM LIFECYCLE — "ADLC" IN INDUSTRY USAGE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1298448"/>
            <a:ext cx="5532120" cy="365760"/>
          </a:xfrm>
          <a:prstGeom prst="rect">
            <a:avLst/>
          </a:prstGeom>
          <a:solidFill>
            <a:srgbClr val="6B7580"/>
          </a:solidFill>
          <a:ln w="12700">
            <a:solidFill>
              <a:srgbClr val="6B758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21208" y="129844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STATE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— build a tool, hand it over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263640" y="1298448"/>
            <a:ext cx="5532120" cy="365760"/>
          </a:xfrm>
          <a:prstGeom prst="rect">
            <a:avLst/>
          </a:prstGeom>
          <a:solidFill>
            <a:srgbClr val="BC0018"/>
          </a:solidFill>
          <a:ln w="12700">
            <a:solidFill>
              <a:srgbClr val="BC001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73368" y="129844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STATE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lifecycle (ADLC) — compose agents, supervise continuously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755648"/>
            <a:ext cx="1062533" cy="713232"/>
          </a:xfrm>
          <a:prstGeom prst="chevron">
            <a:avLst/>
          </a:prstGeom>
          <a:solidFill>
            <a:srgbClr val="E6EAEE"/>
          </a:solidFill>
          <a:ln w="12700">
            <a:solidFill>
              <a:srgbClr val="E6EA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39496" y="1755648"/>
            <a:ext cx="78821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Requirement
</a:t>
            </a:r>
            <a:pPr algn="l" indent="0" marL="0">
              <a:buNone/>
            </a:pPr>
            <a:r>
              <a:rPr lang="en-US" sz="8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writes BRD / NTI; scope frozen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528877" y="1755648"/>
            <a:ext cx="1062533" cy="713232"/>
          </a:xfrm>
          <a:prstGeom prst="chevron">
            <a:avLst/>
          </a:prstGeom>
          <a:solidFill>
            <a:srgbClr val="E6EAEE"/>
          </a:solidFill>
          <a:ln w="12700">
            <a:solidFill>
              <a:srgbClr val="E6EA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656893" y="1755648"/>
            <a:ext cx="78821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Build
</a:t>
            </a:r>
            <a:pPr algn="l" indent="0" marL="0">
              <a:buNone/>
            </a:pPr>
            <a:r>
              <a:rPr lang="en-US" sz="8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developer codes to spec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646274" y="1755648"/>
            <a:ext cx="1062533" cy="713232"/>
          </a:xfrm>
          <a:prstGeom prst="chevron">
            <a:avLst/>
          </a:prstGeom>
          <a:solidFill>
            <a:srgbClr val="E6EAEE"/>
          </a:solidFill>
          <a:ln w="12700">
            <a:solidFill>
              <a:srgbClr val="E6EA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774290" y="1755648"/>
            <a:ext cx="78821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Test
</a:t>
            </a:r>
            <a:pPr algn="l" indent="0" marL="0">
              <a:buNone/>
            </a:pPr>
            <a:r>
              <a:rPr lang="en-US" sz="8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UAT against fixed test cases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763670" y="1755648"/>
            <a:ext cx="1062533" cy="713232"/>
          </a:xfrm>
          <a:prstGeom prst="chevron">
            <a:avLst/>
          </a:prstGeom>
          <a:solidFill>
            <a:srgbClr val="E6EAEE"/>
          </a:solidFill>
          <a:ln w="12700">
            <a:solidFill>
              <a:srgbClr val="E6EA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891686" y="1755648"/>
            <a:ext cx="78821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Deploy
</a:t>
            </a:r>
            <a:pPr algn="l" indent="0" marL="0">
              <a:buNone/>
            </a:pPr>
            <a:r>
              <a:rPr lang="en-US" sz="8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release; "stable state" begins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881067" y="1755648"/>
            <a:ext cx="1062533" cy="713232"/>
          </a:xfrm>
          <a:prstGeom prst="chevron">
            <a:avLst/>
          </a:prstGeom>
          <a:solidFill>
            <a:srgbClr val="E6EAEE"/>
          </a:solidFill>
          <a:ln w="12700">
            <a:solidFill>
              <a:srgbClr val="E6EA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09083" y="1755648"/>
            <a:ext cx="78821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Maintain
</a:t>
            </a:r>
            <a:pPr algn="l" indent="0" marL="0">
              <a:buNone/>
            </a:pPr>
            <a:r>
              <a:rPr lang="en-US" sz="8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request per fix; users report bugs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63640" y="1755648"/>
            <a:ext cx="1062533" cy="713232"/>
          </a:xfrm>
          <a:prstGeom prst="chevron">
            <a:avLst/>
          </a:prstGeom>
          <a:solidFill>
            <a:srgbClr val="FBEBED"/>
          </a:solidFill>
          <a:ln w="12700">
            <a:solidFill>
              <a:srgbClr val="FBEBE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91656" y="1755648"/>
            <a:ext cx="78821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Frame
</a:t>
            </a:r>
            <a:pPr algn="l" indent="0" marL="0">
              <a:buNone/>
            </a:pPr>
            <a:r>
              <a:rPr lang="en-US" sz="8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Outcome, hypotheses, human–agent responsibility map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381037" y="1755648"/>
            <a:ext cx="1062533" cy="713232"/>
          </a:xfrm>
          <a:prstGeom prst="chevron">
            <a:avLst/>
          </a:prstGeom>
          <a:solidFill>
            <a:srgbClr val="FBEBED"/>
          </a:solidFill>
          <a:ln w="12700">
            <a:solidFill>
              <a:srgbClr val="FBEBE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09053" y="1755648"/>
            <a:ext cx="78821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Compose
</a:t>
            </a:r>
            <a:pPr algn="l" indent="0" marL="0">
              <a:buNone/>
            </a:pPr>
            <a:r>
              <a:rPr lang="en-US" sz="8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agents, prompts, tools — not new code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8498434" y="1755648"/>
            <a:ext cx="1062533" cy="713232"/>
          </a:xfrm>
          <a:prstGeom prst="chevron">
            <a:avLst/>
          </a:prstGeom>
          <a:solidFill>
            <a:srgbClr val="FBEBED"/>
          </a:solidFill>
          <a:ln w="12700">
            <a:solidFill>
              <a:srgbClr val="FBEBE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26450" y="1755648"/>
            <a:ext cx="78821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Evaluate
</a:t>
            </a:r>
            <a:pPr algn="l" indent="0" marL="0">
              <a:buNone/>
            </a:pPr>
            <a:r>
              <a:rPr lang="en-US" sz="8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Accuracy, hallucination rate, guardrails, HITL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9615830" y="1755648"/>
            <a:ext cx="1062533" cy="713232"/>
          </a:xfrm>
          <a:prstGeom prst="chevron">
            <a:avLst/>
          </a:prstGeom>
          <a:solidFill>
            <a:srgbClr val="FBEBED"/>
          </a:solidFill>
          <a:ln w="12700">
            <a:solidFill>
              <a:srgbClr val="FBEBE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43846" y="1755648"/>
            <a:ext cx="78821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Activate
</a:t>
            </a:r>
            <a:pPr algn="l" indent="0" marL="0">
              <a:buNone/>
            </a:pPr>
            <a:r>
              <a:rPr lang="en-US" sz="8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ramp; monitoring starts here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0733227" y="1755648"/>
            <a:ext cx="1062533" cy="713232"/>
          </a:xfrm>
          <a:prstGeom prst="chevron">
            <a:avLst/>
          </a:prstGeom>
          <a:solidFill>
            <a:srgbClr val="FBEBED"/>
          </a:solidFill>
          <a:ln w="12700">
            <a:solidFill>
              <a:srgbClr val="FBEBE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861243" y="1755648"/>
            <a:ext cx="78821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Supervise
</a:t>
            </a:r>
            <a:pPr algn="l" indent="0" marL="0">
              <a:buNone/>
            </a:pPr>
            <a:r>
              <a:rPr lang="en-US" sz="8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Telemetry, override review, continuous learning</a:t>
            </a:r>
            <a:endParaRPr lang="en-US" sz="9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606040"/>
          <a:ext cx="113842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572000"/>
                <a:gridCol w="50749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state — SDLC, tool handed over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Future state — ADLC, agents supervised in operations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4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defines the need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24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 writes a requirement / NTI; scope frozen at intake, then waits.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24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 use-case owner defines the outcome and keeps owning it after go-live; scope evolves with the agent.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4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builds and changes it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24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IT / vendor change request per BU; no reuse across SSG, CSG, IWM, MO.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24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Forward-deployed engineer (FDE) co-builds inside the ops pod from marketplace agents (capture, validation, triage) — build once, reuse across BUs.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4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deploys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24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release cycle after NTI → CDO → CTA → InfoSec (145 days average today).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24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 team ships with pre-approved guardrails; staged ramp 10→25→50→100% replaces one-off approvals.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4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does the work day-to-day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24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Analysts process every item end-to-end; volume drives headcount.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24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run the standard flow; analysts move to exceptions, novel cases and quality — deep domain experts rather than processors.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4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supervises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24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lead allocates queues and checks throughput; nobody "manages" a tool.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24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manager (today's team lead / AVP) runs a hybrid team of people + agents: sets thresholds, reviews overrides, tunes HITL sampling — accountable for agent output as for a team member's.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4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owns the risk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24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R&amp;C reviews after build; annual RCSA at process level; model risk sits with IT.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24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risk &amp; control partner embedded from design; agent-level KRIs (override rate, drift) feed a continuous RCSA.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411480" y="51206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C0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THAT EMERGE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2011680" y="5120640"/>
            <a:ext cx="187452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BC001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103120" y="51206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Use-case owner
</a:t>
            </a:r>
            <a:pPr indent="0" marL="0">
              <a:buNone/>
            </a:pPr>
            <a:r>
              <a:rPr lang="en-US" sz="800" dirty="0">
                <a:solidFill>
                  <a:srgbClr val="5B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business, owns outcome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3977640" y="5120640"/>
            <a:ext cx="187452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BC001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069080" y="51206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Forward-deployed engineer
</a:t>
            </a:r>
            <a:pPr indent="0" marL="0">
              <a:buNone/>
            </a:pPr>
            <a:r>
              <a:rPr lang="en-US" sz="800" dirty="0">
                <a:solidFill>
                  <a:srgbClr val="5B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in the pod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5943600" y="5120640"/>
            <a:ext cx="187452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BC0018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035040" y="51206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manager
</a:t>
            </a:r>
            <a:pPr indent="0" marL="0">
              <a:buNone/>
            </a:pPr>
            <a:r>
              <a:rPr lang="en-US" sz="800" dirty="0">
                <a:solidFill>
                  <a:srgbClr val="5B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team lead, owns agent output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7909560" y="5120640"/>
            <a:ext cx="187452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BC0018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001000" y="51206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risk &amp; control partner
</a:t>
            </a:r>
            <a:pPr indent="0" marL="0">
              <a:buNone/>
            </a:pPr>
            <a:r>
              <a:rPr lang="en-US" sz="800" dirty="0">
                <a:solidFill>
                  <a:srgbClr val="5B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line, embedded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9875520" y="5120640"/>
            <a:ext cx="187452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BC001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9966960" y="51206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curator
</a:t>
            </a:r>
            <a:pPr indent="0" marL="0">
              <a:buNone/>
            </a:pPr>
            <a:r>
              <a:rPr lang="en-US" sz="800" dirty="0">
                <a:solidFill>
                  <a:srgbClr val="5B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SOPs, prompts, eval sets</a:t>
            </a:r>
            <a:endParaRPr lang="en-US" sz="900" dirty="0"/>
          </a:p>
        </p:txBody>
      </p:sp>
      <p:sp>
        <p:nvSpPr>
          <p:cNvPr id="40" name="Text 37"/>
          <p:cNvSpPr txBox="1"/>
          <p:nvPr/>
        </p:nvSpPr>
        <p:spPr>
          <a:xfrm>
            <a:off x="411480" y="5669280"/>
            <a:ext cx="7589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750" b="1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u="sng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Operations is 60–70% of a bank's cost base</a:t>
            </a:r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5B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McKinsey, AI in Asia: reimagining banking operations through agentic AI, Dec 2025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u="sng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84% of companies have not redesigned jobs for AI</a:t>
            </a:r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5B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Deloitte, Rethinking operating models for humans with agents, Apr 2026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u="sng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Only 21% have redesigned workflows — the practice most correlated with EBIT impact</a:t>
            </a:r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5B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McKinsey, The state of AI, Mar 2025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u="sng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2–5 people can already supervise 50–100 agents</a:t>
            </a:r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5B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McKinsey, The agentic organization, Sept 2025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u="sng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SDLC: ISO/IEC/IEEE 12207 — software life cycle processes</a:t>
            </a:r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5B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long-standing standard behind today's build-test-deploy model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u="sng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system lifecycle: ISO/IEC 5338:2023</a:t>
            </a:r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5B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extends 12207/15288 with AI-specific processes (Dec 2023); aligns with the AI lifecycle on our guardrails slide</a:t>
            </a:r>
            <a:endParaRPr lang="en-US" sz="7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5B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ADLC (agentic development lifecycle): </a:t>
            </a:r>
            <a:pPr indent="0" marL="0">
              <a:spcAft>
                <a:spcPts val="100"/>
              </a:spcAft>
              <a:buNone/>
            </a:pPr>
            <a:r>
              <a:rPr lang="en-US" sz="750" u="sng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EPAM, Feb 2026</a:t>
            </a:r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5B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spcAft>
                <a:spcPts val="100"/>
              </a:spcAft>
              <a:buNone/>
            </a:pPr>
            <a:r>
              <a:rPr lang="en-US" sz="750" u="sng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Palo IT</a:t>
            </a:r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5B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spcAft>
                <a:spcPts val="100"/>
              </a:spcAft>
              <a:buNone/>
            </a:pPr>
            <a:r>
              <a:rPr lang="en-US" sz="750" u="sng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Cycode</a:t>
            </a:r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5B6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emerging practitioner term (2025–26), not yet a standard</a:t>
            </a:r>
            <a:endParaRPr lang="en-US" sz="750" dirty="0"/>
          </a:p>
        </p:txBody>
      </p:sp>
      <p:sp>
        <p:nvSpPr>
          <p:cNvPr id="41" name="Shape 38"/>
          <p:cNvSpPr/>
          <p:nvPr/>
        </p:nvSpPr>
        <p:spPr>
          <a:xfrm>
            <a:off x="8183880" y="5669280"/>
            <a:ext cx="3611880" cy="914400"/>
          </a:xfrm>
          <a:prstGeom prst="rect">
            <a:avLst/>
          </a:prstGeom>
          <a:solidFill>
            <a:srgbClr val="FFF2A8"/>
          </a:solidFill>
          <a:ln w="9525">
            <a:solidFill>
              <a:srgbClr val="E5B80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57032" y="5687568"/>
            <a:ext cx="34747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POINTS  </a:t>
            </a:r>
            <a:pPr indent="0" marL="0">
              <a:buNone/>
            </a:pPr>
            <a:r>
              <a:rPr lang="en-US" sz="8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New role titles vs responsibilities on existing grades. (2) Phase in which the first agent-manager role is created (proposed FY26–27). (3) Confirm label for the future-state lifecycle: ISO "AI system lifecycle" vs "ADLC" — ADLC is not yet a standard term.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2026-09-10T14:13:56Z</dcterms:created>
  <dcterms:modified xsi:type="dcterms:W3CDTF">2026-09-10T14:13:56Z</dcterms:modified>
</cp:coreProperties>
</file>