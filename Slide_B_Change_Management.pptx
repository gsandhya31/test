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0" d="100"/>
          <a:sy n="120" d="100"/>
        </p:scale>
        <p:origin x="28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067724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technology on the previous slides is the easy part. BCG's finding across AI leaders is that they spend 10% of the effort on algorithms, 20% on data and technology and 70% on people, process and culture. Our plan is weighted the same way, across four lenses.
People: 75% of roles need reshaping in the next two to three years, and 63% of rollout problems are human rather than technical - so we redesign roles with career paths, not just training, and give every person at least five hours of AI training with coaching, the threshold BCG links to sustained use. Measured by the share of staff using AI for a third or more of daily tasks and a quarterly trust pulse.
Process: value comes from redesigning the workflow around the agent, and only 21% of firms have done it. Every use case ships with a redesigned SOP, and NTI reform - pre-approved patterns for reused agents, fewer and bigger use cases - takes the cycle from 145 days towards under 60.
Technology is the "20": one platform path from FY26 with an eight-week release cadence, which is the pace JPMorgan runs for its LLM Suite, and token metering from FY27. Measured by agents reused across BUs (today zero) and use cases in production (today 15 of 37).
Risk: Gartner expected 30% of gen-AI projects to be abandoned after proof of concept, and McKinsey finds senior oversight of AI governance is the factor most tied to impact. So a risk partner sits in every pod, the RCSA is updated for agents - the next slide - and a named executive owns AI governance.
The bottom bar phases the four lenses across Assist, Orchestrate and Autonomize.
References [1]-[7] are on the slide.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www.prosci.com/blog/adkar-for-ai-adoption" TargetMode="External"/><Relationship Id="rId3" Type="http://schemas.openxmlformats.org/officeDocument/2006/relationships/hyperlink" Target="https://www.bcg.com/publications/2025/closing-the-ai-impact-gap" TargetMode="External"/><Relationship Id="rId7" Type="http://schemas.openxmlformats.org/officeDocument/2006/relationships/hyperlink" Target="https://www.mckinsey.com/capabilities/tech-and-ai/our-insights/superagency-in-the-workplace-empowering-people-to-unlock-ais-full-potential-at-work" TargetMode="External"/><Relationship Id="rId12" Type="http://schemas.openxmlformats.org/officeDocument/2006/relationships/hyperlink" Target="https://www.artificialintelligence-news.com/news/jpmorgan-chase-ai-strategy-2025/"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https://www.mckinsey.com/capabilities/people-and-organizational-performance/our-insights/ai-is-everywhere-the-agentic-organization-isnt-yet" TargetMode="External"/><Relationship Id="rId11" Type="http://schemas.openxmlformats.org/officeDocument/2006/relationships/hyperlink" Target="https://store.hbr.org/product/why-ai-adoption-stalls-according-to-industry-data/H092ON" TargetMode="External"/><Relationship Id="rId5" Type="http://schemas.openxmlformats.org/officeDocument/2006/relationships/hyperlink" Target="https://www.mckinsey.com/capabilities/quantumblack/our-insights/the-state-of-ai-how-organizations-are-rewiring-to-capture-value" TargetMode="External"/><Relationship Id="rId10" Type="http://schemas.openxmlformats.org/officeDocument/2006/relationships/hyperlink" Target="https://www.deloitte.com/us/en/what-we-do/capabilities/applied-artificial-intelligence/content/state-of-generative-ai-in-enterprise.html" TargetMode="External"/><Relationship Id="rId4" Type="http://schemas.openxmlformats.org/officeDocument/2006/relationships/hyperlink" Target="https://www.bcg.com/publications/2025/ai-at-work-momentum-builds-but-gaps-remain" TargetMode="External"/><Relationship Id="rId9" Type="http://schemas.openxmlformats.org/officeDocument/2006/relationships/hyperlink" Target="https://www.gartner.com/en/newsroom/press-releases/2024-07-29-gartner-predicts-30-percent-of-generative-ai-projects-will-be-abandoned-after-proof-of-concept-by-end-of-2025"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11480" y="320040"/>
            <a:ext cx="8412480" cy="502920"/>
          </a:xfrm>
          <a:prstGeom prst="rect">
            <a:avLst/>
          </a:prstGeom>
          <a:noFill/>
          <a:ln/>
        </p:spPr>
        <p:txBody>
          <a:bodyPr wrap="square" lIns="0" tIns="0" rIns="0" bIns="0" rtlCol="0" anchor="t"/>
          <a:lstStyle/>
          <a:p>
            <a:pPr marL="0" indent="0">
              <a:buNone/>
            </a:pPr>
            <a:r>
              <a:rPr lang="en-US" sz="2000" b="1" dirty="0">
                <a:solidFill>
                  <a:srgbClr val="BC0018"/>
                </a:solidFill>
                <a:latin typeface="Calibri" pitchFamily="34" charset="0"/>
                <a:ea typeface="Calibri" pitchFamily="34" charset="-122"/>
                <a:cs typeface="Calibri" pitchFamily="34" charset="-120"/>
              </a:rPr>
              <a:t>Making the change sustainable</a:t>
            </a:r>
            <a:endParaRPr lang="en-US" sz="2000" dirty="0"/>
          </a:p>
        </p:txBody>
      </p:sp>
      <p:graphicFrame>
        <p:nvGraphicFramePr>
          <p:cNvPr id="6" name="Table 0"/>
          <p:cNvGraphicFramePr>
            <a:graphicFrameLocks noGrp="1"/>
          </p:cNvGraphicFramePr>
          <p:nvPr>
            <p:extLst>
              <p:ext uri="{D42A27DB-BD31-4B8C-83A1-F6EECF244321}">
                <p14:modId xmlns:p14="http://schemas.microsoft.com/office/powerpoint/2010/main" val="3901460399"/>
              </p:ext>
            </p:extLst>
          </p:nvPr>
        </p:nvGraphicFramePr>
        <p:xfrm>
          <a:off x="411479" y="1027952"/>
          <a:ext cx="11220539" cy="3255264"/>
        </p:xfrm>
        <a:graphic>
          <a:graphicData uri="http://schemas.openxmlformats.org/drawingml/2006/table">
            <a:tbl>
              <a:tblPr/>
              <a:tblGrid>
                <a:gridCol w="1474699">
                  <a:extLst>
                    <a:ext uri="{9D8B030D-6E8A-4147-A177-3AD203B41FA5}">
                      <a16:colId xmlns:a16="http://schemas.microsoft.com/office/drawing/2014/main" val="20000"/>
                    </a:ext>
                  </a:extLst>
                </a:gridCol>
                <a:gridCol w="3141751">
                  <a:extLst>
                    <a:ext uri="{9D8B030D-6E8A-4147-A177-3AD203B41FA5}">
                      <a16:colId xmlns:a16="http://schemas.microsoft.com/office/drawing/2014/main" val="20001"/>
                    </a:ext>
                  </a:extLst>
                </a:gridCol>
                <a:gridCol w="3526455">
                  <a:extLst>
                    <a:ext uri="{9D8B030D-6E8A-4147-A177-3AD203B41FA5}">
                      <a16:colId xmlns:a16="http://schemas.microsoft.com/office/drawing/2014/main" val="20002"/>
                    </a:ext>
                  </a:extLst>
                </a:gridCol>
                <a:gridCol w="3077634">
                  <a:extLst>
                    <a:ext uri="{9D8B030D-6E8A-4147-A177-3AD203B41FA5}">
                      <a16:colId xmlns:a16="http://schemas.microsoft.com/office/drawing/2014/main" val="20003"/>
                    </a:ext>
                  </a:extLst>
                </a:gridCol>
              </a:tblGrid>
              <a:tr h="256032">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Lens</a:t>
                      </a:r>
                      <a:endParaRPr lang="en-US" sz="1050" dirty="0">
                        <a:latin typeface="Calibri" charset="0"/>
                        <a:ea typeface="Calibri" charset="0"/>
                        <a:cs typeface="Calibri" charset="0"/>
                      </a:endParaRPr>
                    </a:p>
                  </a:txBody>
                  <a:tcPr marL="64008" marR="64008"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1B243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What changes</a:t>
                      </a:r>
                      <a:endParaRPr lang="en-US" sz="1050" dirty="0">
                        <a:latin typeface="Calibri" charset="0"/>
                        <a:ea typeface="Calibri" charset="0"/>
                        <a:cs typeface="Calibri" charset="0"/>
                      </a:endParaRPr>
                    </a:p>
                  </a:txBody>
                  <a:tcPr marL="64008" marR="64008"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1B243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What we will do</a:t>
                      </a:r>
                      <a:endParaRPr lang="en-US" sz="1050" dirty="0">
                        <a:latin typeface="Calibri" charset="0"/>
                        <a:ea typeface="Calibri" charset="0"/>
                        <a:cs typeface="Calibri" charset="0"/>
                      </a:endParaRPr>
                    </a:p>
                  </a:txBody>
                  <a:tcPr marL="64008" marR="64008"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1B243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How we measure it</a:t>
                      </a:r>
                      <a:endParaRPr lang="en-US" sz="1050" dirty="0">
                        <a:latin typeface="Calibri" charset="0"/>
                        <a:ea typeface="Calibri" charset="0"/>
                        <a:cs typeface="Calibri" charset="0"/>
                      </a:endParaRPr>
                    </a:p>
                  </a:txBody>
                  <a:tcPr marL="64008" marR="64008"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1B2431"/>
                    </a:solidFill>
                  </a:tcPr>
                </a:tc>
                <a:extLst>
                  <a:ext uri="{0D108BD9-81ED-4DB2-BD59-A6C34878D82A}">
                    <a16:rowId xmlns:a16="http://schemas.microsoft.com/office/drawing/2014/main" val="10000"/>
                  </a:ext>
                </a:extLst>
              </a:tr>
              <a:tr h="749808">
                <a:tc>
                  <a:txBody>
                    <a:bodyPr/>
                    <a:lstStyle/>
                    <a:p>
                      <a:pPr marL="0" indent="0">
                        <a:buNone/>
                      </a:pPr>
                      <a:r>
                        <a:rPr lang="en-US" sz="1050" b="1" dirty="0">
                          <a:solidFill>
                            <a:srgbClr val="BC0018"/>
                          </a:solidFill>
                          <a:latin typeface="Calibri" pitchFamily="34" charset="0"/>
                          <a:ea typeface="Calibri" pitchFamily="34" charset="-122"/>
                          <a:cs typeface="Calibri" pitchFamily="34" charset="-120"/>
                        </a:rPr>
                        <a:t>PEOPLE
</a:t>
                      </a:r>
                      <a:r>
                        <a:rPr lang="en-US" sz="900" dirty="0">
                          <a:solidFill>
                            <a:srgbClr val="5B6673"/>
                          </a:solidFill>
                          <a:latin typeface="Calibri" pitchFamily="34" charset="0"/>
                          <a:ea typeface="Calibri" pitchFamily="34" charset="-122"/>
                          <a:cs typeface="Calibri" pitchFamily="34" charset="-120"/>
                        </a:rPr>
                        <a:t>HR / L&amp;D + Ops leads</a:t>
                      </a:r>
                      <a:endParaRPr lang="en-US" sz="1400" dirty="0">
                        <a:latin typeface="Calibri" charset="0"/>
                        <a:ea typeface="Calibri" charset="0"/>
                        <a:cs typeface="Calibri" charset="0"/>
                      </a:endParaRPr>
                    </a:p>
                  </a:txBody>
                  <a:tcPr marL="64008" marR="64008"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F4F6F8"/>
                    </a:solidFill>
                  </a:tcPr>
                </a:tc>
                <a:tc>
                  <a:txBody>
                    <a:bodyPr/>
                    <a:lstStyle/>
                    <a:p>
                      <a:pPr marL="101600" indent="-101600">
                        <a:spcAft>
                          <a:spcPts val="200"/>
                        </a:spcAft>
                        <a:buSzPct val="100000"/>
                        <a:buChar char="•"/>
                      </a:pPr>
                      <a:r>
                        <a:rPr lang="en-US" sz="1000" dirty="0">
                          <a:solidFill>
                            <a:srgbClr val="1B2431"/>
                          </a:solidFill>
                          <a:latin typeface="Calibri" pitchFamily="34" charset="0"/>
                          <a:ea typeface="Calibri" pitchFamily="34" charset="-122"/>
                          <a:cs typeface="Calibri" pitchFamily="34" charset="-120"/>
                        </a:rPr>
                        <a:t>75% of roles need reshaping in 2–3 years [4]</a:t>
                      </a:r>
                      <a:endParaRPr lang="en-US" sz="1000" dirty="0">
                        <a:latin typeface="Calibri" charset="0"/>
                        <a:ea typeface="Calibri" charset="0"/>
                        <a:cs typeface="Calibri" charset="0"/>
                      </a:endParaRPr>
                    </a:p>
                    <a:p>
                      <a:pPr marL="101600" indent="-101600">
                        <a:spcAft>
                          <a:spcPts val="200"/>
                        </a:spcAft>
                        <a:buSzPct val="100000"/>
                        <a:buChar char="•"/>
                      </a:pPr>
                      <a:r>
                        <a:rPr lang="en-US" sz="1000" dirty="0">
                          <a:solidFill>
                            <a:srgbClr val="1B2431"/>
                          </a:solidFill>
                          <a:latin typeface="Calibri" pitchFamily="34" charset="0"/>
                          <a:ea typeface="Calibri" pitchFamily="34" charset="-122"/>
                          <a:cs typeface="Calibri" pitchFamily="34" charset="-120"/>
                        </a:rPr>
                        <a:t>63% of rollout problems are human, not technical [5]</a:t>
                      </a:r>
                      <a:endParaRPr lang="en-US" sz="1000" dirty="0">
                        <a:latin typeface="Calibri" charset="0"/>
                        <a:ea typeface="Calibri" charset="0"/>
                        <a:cs typeface="Calibri" charset="0"/>
                      </a:endParaRPr>
                    </a:p>
                  </a:txBody>
                  <a:tcPr marL="64008" marR="64008"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marL="101600" indent="-101600">
                        <a:spcAft>
                          <a:spcPts val="200"/>
                        </a:spcAft>
                        <a:buSzPct val="100000"/>
                        <a:buChar char="•"/>
                      </a:pPr>
                      <a:r>
                        <a:rPr lang="en-US" sz="1000" dirty="0">
                          <a:solidFill>
                            <a:srgbClr val="1B2431"/>
                          </a:solidFill>
                          <a:latin typeface="Calibri" pitchFamily="34" charset="0"/>
                          <a:ea typeface="Calibri" pitchFamily="34" charset="-122"/>
                          <a:cs typeface="Calibri" pitchFamily="34" charset="-120"/>
                        </a:rPr>
                        <a:t>Role redesign per slide 1, with career paths</a:t>
                      </a:r>
                      <a:endParaRPr lang="en-US" sz="1000" dirty="0">
                        <a:latin typeface="Calibri" charset="0"/>
                        <a:ea typeface="Calibri" charset="0"/>
                        <a:cs typeface="Calibri" charset="0"/>
                      </a:endParaRPr>
                    </a:p>
                    <a:p>
                      <a:pPr marL="101600" indent="-101600">
                        <a:spcAft>
                          <a:spcPts val="200"/>
                        </a:spcAft>
                        <a:buSzPct val="100000"/>
                        <a:buChar char="•"/>
                      </a:pPr>
                      <a:r>
                        <a:rPr lang="en-US" sz="1000" dirty="0">
                          <a:solidFill>
                            <a:srgbClr val="1B2431"/>
                          </a:solidFill>
                          <a:latin typeface="Calibri" pitchFamily="34" charset="0"/>
                          <a:ea typeface="Calibri" pitchFamily="34" charset="-122"/>
                          <a:cs typeface="Calibri" pitchFamily="34" charset="-120"/>
                        </a:rPr>
                        <a:t>≥5 h AI training + coaching per person [2]</a:t>
                      </a:r>
                      <a:endParaRPr lang="en-US" sz="1000" dirty="0">
                        <a:latin typeface="Calibri" charset="0"/>
                        <a:ea typeface="Calibri" charset="0"/>
                        <a:cs typeface="Calibri" charset="0"/>
                      </a:endParaRPr>
                    </a:p>
                  </a:txBody>
                  <a:tcPr marL="64008" marR="64008"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marL="101600" indent="-101600">
                        <a:spcAft>
                          <a:spcPts val="200"/>
                        </a:spcAft>
                        <a:buSzPct val="100000"/>
                        <a:buChar char="•"/>
                      </a:pPr>
                      <a:r>
                        <a:rPr lang="en-US" sz="1000" dirty="0">
                          <a:solidFill>
                            <a:srgbClr val="1B2431"/>
                          </a:solidFill>
                          <a:latin typeface="Calibri" pitchFamily="34" charset="0"/>
                          <a:ea typeface="Calibri" pitchFamily="34" charset="-122"/>
                          <a:cs typeface="Calibri" pitchFamily="34" charset="-120"/>
                        </a:rPr>
                        <a:t>% staff using AI for ≥30% of daily tasks</a:t>
                      </a:r>
                      <a:endParaRPr lang="en-US" sz="1000" dirty="0">
                        <a:latin typeface="Calibri" charset="0"/>
                        <a:ea typeface="Calibri" charset="0"/>
                        <a:cs typeface="Calibri" charset="0"/>
                      </a:endParaRPr>
                    </a:p>
                    <a:p>
                      <a:pPr marL="101600" indent="-101600">
                        <a:spcAft>
                          <a:spcPts val="200"/>
                        </a:spcAft>
                        <a:buSzPct val="100000"/>
                        <a:buChar char="•"/>
                      </a:pPr>
                      <a:r>
                        <a:rPr lang="en-US" sz="1000" dirty="0">
                          <a:solidFill>
                            <a:srgbClr val="1B2431"/>
                          </a:solidFill>
                          <a:latin typeface="Calibri" pitchFamily="34" charset="0"/>
                          <a:ea typeface="Calibri" pitchFamily="34" charset="-122"/>
                          <a:cs typeface="Calibri" pitchFamily="34" charset="-120"/>
                        </a:rPr>
                        <a:t>Quarterly trust / sentiment pulse</a:t>
                      </a:r>
                      <a:endParaRPr lang="en-US" sz="1000" dirty="0">
                        <a:latin typeface="Calibri" charset="0"/>
                        <a:ea typeface="Calibri" charset="0"/>
                        <a:cs typeface="Calibri" charset="0"/>
                      </a:endParaRPr>
                    </a:p>
                  </a:txBody>
                  <a:tcPr marL="64008" marR="64008"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extLst>
                  <a:ext uri="{0D108BD9-81ED-4DB2-BD59-A6C34878D82A}">
                    <a16:rowId xmlns:a16="http://schemas.microsoft.com/office/drawing/2014/main" val="10001"/>
                  </a:ext>
                </a:extLst>
              </a:tr>
              <a:tr h="749808">
                <a:tc>
                  <a:txBody>
                    <a:bodyPr/>
                    <a:lstStyle/>
                    <a:p>
                      <a:pPr marL="0" indent="0">
                        <a:buNone/>
                      </a:pPr>
                      <a:r>
                        <a:rPr lang="en-US" sz="1050" b="1" dirty="0">
                          <a:solidFill>
                            <a:srgbClr val="BC0018"/>
                          </a:solidFill>
                          <a:latin typeface="Calibri" pitchFamily="34" charset="0"/>
                          <a:ea typeface="Calibri" pitchFamily="34" charset="-122"/>
                          <a:cs typeface="Calibri" pitchFamily="34" charset="-120"/>
                        </a:rPr>
                        <a:t>PROCESS
</a:t>
                      </a:r>
                      <a:r>
                        <a:rPr lang="en-US" sz="900" dirty="0">
                          <a:solidFill>
                            <a:srgbClr val="5B6673"/>
                          </a:solidFill>
                          <a:latin typeface="Calibri" pitchFamily="34" charset="0"/>
                          <a:ea typeface="Calibri" pitchFamily="34" charset="-122"/>
                          <a:cs typeface="Calibri" pitchFamily="34" charset="-120"/>
                        </a:rPr>
                        <a:t>Use-case owners + AI CoE</a:t>
                      </a:r>
                      <a:endParaRPr lang="en-US" sz="1400" dirty="0">
                        <a:latin typeface="Calibri" charset="0"/>
                        <a:ea typeface="Calibri" charset="0"/>
                        <a:cs typeface="Calibri" charset="0"/>
                      </a:endParaRPr>
                    </a:p>
                  </a:txBody>
                  <a:tcPr marL="64008" marR="64008"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F4F6F8"/>
                    </a:solidFill>
                  </a:tcPr>
                </a:tc>
                <a:tc>
                  <a:txBody>
                    <a:bodyPr/>
                    <a:lstStyle/>
                    <a:p>
                      <a:pPr marL="101600" indent="-101600">
                        <a:spcAft>
                          <a:spcPts val="200"/>
                        </a:spcAft>
                        <a:buSzPct val="100000"/>
                        <a:buChar char="•"/>
                      </a:pPr>
                      <a:r>
                        <a:rPr lang="en-US" sz="1000" dirty="0">
                          <a:solidFill>
                            <a:srgbClr val="1B2431"/>
                          </a:solidFill>
                          <a:latin typeface="Calibri" pitchFamily="34" charset="0"/>
                          <a:ea typeface="Calibri" pitchFamily="34" charset="-122"/>
                          <a:cs typeface="Calibri" pitchFamily="34" charset="-120"/>
                        </a:rPr>
                        <a:t>Value needs workflow redesign, not AI bolted on — only 21% have done it [3]</a:t>
                      </a:r>
                      <a:endParaRPr lang="en-US" sz="1000" dirty="0">
                        <a:latin typeface="Calibri" charset="0"/>
                        <a:ea typeface="Calibri" charset="0"/>
                        <a:cs typeface="Calibri" charset="0"/>
                      </a:endParaRPr>
                    </a:p>
                    <a:p>
                      <a:pPr marL="101600" indent="-101600">
                        <a:spcAft>
                          <a:spcPts val="200"/>
                        </a:spcAft>
                        <a:buSzPct val="100000"/>
                        <a:buChar char="•"/>
                      </a:pPr>
                      <a:r>
                        <a:rPr lang="en-US" sz="1000" dirty="0">
                          <a:solidFill>
                            <a:srgbClr val="1B2431"/>
                          </a:solidFill>
                          <a:latin typeface="Calibri" pitchFamily="34" charset="0"/>
                          <a:ea typeface="Calibri" pitchFamily="34" charset="-122"/>
                          <a:cs typeface="Calibri" pitchFamily="34" charset="-120"/>
                        </a:rPr>
                        <a:t>NTI at 145 days is our bottleneck</a:t>
                      </a:r>
                      <a:endParaRPr lang="en-US" sz="1000" dirty="0">
                        <a:latin typeface="Calibri" charset="0"/>
                        <a:ea typeface="Calibri" charset="0"/>
                        <a:cs typeface="Calibri" charset="0"/>
                      </a:endParaRPr>
                    </a:p>
                  </a:txBody>
                  <a:tcPr marL="64008" marR="64008"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marL="101600" indent="-101600">
                        <a:spcAft>
                          <a:spcPts val="200"/>
                        </a:spcAft>
                        <a:buSzPct val="100000"/>
                        <a:buChar char="•"/>
                      </a:pPr>
                      <a:r>
                        <a:rPr lang="en-US" sz="1000" dirty="0">
                          <a:solidFill>
                            <a:srgbClr val="1B2431"/>
                          </a:solidFill>
                          <a:latin typeface="Calibri" pitchFamily="34" charset="0"/>
                          <a:ea typeface="Calibri" pitchFamily="34" charset="-122"/>
                          <a:cs typeface="Calibri" pitchFamily="34" charset="-120"/>
                        </a:rPr>
                        <a:t>Every use case ships with a redesigned SOP (agent step, human step, exception path)</a:t>
                      </a:r>
                      <a:endParaRPr lang="en-US" sz="1000" dirty="0">
                        <a:latin typeface="Calibri" charset="0"/>
                        <a:ea typeface="Calibri" charset="0"/>
                        <a:cs typeface="Calibri" charset="0"/>
                      </a:endParaRPr>
                    </a:p>
                    <a:p>
                      <a:pPr marL="101600" indent="-101600">
                        <a:spcAft>
                          <a:spcPts val="200"/>
                        </a:spcAft>
                        <a:buSzPct val="100000"/>
                        <a:buChar char="•"/>
                      </a:pPr>
                      <a:r>
                        <a:rPr lang="en-US" sz="1000" dirty="0">
                          <a:solidFill>
                            <a:srgbClr val="1B2431"/>
                          </a:solidFill>
                          <a:latin typeface="Calibri" pitchFamily="34" charset="0"/>
                          <a:ea typeface="Calibri" pitchFamily="34" charset="-122"/>
                          <a:cs typeface="Calibri" pitchFamily="34" charset="-120"/>
                        </a:rPr>
                        <a:t>NTI reform: pre-approved patterns for reused agents; fewer, bigger use cases [1]</a:t>
                      </a:r>
                      <a:endParaRPr lang="en-US" sz="1000" dirty="0">
                        <a:latin typeface="Calibri" charset="0"/>
                        <a:ea typeface="Calibri" charset="0"/>
                        <a:cs typeface="Calibri" charset="0"/>
                      </a:endParaRPr>
                    </a:p>
                  </a:txBody>
                  <a:tcPr marL="64008" marR="64008"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marL="101600" indent="-101600">
                        <a:spcAft>
                          <a:spcPts val="200"/>
                        </a:spcAft>
                        <a:buSzPct val="100000"/>
                        <a:buChar char="•"/>
                      </a:pPr>
                      <a:r>
                        <a:rPr lang="en-US" sz="1000" dirty="0">
                          <a:solidFill>
                            <a:srgbClr val="1B2431"/>
                          </a:solidFill>
                          <a:latin typeface="Calibri" pitchFamily="34" charset="0"/>
                          <a:ea typeface="Calibri" pitchFamily="34" charset="-122"/>
                          <a:cs typeface="Calibri" pitchFamily="34" charset="-120"/>
                        </a:rPr>
                        <a:t>% live use cases with redesigned SOP</a:t>
                      </a:r>
                      <a:endParaRPr lang="en-US" sz="1000" dirty="0">
                        <a:latin typeface="Calibri" charset="0"/>
                        <a:ea typeface="Calibri" charset="0"/>
                        <a:cs typeface="Calibri" charset="0"/>
                      </a:endParaRPr>
                    </a:p>
                    <a:p>
                      <a:pPr marL="101600" indent="-101600">
                        <a:spcAft>
                          <a:spcPts val="200"/>
                        </a:spcAft>
                        <a:buSzPct val="100000"/>
                        <a:buChar char="•"/>
                      </a:pPr>
                      <a:r>
                        <a:rPr lang="en-US" sz="1000" dirty="0">
                          <a:solidFill>
                            <a:srgbClr val="1B2431"/>
                          </a:solidFill>
                          <a:latin typeface="Calibri" pitchFamily="34" charset="0"/>
                          <a:ea typeface="Calibri" pitchFamily="34" charset="-122"/>
                          <a:cs typeface="Calibri" pitchFamily="34" charset="-120"/>
                        </a:rPr>
                        <a:t>NTI cycle time: 145 → &lt;60 days</a:t>
                      </a:r>
                      <a:endParaRPr lang="en-US" sz="1000" dirty="0">
                        <a:latin typeface="Calibri" charset="0"/>
                        <a:ea typeface="Calibri" charset="0"/>
                        <a:cs typeface="Calibri" charset="0"/>
                      </a:endParaRPr>
                    </a:p>
                  </a:txBody>
                  <a:tcPr marL="64008" marR="64008"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extLst>
                  <a:ext uri="{0D108BD9-81ED-4DB2-BD59-A6C34878D82A}">
                    <a16:rowId xmlns:a16="http://schemas.microsoft.com/office/drawing/2014/main" val="10002"/>
                  </a:ext>
                </a:extLst>
              </a:tr>
              <a:tr h="749808">
                <a:tc>
                  <a:txBody>
                    <a:bodyPr/>
                    <a:lstStyle/>
                    <a:p>
                      <a:pPr marL="0" indent="0">
                        <a:buNone/>
                      </a:pPr>
                      <a:r>
                        <a:rPr lang="en-US" sz="1050" b="1" dirty="0">
                          <a:solidFill>
                            <a:srgbClr val="BC0018"/>
                          </a:solidFill>
                          <a:latin typeface="Calibri" pitchFamily="34" charset="0"/>
                          <a:ea typeface="Calibri" pitchFamily="34" charset="-122"/>
                          <a:cs typeface="Calibri" pitchFamily="34" charset="-120"/>
                        </a:rPr>
                        <a:t>IT &amp; TECHNOLOGY
</a:t>
                      </a:r>
                      <a:r>
                        <a:rPr lang="en-US" sz="900" dirty="0">
                          <a:solidFill>
                            <a:srgbClr val="5B6673"/>
                          </a:solidFill>
                          <a:latin typeface="Calibri" pitchFamily="34" charset="0"/>
                          <a:ea typeface="Calibri" pitchFamily="34" charset="-122"/>
                          <a:cs typeface="Calibri" pitchFamily="34" charset="-120"/>
                        </a:rPr>
                        <a:t>Platform team</a:t>
                      </a:r>
                      <a:endParaRPr lang="en-US" sz="1400" dirty="0">
                        <a:latin typeface="Calibri" charset="0"/>
                        <a:ea typeface="Calibri" charset="0"/>
                        <a:cs typeface="Calibri" charset="0"/>
                      </a:endParaRPr>
                    </a:p>
                  </a:txBody>
                  <a:tcPr marL="64008" marR="64008"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F4F6F8"/>
                    </a:solidFill>
                  </a:tcPr>
                </a:tc>
                <a:tc>
                  <a:txBody>
                    <a:bodyPr/>
                    <a:lstStyle/>
                    <a:p>
                      <a:pPr marL="101600" indent="-101600">
                        <a:spcAft>
                          <a:spcPts val="200"/>
                        </a:spcAft>
                        <a:buSzPct val="100000"/>
                        <a:buChar char="•"/>
                      </a:pPr>
                      <a:r>
                        <a:rPr lang="en-US" sz="1000" dirty="0">
                          <a:solidFill>
                            <a:srgbClr val="1B2431"/>
                          </a:solidFill>
                          <a:latin typeface="Calibri" pitchFamily="34" charset="0"/>
                          <a:ea typeface="Calibri" pitchFamily="34" charset="-122"/>
                          <a:cs typeface="Calibri" pitchFamily="34" charset="-120"/>
                        </a:rPr>
                        <a:t>Technology is the "20" in 10-20-70 [1]</a:t>
                      </a:r>
                      <a:endParaRPr lang="en-US" sz="1000" dirty="0">
                        <a:latin typeface="Calibri" charset="0"/>
                        <a:ea typeface="Calibri" charset="0"/>
                        <a:cs typeface="Calibri" charset="0"/>
                      </a:endParaRPr>
                    </a:p>
                    <a:p>
                      <a:pPr marL="101600" indent="-101600">
                        <a:spcAft>
                          <a:spcPts val="200"/>
                        </a:spcAft>
                        <a:buSzPct val="100000"/>
                        <a:buChar char="•"/>
                      </a:pPr>
                      <a:r>
                        <a:rPr lang="en-US" sz="1000" dirty="0">
                          <a:solidFill>
                            <a:srgbClr val="1B2431"/>
                          </a:solidFill>
                          <a:latin typeface="Calibri" pitchFamily="34" charset="0"/>
                          <a:ea typeface="Calibri" pitchFamily="34" charset="-122"/>
                          <a:cs typeface="Calibri" pitchFamily="34" charset="-120"/>
                        </a:rPr>
                        <a:t>One delivery path replaces BU-bespoke builds</a:t>
                      </a:r>
                      <a:endParaRPr lang="en-US" sz="1000" dirty="0">
                        <a:latin typeface="Calibri" charset="0"/>
                        <a:ea typeface="Calibri" charset="0"/>
                        <a:cs typeface="Calibri" charset="0"/>
                      </a:endParaRPr>
                    </a:p>
                  </a:txBody>
                  <a:tcPr marL="64008" marR="64008"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marL="101600" indent="-101600">
                        <a:spcAft>
                          <a:spcPts val="200"/>
                        </a:spcAft>
                        <a:buSzPct val="100000"/>
                        <a:buChar char="•"/>
                      </a:pPr>
                      <a:r>
                        <a:rPr lang="en-US" sz="1000" dirty="0">
                          <a:solidFill>
                            <a:srgbClr val="1B2431"/>
                          </a:solidFill>
                          <a:latin typeface="Calibri" pitchFamily="34" charset="0"/>
                          <a:ea typeface="Calibri" pitchFamily="34" charset="-122"/>
                          <a:cs typeface="Calibri" pitchFamily="34" charset="-120"/>
                        </a:rPr>
                        <a:t>Single platform path from FY26; 8-week release cadence [7]</a:t>
                      </a:r>
                      <a:endParaRPr lang="en-US" sz="1000" dirty="0">
                        <a:latin typeface="Calibri" charset="0"/>
                        <a:ea typeface="Calibri" charset="0"/>
                        <a:cs typeface="Calibri" charset="0"/>
                      </a:endParaRPr>
                    </a:p>
                    <a:p>
                      <a:pPr marL="101600" indent="-101600">
                        <a:spcAft>
                          <a:spcPts val="200"/>
                        </a:spcAft>
                        <a:buSzPct val="100000"/>
                        <a:buChar char="•"/>
                      </a:pPr>
                      <a:r>
                        <a:rPr lang="en-US" sz="1000" dirty="0">
                          <a:solidFill>
                            <a:srgbClr val="1B2431"/>
                          </a:solidFill>
                          <a:latin typeface="Calibri" pitchFamily="34" charset="0"/>
                          <a:ea typeface="Calibri" pitchFamily="34" charset="-122"/>
                          <a:cs typeface="Calibri" pitchFamily="34" charset="-120"/>
                        </a:rPr>
                        <a:t>Token metering from FY27</a:t>
                      </a:r>
                      <a:endParaRPr lang="en-US" sz="1000" dirty="0">
                        <a:latin typeface="Calibri" charset="0"/>
                        <a:ea typeface="Calibri" charset="0"/>
                        <a:cs typeface="Calibri" charset="0"/>
                      </a:endParaRPr>
                    </a:p>
                  </a:txBody>
                  <a:tcPr marL="64008" marR="64008"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marL="101600" indent="-101600">
                        <a:spcAft>
                          <a:spcPts val="200"/>
                        </a:spcAft>
                        <a:buSzPct val="100000"/>
                        <a:buChar char="•"/>
                      </a:pPr>
                      <a:r>
                        <a:rPr lang="en-US" sz="1000" dirty="0">
                          <a:solidFill>
                            <a:srgbClr val="1B2431"/>
                          </a:solidFill>
                          <a:latin typeface="Calibri" pitchFamily="34" charset="0"/>
                          <a:ea typeface="Calibri" pitchFamily="34" charset="-122"/>
                          <a:cs typeface="Calibri" pitchFamily="34" charset="-120"/>
                        </a:rPr>
                        <a:t>Agents reused by ≥2 BUs (today: 0)</a:t>
                      </a:r>
                      <a:endParaRPr lang="en-US" sz="1000" dirty="0">
                        <a:latin typeface="Calibri" charset="0"/>
                        <a:ea typeface="Calibri" charset="0"/>
                        <a:cs typeface="Calibri" charset="0"/>
                      </a:endParaRPr>
                    </a:p>
                    <a:p>
                      <a:pPr marL="101600" indent="-101600">
                        <a:spcAft>
                          <a:spcPts val="200"/>
                        </a:spcAft>
                        <a:buSzPct val="100000"/>
                        <a:buChar char="•"/>
                      </a:pPr>
                      <a:r>
                        <a:rPr lang="en-US" sz="1000" dirty="0">
                          <a:solidFill>
                            <a:srgbClr val="1B2431"/>
                          </a:solidFill>
                          <a:latin typeface="Calibri" pitchFamily="34" charset="0"/>
                          <a:ea typeface="Calibri" pitchFamily="34" charset="-122"/>
                          <a:cs typeface="Calibri" pitchFamily="34" charset="-120"/>
                        </a:rPr>
                        <a:t>Use cases in production (today 15 of 37)</a:t>
                      </a:r>
                      <a:endParaRPr lang="en-US" sz="1000" dirty="0">
                        <a:latin typeface="Calibri" charset="0"/>
                        <a:ea typeface="Calibri" charset="0"/>
                        <a:cs typeface="Calibri" charset="0"/>
                      </a:endParaRPr>
                    </a:p>
                  </a:txBody>
                  <a:tcPr marL="64008" marR="64008"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extLst>
                  <a:ext uri="{0D108BD9-81ED-4DB2-BD59-A6C34878D82A}">
                    <a16:rowId xmlns:a16="http://schemas.microsoft.com/office/drawing/2014/main" val="10003"/>
                  </a:ext>
                </a:extLst>
              </a:tr>
              <a:tr h="749808">
                <a:tc>
                  <a:txBody>
                    <a:bodyPr/>
                    <a:lstStyle/>
                    <a:p>
                      <a:pPr marL="0" indent="0">
                        <a:buNone/>
                      </a:pPr>
                      <a:r>
                        <a:rPr lang="en-US" sz="1050" b="1" dirty="0">
                          <a:solidFill>
                            <a:srgbClr val="BC0018"/>
                          </a:solidFill>
                          <a:latin typeface="Calibri" pitchFamily="34" charset="0"/>
                          <a:ea typeface="Calibri" pitchFamily="34" charset="-122"/>
                          <a:cs typeface="Calibri" pitchFamily="34" charset="-120"/>
                        </a:rPr>
                        <a:t>RISK
</a:t>
                      </a:r>
                      <a:r>
                        <a:rPr lang="en-US" sz="900" dirty="0">
                          <a:solidFill>
                            <a:srgbClr val="5B6673"/>
                          </a:solidFill>
                          <a:latin typeface="Calibri" pitchFamily="34" charset="0"/>
                          <a:ea typeface="Calibri" pitchFamily="34" charset="-122"/>
                          <a:cs typeface="Calibri" pitchFamily="34" charset="-120"/>
                        </a:rPr>
                        <a:t>R&amp;C + AI risk partner</a:t>
                      </a:r>
                      <a:endParaRPr lang="en-US" sz="1400" dirty="0">
                        <a:latin typeface="Calibri" charset="0"/>
                        <a:ea typeface="Calibri" charset="0"/>
                        <a:cs typeface="Calibri" charset="0"/>
                      </a:endParaRPr>
                    </a:p>
                  </a:txBody>
                  <a:tcPr marL="64008" marR="64008"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F4F6F8"/>
                    </a:solidFill>
                  </a:tcPr>
                </a:tc>
                <a:tc>
                  <a:txBody>
                    <a:bodyPr/>
                    <a:lstStyle/>
                    <a:p>
                      <a:pPr marL="101600" indent="-101600">
                        <a:spcAft>
                          <a:spcPts val="200"/>
                        </a:spcAft>
                        <a:buSzPct val="100000"/>
                        <a:buChar char="•"/>
                      </a:pPr>
                      <a:r>
                        <a:rPr lang="en-US" sz="1000" dirty="0">
                          <a:solidFill>
                            <a:srgbClr val="1B2431"/>
                          </a:solidFill>
                          <a:latin typeface="Calibri" pitchFamily="34" charset="0"/>
                          <a:ea typeface="Calibri" pitchFamily="34" charset="-122"/>
                          <a:cs typeface="Calibri" pitchFamily="34" charset="-120"/>
                        </a:rPr>
                        <a:t>30% of gen-AI projects abandoned after PoC [6]</a:t>
                      </a:r>
                      <a:endParaRPr lang="en-US" sz="1000" dirty="0">
                        <a:latin typeface="Calibri" charset="0"/>
                        <a:ea typeface="Calibri" charset="0"/>
                        <a:cs typeface="Calibri" charset="0"/>
                      </a:endParaRPr>
                    </a:p>
                    <a:p>
                      <a:pPr marL="101600" indent="-101600">
                        <a:spcAft>
                          <a:spcPts val="200"/>
                        </a:spcAft>
                        <a:buSzPct val="100000"/>
                        <a:buChar char="•"/>
                      </a:pPr>
                      <a:r>
                        <a:rPr lang="en-US" sz="1000" dirty="0">
                          <a:solidFill>
                            <a:srgbClr val="1B2431"/>
                          </a:solidFill>
                          <a:latin typeface="Calibri" pitchFamily="34" charset="0"/>
                          <a:ea typeface="Calibri" pitchFamily="34" charset="-122"/>
                          <a:cs typeface="Calibri" pitchFamily="34" charset="-120"/>
                        </a:rPr>
                        <a:t>Senior oversight of AI governance is the factor most tied to impact [3]</a:t>
                      </a:r>
                      <a:endParaRPr lang="en-US" sz="1000" dirty="0">
                        <a:latin typeface="Calibri" charset="0"/>
                        <a:ea typeface="Calibri" charset="0"/>
                        <a:cs typeface="Calibri" charset="0"/>
                      </a:endParaRPr>
                    </a:p>
                  </a:txBody>
                  <a:tcPr marL="64008" marR="64008"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marL="101600" indent="-101600">
                        <a:spcAft>
                          <a:spcPts val="200"/>
                        </a:spcAft>
                        <a:buSzPct val="100000"/>
                        <a:buChar char="•"/>
                      </a:pPr>
                      <a:r>
                        <a:rPr lang="en-US" sz="1000" dirty="0">
                          <a:solidFill>
                            <a:srgbClr val="1B2431"/>
                          </a:solidFill>
                          <a:latin typeface="Calibri" pitchFamily="34" charset="0"/>
                          <a:ea typeface="Calibri" pitchFamily="34" charset="-122"/>
                          <a:cs typeface="Calibri" pitchFamily="34" charset="-120"/>
                        </a:rPr>
                        <a:t>Risk partner in every pod; RCSA updated for agents (next slide)</a:t>
                      </a:r>
                      <a:endParaRPr lang="en-US" sz="1000" dirty="0">
                        <a:latin typeface="Calibri" charset="0"/>
                        <a:ea typeface="Calibri" charset="0"/>
                        <a:cs typeface="Calibri" charset="0"/>
                      </a:endParaRPr>
                    </a:p>
                    <a:p>
                      <a:pPr marL="101600" indent="-101600">
                        <a:spcAft>
                          <a:spcPts val="200"/>
                        </a:spcAft>
                        <a:buSzPct val="100000"/>
                        <a:buChar char="•"/>
                      </a:pPr>
                      <a:r>
                        <a:rPr lang="en-US" sz="1000" dirty="0">
                          <a:solidFill>
                            <a:srgbClr val="1B2431"/>
                          </a:solidFill>
                          <a:latin typeface="Calibri" pitchFamily="34" charset="0"/>
                          <a:ea typeface="Calibri" pitchFamily="34" charset="-122"/>
                          <a:cs typeface="Calibri" pitchFamily="34" charset="-120"/>
                        </a:rPr>
                        <a:t>Named executive owner for AI governance</a:t>
                      </a:r>
                      <a:endParaRPr lang="en-US" sz="1000" dirty="0">
                        <a:latin typeface="Calibri" charset="0"/>
                        <a:ea typeface="Calibri" charset="0"/>
                        <a:cs typeface="Calibri" charset="0"/>
                      </a:endParaRPr>
                    </a:p>
                  </a:txBody>
                  <a:tcPr marL="64008" marR="64008"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marL="101600" indent="-101600">
                        <a:spcAft>
                          <a:spcPts val="200"/>
                        </a:spcAft>
                        <a:buSzPct val="100000"/>
                        <a:buChar char="•"/>
                      </a:pPr>
                      <a:r>
                        <a:rPr lang="en-US" sz="1000" dirty="0">
                          <a:solidFill>
                            <a:srgbClr val="1B2431"/>
                          </a:solidFill>
                          <a:latin typeface="Calibri" pitchFamily="34" charset="0"/>
                          <a:ea typeface="Calibri" pitchFamily="34" charset="-122"/>
                          <a:cs typeface="Calibri" pitchFamily="34" charset="-120"/>
                        </a:rPr>
                        <a:t>PoC → production conversion rate</a:t>
                      </a:r>
                      <a:endParaRPr lang="en-US" sz="1000" dirty="0">
                        <a:latin typeface="Calibri" charset="0"/>
                        <a:ea typeface="Calibri" charset="0"/>
                        <a:cs typeface="Calibri" charset="0"/>
                      </a:endParaRPr>
                    </a:p>
                    <a:p>
                      <a:pPr marL="101600" indent="-101600">
                        <a:spcAft>
                          <a:spcPts val="200"/>
                        </a:spcAft>
                        <a:buSzPct val="100000"/>
                        <a:buChar char="•"/>
                      </a:pPr>
                      <a:r>
                        <a:rPr lang="en-US" sz="1000" dirty="0">
                          <a:solidFill>
                            <a:srgbClr val="1B2431"/>
                          </a:solidFill>
                          <a:latin typeface="Calibri" pitchFamily="34" charset="0"/>
                          <a:ea typeface="Calibri" pitchFamily="34" charset="-122"/>
                          <a:cs typeface="Calibri" pitchFamily="34" charset="-120"/>
                        </a:rPr>
                        <a:t>Override-rate and drift KRIs in threshold</a:t>
                      </a:r>
                      <a:endParaRPr lang="en-US" sz="1000" dirty="0">
                        <a:latin typeface="Calibri" charset="0"/>
                        <a:ea typeface="Calibri" charset="0"/>
                        <a:cs typeface="Calibri" charset="0"/>
                      </a:endParaRPr>
                    </a:p>
                  </a:txBody>
                  <a:tcPr marL="64008" marR="64008"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aphicFrame>
        <p:nvGraphicFramePr>
          <p:cNvPr id="25" name="Table 1"/>
          <p:cNvGraphicFramePr>
            <a:graphicFrameLocks noGrp="1"/>
          </p:cNvGraphicFramePr>
          <p:nvPr>
            <p:extLst>
              <p:ext uri="{D42A27DB-BD31-4B8C-83A1-F6EECF244321}">
                <p14:modId xmlns:p14="http://schemas.microsoft.com/office/powerpoint/2010/main" val="3510277902"/>
              </p:ext>
            </p:extLst>
          </p:nvPr>
        </p:nvGraphicFramePr>
        <p:xfrm>
          <a:off x="411480" y="4532866"/>
          <a:ext cx="11384280" cy="1030224"/>
        </p:xfrm>
        <a:graphic>
          <a:graphicData uri="http://schemas.openxmlformats.org/drawingml/2006/table">
            <a:tbl>
              <a:tblPr/>
              <a:tblGrid>
                <a:gridCol w="141732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46888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gridCol w="2651760">
                  <a:extLst>
                    <a:ext uri="{9D8B030D-6E8A-4147-A177-3AD203B41FA5}">
                      <a16:colId xmlns:a16="http://schemas.microsoft.com/office/drawing/2014/main" val="20004"/>
                    </a:ext>
                  </a:extLst>
                </a:gridCol>
              </a:tblGrid>
              <a:tr h="219456">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Phase</a:t>
                      </a:r>
                      <a:endParaRPr lang="en-US" sz="1000" dirty="0">
                        <a:latin typeface="Calibri" charset="0"/>
                        <a:ea typeface="Calibri" charset="0"/>
                        <a:cs typeface="Calibri" charset="0"/>
                      </a:endParaRPr>
                    </a:p>
                  </a:txBody>
                  <a:tcPr marL="54864" marR="54864" marT="27432" marB="27432"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1B2431"/>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People</a:t>
                      </a:r>
                      <a:endParaRPr lang="en-US" sz="1000" dirty="0">
                        <a:latin typeface="Calibri" charset="0"/>
                        <a:ea typeface="Calibri" charset="0"/>
                        <a:cs typeface="Calibri" charset="0"/>
                      </a:endParaRPr>
                    </a:p>
                  </a:txBody>
                  <a:tcPr marL="54864" marR="54864" marT="27432" marB="27432"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1B2431"/>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Process</a:t>
                      </a:r>
                      <a:endParaRPr lang="en-US" sz="1000" dirty="0">
                        <a:latin typeface="Calibri" charset="0"/>
                        <a:ea typeface="Calibri" charset="0"/>
                        <a:cs typeface="Calibri" charset="0"/>
                      </a:endParaRPr>
                    </a:p>
                  </a:txBody>
                  <a:tcPr marL="54864" marR="54864" marT="27432" marB="27432"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1B2431"/>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IT</a:t>
                      </a:r>
                      <a:endParaRPr lang="en-US" sz="1000" dirty="0">
                        <a:latin typeface="Calibri" charset="0"/>
                        <a:ea typeface="Calibri" charset="0"/>
                        <a:cs typeface="Calibri" charset="0"/>
                      </a:endParaRPr>
                    </a:p>
                  </a:txBody>
                  <a:tcPr marL="54864" marR="54864" marT="27432" marB="27432"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1B2431"/>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Risk</a:t>
                      </a:r>
                      <a:endParaRPr lang="en-US" sz="1000" dirty="0">
                        <a:latin typeface="Calibri" charset="0"/>
                        <a:ea typeface="Calibri" charset="0"/>
                        <a:cs typeface="Calibri" charset="0"/>
                      </a:endParaRPr>
                    </a:p>
                  </a:txBody>
                  <a:tcPr marL="54864" marR="54864" marT="27432" marB="27432"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1B2431"/>
                    </a:solidFill>
                  </a:tcPr>
                </a:tc>
                <a:extLst>
                  <a:ext uri="{0D108BD9-81ED-4DB2-BD59-A6C34878D82A}">
                    <a16:rowId xmlns:a16="http://schemas.microsoft.com/office/drawing/2014/main" val="10000"/>
                  </a:ext>
                </a:extLst>
              </a:tr>
              <a:tr h="256032">
                <a:tc>
                  <a:txBody>
                    <a:bodyPr/>
                    <a:lstStyle/>
                    <a:p>
                      <a:pPr marL="0" indent="0">
                        <a:buNone/>
                      </a:pPr>
                      <a:r>
                        <a:rPr lang="en-US" sz="800" b="1" dirty="0">
                          <a:solidFill>
                            <a:srgbClr val="1B2431"/>
                          </a:solidFill>
                          <a:latin typeface="Calibri" pitchFamily="34" charset="0"/>
                          <a:ea typeface="Calibri" pitchFamily="34" charset="-122"/>
                          <a:cs typeface="Calibri" pitchFamily="34" charset="-120"/>
                        </a:rPr>
                        <a:t>FY25–26 ASSIST</a:t>
                      </a:r>
                      <a:endParaRPr lang="en-US" sz="800" dirty="0">
                        <a:latin typeface="Calibri" charset="0"/>
                        <a:ea typeface="Calibri" charset="0"/>
                        <a:cs typeface="Calibri" charset="0"/>
                      </a:endParaRPr>
                    </a:p>
                  </a:txBody>
                  <a:tcPr marL="54864" marR="54864" marT="27432" marB="27432"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F4F6F8"/>
                    </a:solidFill>
                  </a:tcPr>
                </a:tc>
                <a:tc>
                  <a:txBody>
                    <a:bodyPr/>
                    <a:lstStyle/>
                    <a:p>
                      <a:pPr marL="0" indent="0">
                        <a:buNone/>
                      </a:pPr>
                      <a:r>
                        <a:rPr lang="en-US" sz="800" dirty="0">
                          <a:solidFill>
                            <a:srgbClr val="1B2431"/>
                          </a:solidFill>
                          <a:latin typeface="Calibri" pitchFamily="34" charset="0"/>
                          <a:ea typeface="Calibri" pitchFamily="34" charset="-122"/>
                          <a:cs typeface="Calibri" pitchFamily="34" charset="-120"/>
                        </a:rPr>
                        <a:t>AI literacy for all ops staff; use-case owners nominated</a:t>
                      </a:r>
                      <a:endParaRPr lang="en-US" sz="800" dirty="0">
                        <a:latin typeface="Calibri" charset="0"/>
                        <a:ea typeface="Calibri" charset="0"/>
                        <a:cs typeface="Calibri" charset="0"/>
                      </a:endParaRPr>
                    </a:p>
                  </a:txBody>
                  <a:tcPr marL="54864" marR="54864" marT="27432" marB="27432"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marL="0" indent="0">
                        <a:buNone/>
                      </a:pPr>
                      <a:r>
                        <a:rPr lang="en-US" sz="800" dirty="0">
                          <a:solidFill>
                            <a:srgbClr val="1B2431"/>
                          </a:solidFill>
                          <a:latin typeface="Calibri" pitchFamily="34" charset="0"/>
                          <a:ea typeface="Calibri" pitchFamily="34" charset="-122"/>
                          <a:cs typeface="Calibri" pitchFamily="34" charset="-120"/>
                        </a:rPr>
                        <a:t>NTI quick fixes: forms, tracker, edit-after-submit</a:t>
                      </a:r>
                      <a:endParaRPr lang="en-US" sz="800" dirty="0">
                        <a:latin typeface="Calibri" charset="0"/>
                        <a:ea typeface="Calibri" charset="0"/>
                        <a:cs typeface="Calibri" charset="0"/>
                      </a:endParaRPr>
                    </a:p>
                  </a:txBody>
                  <a:tcPr marL="54864" marR="54864" marT="27432" marB="27432"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marL="0" indent="0">
                        <a:buNone/>
                      </a:pPr>
                      <a:r>
                        <a:rPr lang="en-US" sz="800" dirty="0">
                          <a:solidFill>
                            <a:srgbClr val="1B2431"/>
                          </a:solidFill>
                          <a:latin typeface="Calibri" pitchFamily="34" charset="0"/>
                          <a:ea typeface="Calibri" pitchFamily="34" charset="-122"/>
                          <a:cs typeface="Calibri" pitchFamily="34" charset="-120"/>
                        </a:rPr>
                        <a:t>Platform MVP; metering design</a:t>
                      </a:r>
                      <a:endParaRPr lang="en-US" sz="800" dirty="0">
                        <a:latin typeface="Calibri" charset="0"/>
                        <a:ea typeface="Calibri" charset="0"/>
                        <a:cs typeface="Calibri" charset="0"/>
                      </a:endParaRPr>
                    </a:p>
                  </a:txBody>
                  <a:tcPr marL="54864" marR="54864" marT="27432" marB="27432"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marL="0" indent="0">
                        <a:buNone/>
                      </a:pPr>
                      <a:r>
                        <a:rPr lang="en-US" sz="800" dirty="0">
                          <a:solidFill>
                            <a:srgbClr val="1B2431"/>
                          </a:solidFill>
                          <a:latin typeface="Calibri" pitchFamily="34" charset="0"/>
                          <a:ea typeface="Calibri" pitchFamily="34" charset="-122"/>
                          <a:cs typeface="Calibri" pitchFamily="34" charset="-120"/>
                        </a:rPr>
                        <a:t>Ops monitoring protocol; override-rate KRI (0–90 day plan)</a:t>
                      </a:r>
                      <a:endParaRPr lang="en-US" sz="800" dirty="0">
                        <a:latin typeface="Calibri" charset="0"/>
                        <a:ea typeface="Calibri" charset="0"/>
                        <a:cs typeface="Calibri" charset="0"/>
                      </a:endParaRPr>
                    </a:p>
                  </a:txBody>
                  <a:tcPr marL="54864" marR="54864" marT="27432" marB="27432"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extLst>
                  <a:ext uri="{0D108BD9-81ED-4DB2-BD59-A6C34878D82A}">
                    <a16:rowId xmlns:a16="http://schemas.microsoft.com/office/drawing/2014/main" val="10001"/>
                  </a:ext>
                </a:extLst>
              </a:tr>
              <a:tr h="256032">
                <a:tc>
                  <a:txBody>
                    <a:bodyPr/>
                    <a:lstStyle/>
                    <a:p>
                      <a:pPr marL="0" indent="0">
                        <a:buNone/>
                      </a:pPr>
                      <a:r>
                        <a:rPr lang="en-US" sz="800" b="1" dirty="0">
                          <a:solidFill>
                            <a:srgbClr val="1B2431"/>
                          </a:solidFill>
                          <a:latin typeface="Calibri" pitchFamily="34" charset="0"/>
                          <a:ea typeface="Calibri" pitchFamily="34" charset="-122"/>
                          <a:cs typeface="Calibri" pitchFamily="34" charset="-120"/>
                        </a:rPr>
                        <a:t>FY26–28 ORCHESTRATE</a:t>
                      </a:r>
                      <a:endParaRPr lang="en-US" sz="800" dirty="0">
                        <a:latin typeface="Calibri" charset="0"/>
                        <a:ea typeface="Calibri" charset="0"/>
                        <a:cs typeface="Calibri" charset="0"/>
                      </a:endParaRPr>
                    </a:p>
                  </a:txBody>
                  <a:tcPr marL="54864" marR="54864" marT="27432" marB="27432"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F4F6F8"/>
                    </a:solidFill>
                  </a:tcPr>
                </a:tc>
                <a:tc>
                  <a:txBody>
                    <a:bodyPr/>
                    <a:lstStyle/>
                    <a:p>
                      <a:pPr marL="0" indent="0">
                        <a:buNone/>
                      </a:pPr>
                      <a:r>
                        <a:rPr lang="en-US" sz="800" dirty="0">
                          <a:solidFill>
                            <a:srgbClr val="1B2431"/>
                          </a:solidFill>
                          <a:latin typeface="Calibri" pitchFamily="34" charset="0"/>
                          <a:ea typeface="Calibri" pitchFamily="34" charset="-122"/>
                          <a:cs typeface="Calibri" pitchFamily="34" charset="-120"/>
                        </a:rPr>
                        <a:t>First agent-manager roles; FDE per BU pod; role redesign published</a:t>
                      </a:r>
                      <a:endParaRPr lang="en-US" sz="800" dirty="0">
                        <a:latin typeface="Calibri" charset="0"/>
                        <a:ea typeface="Calibri" charset="0"/>
                        <a:cs typeface="Calibri" charset="0"/>
                      </a:endParaRPr>
                    </a:p>
                  </a:txBody>
                  <a:tcPr marL="54864" marR="54864" marT="27432" marB="27432"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marL="0" indent="0">
                        <a:buNone/>
                      </a:pPr>
                      <a:r>
                        <a:rPr lang="en-US" sz="800" dirty="0">
                          <a:solidFill>
                            <a:srgbClr val="1B2431"/>
                          </a:solidFill>
                          <a:latin typeface="Calibri" pitchFamily="34" charset="0"/>
                          <a:ea typeface="Calibri" pitchFamily="34" charset="-122"/>
                          <a:cs typeface="Calibri" pitchFamily="34" charset="-120"/>
                        </a:rPr>
                        <a:t>Redesigned SOPs mandatory; pre-approved NTI patterns</a:t>
                      </a:r>
                      <a:endParaRPr lang="en-US" sz="800" dirty="0">
                        <a:latin typeface="Calibri" charset="0"/>
                        <a:ea typeface="Calibri" charset="0"/>
                        <a:cs typeface="Calibri" charset="0"/>
                      </a:endParaRPr>
                    </a:p>
                  </a:txBody>
                  <a:tcPr marL="54864" marR="54864" marT="27432" marB="27432"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marL="0" indent="0">
                        <a:buNone/>
                      </a:pPr>
                      <a:r>
                        <a:rPr lang="en-US" sz="800" dirty="0">
                          <a:solidFill>
                            <a:srgbClr val="1B2431"/>
                          </a:solidFill>
                          <a:latin typeface="Calibri" pitchFamily="34" charset="0"/>
                          <a:ea typeface="Calibri" pitchFamily="34" charset="-122"/>
                          <a:cs typeface="Calibri" pitchFamily="34" charset="-120"/>
                        </a:rPr>
                        <a:t>Marketplace live; 8-week cadence; token quotas</a:t>
                      </a:r>
                      <a:endParaRPr lang="en-US" sz="800" dirty="0">
                        <a:latin typeface="Calibri" charset="0"/>
                        <a:ea typeface="Calibri" charset="0"/>
                        <a:cs typeface="Calibri" charset="0"/>
                      </a:endParaRPr>
                    </a:p>
                  </a:txBody>
                  <a:tcPr marL="54864" marR="54864" marT="27432" marB="27432"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marL="0" indent="0">
                        <a:buNone/>
                      </a:pPr>
                      <a:r>
                        <a:rPr lang="en-US" sz="800" dirty="0">
                          <a:solidFill>
                            <a:srgbClr val="1B2431"/>
                          </a:solidFill>
                          <a:latin typeface="Calibri" pitchFamily="34" charset="0"/>
                          <a:ea typeface="Calibri" pitchFamily="34" charset="-122"/>
                          <a:cs typeface="Calibri" pitchFamily="34" charset="-120"/>
                        </a:rPr>
                        <a:t>Embedded risk partner; RCSA v2 with agent inventory</a:t>
                      </a:r>
                      <a:endParaRPr lang="en-US" sz="800" dirty="0">
                        <a:latin typeface="Calibri" charset="0"/>
                        <a:ea typeface="Calibri" charset="0"/>
                        <a:cs typeface="Calibri" charset="0"/>
                      </a:endParaRPr>
                    </a:p>
                  </a:txBody>
                  <a:tcPr marL="54864" marR="54864" marT="27432" marB="27432"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extLst>
                  <a:ext uri="{0D108BD9-81ED-4DB2-BD59-A6C34878D82A}">
                    <a16:rowId xmlns:a16="http://schemas.microsoft.com/office/drawing/2014/main" val="10002"/>
                  </a:ext>
                </a:extLst>
              </a:tr>
              <a:tr h="256032">
                <a:tc>
                  <a:txBody>
                    <a:bodyPr/>
                    <a:lstStyle/>
                    <a:p>
                      <a:pPr marL="0" indent="0">
                        <a:buNone/>
                      </a:pPr>
                      <a:r>
                        <a:rPr lang="en-US" sz="800" b="1" dirty="0">
                          <a:solidFill>
                            <a:srgbClr val="1B2431"/>
                          </a:solidFill>
                          <a:latin typeface="Calibri" pitchFamily="34" charset="0"/>
                          <a:ea typeface="Calibri" pitchFamily="34" charset="-122"/>
                          <a:cs typeface="Calibri" pitchFamily="34" charset="-120"/>
                        </a:rPr>
                        <a:t>FY28–30 AUTONOMIZE</a:t>
                      </a:r>
                      <a:endParaRPr lang="en-US" sz="800" dirty="0">
                        <a:latin typeface="Calibri" charset="0"/>
                        <a:ea typeface="Calibri" charset="0"/>
                        <a:cs typeface="Calibri" charset="0"/>
                      </a:endParaRPr>
                    </a:p>
                  </a:txBody>
                  <a:tcPr marL="54864" marR="54864" marT="27432" marB="27432"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F4F6F8"/>
                    </a:solidFill>
                  </a:tcPr>
                </a:tc>
                <a:tc>
                  <a:txBody>
                    <a:bodyPr/>
                    <a:lstStyle/>
                    <a:p>
                      <a:pPr marL="0" indent="0">
                        <a:buNone/>
                      </a:pPr>
                      <a:r>
                        <a:rPr lang="en-US" sz="800" dirty="0">
                          <a:solidFill>
                            <a:srgbClr val="1B2431"/>
                          </a:solidFill>
                          <a:latin typeface="Calibri" pitchFamily="34" charset="0"/>
                          <a:ea typeface="Calibri" pitchFamily="34" charset="-122"/>
                          <a:cs typeface="Calibri" pitchFamily="34" charset="-120"/>
                        </a:rPr>
                        <a:t>Hybrid teams managed by outcomes</a:t>
                      </a:r>
                      <a:endParaRPr lang="en-US" sz="800" dirty="0">
                        <a:latin typeface="Calibri" charset="0"/>
                        <a:ea typeface="Calibri" charset="0"/>
                        <a:cs typeface="Calibri" charset="0"/>
                      </a:endParaRPr>
                    </a:p>
                  </a:txBody>
                  <a:tcPr marL="54864" marR="54864" marT="27432" marB="27432"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marL="0" indent="0">
                        <a:buNone/>
                      </a:pPr>
                      <a:r>
                        <a:rPr lang="en-US" sz="800" dirty="0">
                          <a:solidFill>
                            <a:srgbClr val="1B2431"/>
                          </a:solidFill>
                          <a:latin typeface="Calibri" pitchFamily="34" charset="0"/>
                          <a:ea typeface="Calibri" pitchFamily="34" charset="-122"/>
                          <a:cs typeface="Calibri" pitchFamily="34" charset="-120"/>
                        </a:rPr>
                        <a:t>Exception-only human workflows</a:t>
                      </a:r>
                      <a:endParaRPr lang="en-US" sz="800" dirty="0">
                        <a:latin typeface="Calibri" charset="0"/>
                        <a:ea typeface="Calibri" charset="0"/>
                        <a:cs typeface="Calibri" charset="0"/>
                      </a:endParaRPr>
                    </a:p>
                  </a:txBody>
                  <a:tcPr marL="54864" marR="54864" marT="27432" marB="27432"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marL="0" indent="0">
                        <a:buNone/>
                      </a:pPr>
                      <a:r>
                        <a:rPr lang="en-US" sz="800" dirty="0">
                          <a:solidFill>
                            <a:srgbClr val="1B2431"/>
                          </a:solidFill>
                          <a:latin typeface="Calibri" pitchFamily="34" charset="0"/>
                          <a:ea typeface="Calibri" pitchFamily="34" charset="-122"/>
                          <a:cs typeface="Calibri" pitchFamily="34" charset="-120"/>
                        </a:rPr>
                        <a:t>Multi-agent orchestration; shared cache</a:t>
                      </a:r>
                      <a:endParaRPr lang="en-US" sz="800" dirty="0">
                        <a:latin typeface="Calibri" charset="0"/>
                        <a:ea typeface="Calibri" charset="0"/>
                        <a:cs typeface="Calibri" charset="0"/>
                      </a:endParaRPr>
                    </a:p>
                  </a:txBody>
                  <a:tcPr marL="54864" marR="54864" marT="27432" marB="27432"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marL="0" indent="0">
                        <a:buNone/>
                      </a:pPr>
                      <a:r>
                        <a:rPr lang="en-US" sz="800" dirty="0">
                          <a:solidFill>
                            <a:srgbClr val="1B2431"/>
                          </a:solidFill>
                          <a:latin typeface="Calibri" pitchFamily="34" charset="0"/>
                          <a:ea typeface="Calibri" pitchFamily="34" charset="-122"/>
                          <a:cs typeface="Calibri" pitchFamily="34" charset="-120"/>
                        </a:rPr>
                        <a:t>Guardian agents; continuous assurance</a:t>
                      </a:r>
                      <a:endParaRPr lang="en-US" sz="800" dirty="0">
                        <a:latin typeface="Calibri" charset="0"/>
                        <a:ea typeface="Calibri" charset="0"/>
                        <a:cs typeface="Calibri" charset="0"/>
                      </a:endParaRPr>
                    </a:p>
                  </a:txBody>
                  <a:tcPr marL="54864" marR="54864" marT="27432" marB="27432"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26" name="Text 22"/>
          <p:cNvSpPr txBox="1"/>
          <p:nvPr/>
        </p:nvSpPr>
        <p:spPr>
          <a:xfrm>
            <a:off x="411480" y="5870028"/>
            <a:ext cx="1828800" cy="164592"/>
          </a:xfrm>
          <a:prstGeom prst="rect">
            <a:avLst/>
          </a:prstGeom>
          <a:noFill/>
          <a:ln/>
        </p:spPr>
        <p:txBody>
          <a:bodyPr wrap="square" lIns="0" tIns="0" rIns="0" bIns="0" rtlCol="0" anchor="ctr"/>
          <a:lstStyle/>
          <a:p>
            <a:pPr marL="0" indent="0">
              <a:buNone/>
            </a:pPr>
            <a:r>
              <a:rPr lang="en-US" sz="800" b="1" dirty="0">
                <a:solidFill>
                  <a:srgbClr val="1B2431"/>
                </a:solidFill>
                <a:latin typeface="Calibri" pitchFamily="34" charset="0"/>
                <a:ea typeface="Calibri" pitchFamily="34" charset="-122"/>
                <a:cs typeface="Calibri" pitchFamily="34" charset="-120"/>
              </a:rPr>
              <a:t>References</a:t>
            </a:r>
            <a:endParaRPr lang="en-US" sz="800" dirty="0"/>
          </a:p>
        </p:txBody>
      </p:sp>
      <p:sp>
        <p:nvSpPr>
          <p:cNvPr id="27" name="Text 23"/>
          <p:cNvSpPr txBox="1"/>
          <p:nvPr/>
        </p:nvSpPr>
        <p:spPr>
          <a:xfrm>
            <a:off x="411480" y="6034620"/>
            <a:ext cx="3749040" cy="868680"/>
          </a:xfrm>
          <a:prstGeom prst="rect">
            <a:avLst/>
          </a:prstGeom>
          <a:noFill/>
          <a:ln/>
        </p:spPr>
        <p:txBody>
          <a:bodyPr wrap="square" lIns="0" tIns="0" rIns="0" bIns="0" rtlCol="0" anchor="t"/>
          <a:lstStyle/>
          <a:p>
            <a:pPr marL="0" indent="0">
              <a:spcAft>
                <a:spcPts val="100"/>
              </a:spcAft>
              <a:buNone/>
            </a:pPr>
            <a:r>
              <a:rPr lang="en-US" sz="800" b="1" dirty="0">
                <a:solidFill>
                  <a:srgbClr val="1B2431"/>
                </a:solidFill>
                <a:latin typeface="Calibri" pitchFamily="34" charset="0"/>
                <a:ea typeface="Calibri" pitchFamily="34" charset="-122"/>
                <a:cs typeface="Calibri" pitchFamily="34" charset="-120"/>
              </a:rPr>
              <a:t>[1] </a:t>
            </a:r>
            <a:r>
              <a:rPr lang="en-US" sz="800" u="sng" dirty="0">
                <a:solidFill>
                  <a:srgbClr val="1F6FEB"/>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BCG, Closing the AI impact gap (AI Radar), Jan 2025</a:t>
            </a:r>
            <a:endParaRPr lang="en-US" sz="800" dirty="0"/>
          </a:p>
          <a:p>
            <a:pPr marL="0" indent="0">
              <a:spcAft>
                <a:spcPts val="100"/>
              </a:spcAft>
              <a:buNone/>
            </a:pPr>
            <a:r>
              <a:rPr lang="en-US" sz="800" b="1" dirty="0">
                <a:solidFill>
                  <a:srgbClr val="1B2431"/>
                </a:solidFill>
                <a:latin typeface="Calibri" pitchFamily="34" charset="0"/>
                <a:ea typeface="Calibri" pitchFamily="34" charset="-122"/>
                <a:cs typeface="Calibri" pitchFamily="34" charset="-120"/>
              </a:rPr>
              <a:t>[2] </a:t>
            </a:r>
            <a:r>
              <a:rPr lang="en-US" sz="800" u="sng" dirty="0">
                <a:solidFill>
                  <a:srgbClr val="1F6FEB"/>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BCG, AI at Work: momentum builds, but gaps remain, Jun 2025</a:t>
            </a:r>
            <a:endParaRPr lang="en-US" sz="800" dirty="0"/>
          </a:p>
          <a:p>
            <a:pPr marL="0" indent="0">
              <a:spcAft>
                <a:spcPts val="100"/>
              </a:spcAft>
              <a:buNone/>
            </a:pPr>
            <a:r>
              <a:rPr lang="en-US" sz="800" b="1" dirty="0">
                <a:solidFill>
                  <a:srgbClr val="1B2431"/>
                </a:solidFill>
                <a:latin typeface="Calibri" pitchFamily="34" charset="0"/>
                <a:ea typeface="Calibri" pitchFamily="34" charset="-122"/>
                <a:cs typeface="Calibri" pitchFamily="34" charset="-120"/>
              </a:rPr>
              <a:t>[3] </a:t>
            </a:r>
            <a:r>
              <a:rPr lang="en-US" sz="800" u="sng" dirty="0">
                <a:solidFill>
                  <a:srgbClr val="1F6FEB"/>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McKinsey, The state of AI, Mar 2025</a:t>
            </a:r>
            <a:endParaRPr lang="en-US" sz="800" dirty="0"/>
          </a:p>
          <a:p>
            <a:pPr marL="0" indent="0">
              <a:spcAft>
                <a:spcPts val="100"/>
              </a:spcAft>
              <a:buNone/>
            </a:pPr>
            <a:r>
              <a:rPr lang="en-US" sz="800" b="1" dirty="0">
                <a:solidFill>
                  <a:srgbClr val="1B2431"/>
                </a:solidFill>
                <a:latin typeface="Calibri" pitchFamily="34" charset="0"/>
                <a:ea typeface="Calibri" pitchFamily="34" charset="-122"/>
                <a:cs typeface="Calibri" pitchFamily="34" charset="-120"/>
              </a:rPr>
              <a:t>[4] </a:t>
            </a:r>
            <a:r>
              <a:rPr lang="en-US" sz="800" u="sng" dirty="0">
                <a:solidFill>
                  <a:srgbClr val="1F6FEB"/>
                </a:solidFill>
                <a:latin typeface="Calibri" pitchFamily="34" charset="0"/>
                <a:ea typeface="Calibri" pitchFamily="34" charset="-122"/>
                <a:cs typeface="Calibri" pitchFamily="34" charset="-120"/>
                <a:hlinkClick r:id="rId6">
                  <a:extLst>
                    <a:ext uri="{A12FA001-AC4F-418D-AE19-62706E023703}">
                      <ahyp:hlinkClr xmlns:ahyp="http://schemas.microsoft.com/office/drawing/2018/hyperlinkcolor" val="tx"/>
                    </a:ext>
                  </a:extLst>
                </a:hlinkClick>
              </a:rPr>
              <a:t>McKinsey, AI is everywhere; the agentic organization isn't yet, Apr 2026</a:t>
            </a:r>
            <a:endParaRPr lang="en-US" sz="800" dirty="0"/>
          </a:p>
        </p:txBody>
      </p:sp>
      <p:sp>
        <p:nvSpPr>
          <p:cNvPr id="28" name="Text 24"/>
          <p:cNvSpPr txBox="1"/>
          <p:nvPr/>
        </p:nvSpPr>
        <p:spPr>
          <a:xfrm>
            <a:off x="4617720" y="6100416"/>
            <a:ext cx="3794760" cy="868680"/>
          </a:xfrm>
          <a:prstGeom prst="rect">
            <a:avLst/>
          </a:prstGeom>
          <a:noFill/>
          <a:ln/>
        </p:spPr>
        <p:txBody>
          <a:bodyPr wrap="square" lIns="0" tIns="0" rIns="0" bIns="0" rtlCol="0" anchor="t"/>
          <a:lstStyle/>
          <a:p>
            <a:pPr marL="0" indent="0">
              <a:spcAft>
                <a:spcPts val="100"/>
              </a:spcAft>
              <a:buNone/>
            </a:pPr>
            <a:r>
              <a:rPr lang="en-US" sz="800" b="1" dirty="0">
                <a:solidFill>
                  <a:srgbClr val="1B2431"/>
                </a:solidFill>
                <a:latin typeface="Calibri" pitchFamily="34" charset="0"/>
                <a:ea typeface="Calibri" pitchFamily="34" charset="-122"/>
                <a:cs typeface="Calibri" pitchFamily="34" charset="-120"/>
              </a:rPr>
              <a:t>[5] </a:t>
            </a:r>
            <a:r>
              <a:rPr lang="en-US" sz="800" u="sng" dirty="0">
                <a:solidFill>
                  <a:srgbClr val="1F6FEB"/>
                </a:solidFill>
                <a:latin typeface="Calibri" pitchFamily="34" charset="0"/>
                <a:ea typeface="Calibri" pitchFamily="34" charset="-122"/>
                <a:cs typeface="Calibri" pitchFamily="34" charset="-120"/>
                <a:hlinkClick r:id="rId8">
                  <a:extLst>
                    <a:ext uri="{A12FA001-AC4F-418D-AE19-62706E023703}">
                      <ahyp:hlinkClr xmlns:ahyp="http://schemas.microsoft.com/office/drawing/2018/hyperlinkcolor" val="tx"/>
                    </a:ext>
                  </a:extLst>
                </a:hlinkClick>
              </a:rPr>
              <a:t>Prosci, Keys to unlocking AI adoption (n=1,107), May 2026</a:t>
            </a:r>
            <a:endParaRPr lang="en-US" sz="800" dirty="0"/>
          </a:p>
          <a:p>
            <a:pPr marL="0" indent="0">
              <a:spcAft>
                <a:spcPts val="100"/>
              </a:spcAft>
              <a:buNone/>
            </a:pPr>
            <a:r>
              <a:rPr lang="en-US" sz="800" b="1" dirty="0">
                <a:solidFill>
                  <a:srgbClr val="1B2431"/>
                </a:solidFill>
                <a:latin typeface="Calibri" pitchFamily="34" charset="0"/>
                <a:ea typeface="Calibri" pitchFamily="34" charset="-122"/>
                <a:cs typeface="Calibri" pitchFamily="34" charset="-120"/>
              </a:rPr>
              <a:t>[6] </a:t>
            </a:r>
            <a:r>
              <a:rPr lang="en-US" sz="800" u="sng" dirty="0">
                <a:solidFill>
                  <a:srgbClr val="1F6FEB"/>
                </a:solidFill>
                <a:latin typeface="Calibri" pitchFamily="34" charset="0"/>
                <a:ea typeface="Calibri" pitchFamily="34" charset="-122"/>
                <a:cs typeface="Calibri" pitchFamily="34" charset="-120"/>
                <a:hlinkClick r:id="rId9">
                  <a:extLst>
                    <a:ext uri="{A12FA001-AC4F-418D-AE19-62706E023703}">
                      <ahyp:hlinkClr xmlns:ahyp="http://schemas.microsoft.com/office/drawing/2018/hyperlinkcolor" val="tx"/>
                    </a:ext>
                  </a:extLst>
                </a:hlinkClick>
              </a:rPr>
              <a:t>Gartner, 30% of gen-AI projects abandoned after PoC, Jul 2024</a:t>
            </a:r>
            <a:endParaRPr lang="en-US" sz="800" dirty="0"/>
          </a:p>
          <a:p>
            <a:pPr marL="0" indent="0">
              <a:spcAft>
                <a:spcPts val="100"/>
              </a:spcAft>
              <a:buNone/>
            </a:pPr>
            <a:r>
              <a:rPr lang="en-US" sz="800" b="1" dirty="0">
                <a:solidFill>
                  <a:srgbClr val="1B2431"/>
                </a:solidFill>
                <a:latin typeface="Calibri" pitchFamily="34" charset="0"/>
                <a:ea typeface="Calibri" pitchFamily="34" charset="-122"/>
                <a:cs typeface="Calibri" pitchFamily="34" charset="-120"/>
              </a:rPr>
              <a:t>[7] </a:t>
            </a:r>
            <a:r>
              <a:rPr lang="en-US" sz="800" u="sng" dirty="0">
                <a:solidFill>
                  <a:srgbClr val="1F6FEB"/>
                </a:solidFill>
                <a:latin typeface="Calibri" pitchFamily="34" charset="0"/>
                <a:ea typeface="Calibri" pitchFamily="34" charset="-122"/>
                <a:cs typeface="Calibri" pitchFamily="34" charset="-120"/>
                <a:hlinkClick r:id="rId12">
                  <a:extLst>
                    <a:ext uri="{A12FA001-AC4F-418D-AE19-62706E023703}">
                      <ahyp:hlinkClr xmlns:ahyp="http://schemas.microsoft.com/office/drawing/2018/hyperlinkcolor" val="tx"/>
                    </a:ext>
                  </a:extLst>
                </a:hlinkClick>
              </a:rPr>
              <a:t>AI News, JPMorgan LLM Suite rollout, Dec 2025</a:t>
            </a:r>
            <a:endParaRPr lang="en-US" sz="800" dirty="0"/>
          </a:p>
        </p:txBody>
      </p:sp>
      <p:sp>
        <p:nvSpPr>
          <p:cNvPr id="29" name="Shape 25"/>
          <p:cNvSpPr/>
          <p:nvPr/>
        </p:nvSpPr>
        <p:spPr>
          <a:xfrm>
            <a:off x="8183880" y="5859395"/>
            <a:ext cx="3611880" cy="868680"/>
          </a:xfrm>
          <a:prstGeom prst="rect">
            <a:avLst/>
          </a:prstGeom>
          <a:solidFill>
            <a:srgbClr val="FFF2A8"/>
          </a:solidFill>
          <a:ln w="9525">
            <a:solidFill>
              <a:srgbClr val="E5B800"/>
            </a:solidFill>
            <a:prstDash val="solid"/>
          </a:ln>
        </p:spPr>
        <p:txBody>
          <a:bodyPr/>
          <a:lstStyle/>
          <a:p>
            <a:endParaRPr lang="en-US"/>
          </a:p>
        </p:txBody>
      </p:sp>
      <p:sp>
        <p:nvSpPr>
          <p:cNvPr id="30" name="Text 26"/>
          <p:cNvSpPr txBox="1"/>
          <p:nvPr/>
        </p:nvSpPr>
        <p:spPr>
          <a:xfrm>
            <a:off x="8257032" y="5877683"/>
            <a:ext cx="3474720" cy="832104"/>
          </a:xfrm>
          <a:prstGeom prst="rect">
            <a:avLst/>
          </a:prstGeom>
          <a:noFill/>
          <a:ln/>
        </p:spPr>
        <p:txBody>
          <a:bodyPr wrap="square" lIns="0" tIns="0" rIns="0" bIns="0" rtlCol="0" anchor="ctr"/>
          <a:lstStyle/>
          <a:p>
            <a:pPr marL="0" indent="0">
              <a:buNone/>
            </a:pPr>
            <a:r>
              <a:rPr lang="en-US" sz="800" b="1" dirty="0">
                <a:solidFill>
                  <a:srgbClr val="1B2431"/>
                </a:solidFill>
                <a:latin typeface="Calibri" pitchFamily="34" charset="0"/>
                <a:ea typeface="Calibri" pitchFamily="34" charset="-122"/>
                <a:cs typeface="Calibri" pitchFamily="34" charset="-120"/>
              </a:rPr>
              <a:t>OPEN POINTS  </a:t>
            </a:r>
            <a:r>
              <a:rPr lang="en-US" sz="800" dirty="0">
                <a:solidFill>
                  <a:srgbClr val="1B2431"/>
                </a:solidFill>
                <a:latin typeface="Calibri" pitchFamily="34" charset="0"/>
                <a:ea typeface="Calibri" pitchFamily="34" charset="-122"/>
                <a:cs typeface="Calibri" pitchFamily="34" charset="-120"/>
              </a:rPr>
              <a:t>(1) Nomura targets for each KPI (e.g. % staff trained by FY27; NTI &lt;60 days). (2) Executive owner of AI governance to be named. (3) HR / L&amp;D co-ownership of the People lens. (4) Redeployment-vs-reduction position per BU.</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978</Words>
  <Application>Microsoft Macintosh PowerPoint</Application>
  <PresentationFormat>Widescreen</PresentationFormat>
  <Paragraphs>67</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x59078@365mmt.com</cp:lastModifiedBy>
  <cp:revision>3</cp:revision>
  <dcterms:created xsi:type="dcterms:W3CDTF">2026-09-11T07:41:18Z</dcterms:created>
  <dcterms:modified xsi:type="dcterms:W3CDTF">2026-09-11T07:55:43Z</dcterms:modified>
</cp:coreProperties>
</file>