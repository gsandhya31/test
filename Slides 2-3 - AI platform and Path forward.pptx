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762000"/>
            <a:ext cx="1457325" cy="4953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50" y="762000"/>
            <a:ext cx="145732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0050" y="1247775"/>
            <a:ext cx="1457325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050" y="762000"/>
            <a:ext cx="9525" cy="4953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57375" y="762000"/>
            <a:ext cx="1524000" cy="4953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57375" y="762000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57375" y="1247775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57375" y="762000"/>
            <a:ext cx="9525" cy="4953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900" y="762000"/>
            <a:ext cx="1524000" cy="4953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900" y="762000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900" y="1247775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762000"/>
            <a:ext cx="9525" cy="4953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4900" y="762000"/>
            <a:ext cx="1524000" cy="4953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4900" y="762000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247775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4900" y="762000"/>
            <a:ext cx="9525" cy="4953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8900" y="762000"/>
            <a:ext cx="1524000" cy="4953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8900" y="762000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38900" y="1247775"/>
            <a:ext cx="152400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38900" y="762000"/>
            <a:ext cx="9525" cy="4953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2425" y="762000"/>
            <a:ext cx="1533525" cy="495300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0050" y="1476375"/>
            <a:ext cx="1600200" cy="69532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0050" y="2219325"/>
            <a:ext cx="1600200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0050" y="2962275"/>
            <a:ext cx="1600200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0050" y="3705225"/>
            <a:ext cx="1600200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0050" y="4448175"/>
            <a:ext cx="1600200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5975" y="1333500"/>
            <a:ext cx="5734050" cy="3810000"/>
          </a:xfrm>
          <a:prstGeom prst="rect">
            <a:avLst/>
          </a:prstGeom>
          <a:solidFill>
            <a:srgbClr val="F4F6F8"/>
          </a:solidFill>
          <a:ln w="19050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00275" y="1600200"/>
            <a:ext cx="1790700" cy="105727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2095500"/>
            <a:ext cx="428625" cy="95250"/>
          </a:xfrm>
          <a:prstGeom prst="rect">
            <a:avLst/>
          </a:prstGeom>
          <a:solidFill>
            <a:srgbClr val="1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00275" y="2714625"/>
            <a:ext cx="1790700" cy="105727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0" y="3209925"/>
            <a:ext cx="428625" cy="95250"/>
          </a:xfrm>
          <a:prstGeom prst="rect">
            <a:avLst/>
          </a:prstGeom>
          <a:solidFill>
            <a:srgbClr val="1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0275" y="3838575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57650" y="1600200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57650" y="2714625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57650" y="3838575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15025" y="1600200"/>
            <a:ext cx="1790700" cy="105727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00750" y="2095500"/>
            <a:ext cx="428625" cy="95250"/>
          </a:xfrm>
          <a:prstGeom prst="rect">
            <a:avLst/>
          </a:prstGeom>
          <a:solidFill>
            <a:srgbClr val="1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5025" y="2714625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15025" y="3838575"/>
            <a:ext cx="179070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05750" y="1476375"/>
            <a:ext cx="1600200" cy="119062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05750" y="2714625"/>
            <a:ext cx="1600200" cy="119062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05750" y="3952875"/>
            <a:ext cx="1600200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0050" y="5524500"/>
            <a:ext cx="2228850" cy="600075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050" y="5524500"/>
            <a:ext cx="2228850" cy="28575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0050" y="6115050"/>
            <a:ext cx="222885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0050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19375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5575" y="5524500"/>
            <a:ext cx="2228850" cy="600075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95575" y="5524500"/>
            <a:ext cx="2228850" cy="28575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95575" y="6115050"/>
            <a:ext cx="222885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95575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14900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91100" y="5524500"/>
            <a:ext cx="2228850" cy="600075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91100" y="5524500"/>
            <a:ext cx="2228850" cy="28575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91100" y="6115050"/>
            <a:ext cx="222885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91100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10425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77100" y="5524500"/>
            <a:ext cx="2228850" cy="600075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77100" y="5524500"/>
            <a:ext cx="2228850" cy="28575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77100" y="6115050"/>
            <a:ext cx="2228850" cy="952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77100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496425" y="5524500"/>
            <a:ext cx="9525" cy="6000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00050" y="6210300"/>
            <a:ext cx="9105900" cy="438150"/>
          </a:xfrm>
          <a:prstGeom prst="rect">
            <a:avLst/>
          </a:prstGeom>
          <a:solidFill>
            <a:srgbClr val="1B2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 rot="5400000">
            <a:off x="1795462" y="957262"/>
            <a:ext cx="209550" cy="104775"/>
          </a:xfrm>
          <a:prstGeom prst="triangle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 rot="5400000">
            <a:off x="3319462" y="957262"/>
            <a:ext cx="209550" cy="104775"/>
          </a:xfrm>
          <a:prstGeom prst="triangle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 rot="5400000">
            <a:off x="4852988" y="957262"/>
            <a:ext cx="209550" cy="104775"/>
          </a:xfrm>
          <a:prstGeom prst="triangle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sosceles Triangle 68"/>
          <p:cNvSpPr/>
          <p:nvPr/>
        </p:nvSpPr>
        <p:spPr>
          <a:xfrm rot="5400000">
            <a:off x="6376988" y="957262"/>
            <a:ext cx="209550" cy="104775"/>
          </a:xfrm>
          <a:prstGeom prst="triangle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sosceles Triangle 69"/>
          <p:cNvSpPr/>
          <p:nvPr/>
        </p:nvSpPr>
        <p:spPr>
          <a:xfrm rot="5400000">
            <a:off x="7900988" y="957262"/>
            <a:ext cx="209550" cy="104775"/>
          </a:xfrm>
          <a:prstGeom prst="triangle">
            <a:avLst/>
          </a:prstGeom>
          <a:solidFill>
            <a:srgbClr val="F4F6F8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00050" y="5205412"/>
            <a:ext cx="104775" cy="104775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15375" y="228600"/>
            <a:ext cx="790575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30"/>
              </a:lnSpc>
            </a:pPr>
            <a:r>
              <a:rPr sz="1275" b="1" i="0" spc="76">
                <a:solidFill>
                  <a:srgbClr val="BC0018"/>
                </a:solidFill>
                <a:latin typeface="Arial"/>
              </a:rPr>
              <a:t>NOMURA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0050" y="361950"/>
            <a:ext cx="91059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sz="1950" b="1" i="0">
                <a:solidFill>
                  <a:srgbClr val="1B2431"/>
                </a:solidFill>
                <a:latin typeface="Arial"/>
              </a:rPr>
              <a:t>AI platform for non STP flows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825" y="828675"/>
            <a:ext cx="1276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 i="0">
                <a:solidFill>
                  <a:srgbClr val="1B2431"/>
                </a:solidFill>
                <a:latin typeface="Arial"/>
              </a:rPr>
              <a:t>1,500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4825" y="981075"/>
            <a:ext cx="12763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ABC activities, the baseline set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28825" y="828675"/>
            <a:ext cx="1276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 i="0">
                <a:solidFill>
                  <a:srgbClr val="1B2431"/>
                </a:solidFill>
                <a:latin typeface="Arial"/>
              </a:rPr>
              <a:t>115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28825" y="981075"/>
            <a:ext cx="12763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work drivers behind them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62350" y="828675"/>
            <a:ext cx="1276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 i="0">
                <a:solidFill>
                  <a:srgbClr val="1B2431"/>
                </a:solidFill>
                <a:latin typeface="Arial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62350" y="981075"/>
            <a:ext cx="12763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thematic classifications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86350" y="828675"/>
            <a:ext cx="1276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 i="0">
                <a:solidFill>
                  <a:srgbClr val="1B2431"/>
                </a:solidFill>
                <a:latin typeface="Arial"/>
              </a:rPr>
              <a:t>80%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86350" y="981075"/>
            <a:ext cx="127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in compare and match; MIS 10%, alerts 6%, refinement 4%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0350" y="828675"/>
            <a:ext cx="1276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1050" b="1" i="0">
                <a:solidFill>
                  <a:srgbClr val="1B2431"/>
                </a:solidFill>
                <a:latin typeface="Arial"/>
              </a:rPr>
              <a:t>6–9 FTE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0350" y="981075"/>
            <a:ext cx="127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OTC settlements, with FX settlements at 6–8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43875" y="828675"/>
            <a:ext cx="12763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4"/>
              </a:lnSpc>
            </a:pPr>
            <a:r>
              <a:rPr sz="900" b="1" i="0">
                <a:solidFill>
                  <a:srgbClr val="1E7A35"/>
                </a:solidFill>
                <a:latin typeface="Arial"/>
              </a:rPr>
              <a:t>DK / alleges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43875" y="962025"/>
            <a:ext cx="1276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94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pre-matching, fresh counterparty emails only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050" y="1333500"/>
            <a:ext cx="16002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83">
                <a:solidFill>
                  <a:srgbClr val="5B6673"/>
                </a:solidFill>
                <a:latin typeface="Arial"/>
              </a:rPr>
              <a:t>INPUTS, UNTRUSTED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5300" y="164782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Counterparty emails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5300" y="1781175"/>
            <a:ext cx="1409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Free-form body, Excel and PDF attachments. The pilot input.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5300" y="244792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TRAM messages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5300" y="2581275"/>
            <a:ext cx="14097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Internal booking notifications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5300" y="3133725"/>
            <a:ext cx="1409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Corporate action announcements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5300" y="3381375"/>
            <a:ext cx="14097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Event feeds and notices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5300" y="393382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Term sheets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5300" y="4067175"/>
            <a:ext cx="14097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PDF and document formats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5300" y="467677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Shared folder files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5300" y="4810125"/>
            <a:ext cx="14097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Batch drops, reports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00275" y="1428750"/>
            <a:ext cx="550545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65"/>
              </a:lnSpc>
            </a:pPr>
            <a:r>
              <a:rPr sz="637" b="1" i="0" spc="102">
                <a:solidFill>
                  <a:srgbClr val="5B6673"/>
                </a:solidFill>
                <a:latin typeface="Arial"/>
              </a:rPr>
              <a:t>THE NINE AI UTILITIES, AS DEFINED ON SLIDE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86000" y="1676400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E7A35"/>
                </a:solidFill>
                <a:latin typeface="Arial"/>
              </a:rPr>
              <a:t>1 · Ingestion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86000" y="18192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Channel adapters, batch pull, deterministic routing per registry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33625" y="2105025"/>
            <a:ext cx="333375" cy="80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"/>
              </a:lnSpc>
            </a:pPr>
            <a:r>
              <a:rPr sz="525" b="1" i="0" spc="52">
                <a:solidFill>
                  <a:srgbClr val="FFFFFF"/>
                </a:solidFill>
                <a:latin typeface="Arial"/>
              </a:rPr>
              <a:t>IN PILOT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6000" y="279082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E7A35"/>
                </a:solidFill>
                <a:latin typeface="Arial"/>
              </a:rPr>
              <a:t>2 · Unstructured to Structured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86000" y="29337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AI reads mail and attachments; fields extracted with source provenance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33625" y="3219450"/>
            <a:ext cx="333375" cy="80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"/>
              </a:lnSpc>
            </a:pPr>
            <a:r>
              <a:rPr sz="525" b="1" i="0" spc="52">
                <a:solidFill>
                  <a:srgbClr val="FFFFFF"/>
                </a:solidFill>
                <a:latin typeface="Arial"/>
              </a:rPr>
              <a:t>IN PILOT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86000" y="391477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3 · Transform &amp; Enrich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86000" y="4057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Normalise and enrich extracted fields against reference data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43375" y="1676400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4 · Validate &amp; Approve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43375" y="1819275"/>
            <a:ext cx="16192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The investigations workbench: ranked candidates and source highlights; the analyst decides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43375" y="279082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5 · Calculate &amp; Process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43375" y="29337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Derive values and run processing steps on the structured record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43375" y="391477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6 · Monitor &amp; Control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43375" y="4057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Queue health, exceptions and control checks across running cases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000750" y="1676400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E7A35"/>
                </a:solidFill>
                <a:latin typeface="Arial"/>
              </a:rPr>
              <a:t>7 · Compare &amp; Match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00750" y="18192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Tiered rules against internal systems; AI access read-only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48375" y="2105025"/>
            <a:ext cx="333375" cy="80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0"/>
              </a:lnSpc>
            </a:pPr>
            <a:r>
              <a:rPr sz="525" b="1" i="0" spc="52">
                <a:solidFill>
                  <a:srgbClr val="FFFFFF"/>
                </a:solidFill>
                <a:latin typeface="Arial"/>
              </a:rPr>
              <a:t>IN PILOT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00750" y="279082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8 · Report &amp; Notify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00750" y="29337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Email drafting: AI fills fixed templates and never sends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00750" y="3914775"/>
            <a:ext cx="1619250" cy="115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sz="787" b="1" i="0">
                <a:solidFill>
                  <a:srgbClr val="1B2431"/>
                </a:solidFill>
                <a:latin typeface="Arial"/>
              </a:rPr>
              <a:t>9 · Route &amp; Distribute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00750" y="405765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Resolutions: human committed outcomes; writes run on the analyst's own ID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00275" y="4924425"/>
            <a:ext cx="5505450" cy="105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32"/>
              </a:lnSpc>
            </a:pPr>
            <a:r>
              <a:rPr sz="637" b="0" i="1">
                <a:solidFill>
                  <a:srgbClr val="5B6673"/>
                </a:solidFill>
                <a:latin typeface="Arial"/>
              </a:rPr>
              <a:t>Registry driven: same engine, per process configuration. DK and alleges is configuration number one, not a one-off build.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5750" y="1333500"/>
            <a:ext cx="16002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83">
                <a:solidFill>
                  <a:srgbClr val="5B6673"/>
                </a:solidFill>
                <a:latin typeface="Arial"/>
              </a:rPr>
              <a:t>INTERNAL SYSTEMS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01000" y="189547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EVE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01000" y="2028825"/>
            <a:ext cx="1409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Counterparty reference data; resolves the org from the sender address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01000" y="313372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NEWS / PCM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267075"/>
            <a:ext cx="1409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2C5C38"/>
                </a:solidFill>
                <a:latin typeface="Arial"/>
              </a:rPr>
              <a:t>Workflow and cash manager; the booking the email is matched against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001000" y="4429125"/>
            <a:ext cx="14097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Gloss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01000" y="4562475"/>
            <a:ext cx="14097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Settlements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1500" y="5200650"/>
            <a:ext cx="8934450" cy="1085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55"/>
              </a:lnSpc>
            </a:pPr>
            <a:r>
              <a:rPr sz="712" b="0" i="0">
                <a:solidFill>
                  <a:srgbClr val="5B6673"/>
                </a:solidFill>
                <a:latin typeface="Arial"/>
              </a:rPr>
              <a:t>Green marks the scope of the ServiceNow pilot: the input it reads, the capabilities it runs, and the systems it touches.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0050" y="5381625"/>
            <a:ext cx="91059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spc="81">
                <a:solidFill>
                  <a:srgbClr val="BC0018"/>
                </a:solidFill>
                <a:latin typeface="Arial"/>
              </a:rPr>
              <a:t>WHO OPERATES IT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5775" y="5610225"/>
            <a:ext cx="20574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Analyst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5775" y="5734050"/>
            <a:ext cx="20574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Works the case queue on the dashboard, reviews AI suggestions against source, decides and acts on every case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81300" y="5610225"/>
            <a:ext cx="20574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Manager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81300" y="5734050"/>
            <a:ext cx="2057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Configures processes in the registry through the onboarding wizard, owns thresholds and routing rules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76825" y="5610225"/>
            <a:ext cx="20574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Admin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76825" y="5734050"/>
            <a:ext cx="2057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Enables platform capabilities for registry use: parsers, adapters, channels, guardrail settings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62825" y="5610225"/>
            <a:ext cx="20574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1" i="0">
                <a:solidFill>
                  <a:srgbClr val="1B2431"/>
                </a:solidFill>
                <a:latin typeface="Arial"/>
              </a:rPr>
              <a:t>IT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62825" y="5734050"/>
            <a:ext cx="2057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7"/>
              </a:lnSpc>
            </a:pPr>
            <a:r>
              <a:rPr sz="637" b="0" i="0">
                <a:solidFill>
                  <a:srgbClr val="5B6673"/>
                </a:solidFill>
                <a:latin typeface="Arial"/>
              </a:rPr>
              <a:t>Upkeep of API connections, system adapters, infrastructure health and access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2925" y="6286500"/>
            <a:ext cx="8820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862" b="1" i="0">
                <a:solidFill>
                  <a:srgbClr val="FFFFFF"/>
                </a:solidFill>
                <a:latin typeface="Arial"/>
              </a:rPr>
              <a:t>AI suggests. Humans decide. Every action is logged. The AI service ID is </a:t>
            </a:r>
            <a:r>
              <a:rPr sz="862" b="1" i="0">
                <a:solidFill>
                  <a:srgbClr val="FF9AA6"/>
                </a:solidFill>
                <a:latin typeface="Arial"/>
              </a:rPr>
              <a:t>read-only</a:t>
            </a:r>
            <a:r>
              <a:rPr sz="862" b="1" i="0">
                <a:solidFill>
                  <a:srgbClr val="FFFFFF"/>
                </a:solidFill>
                <a:latin typeface="Arial"/>
              </a:rPr>
              <a:t> everywhere in this picture, and every write-back or outbound mail runs on the approving analyst's own credentials.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58350" y="6657975"/>
            <a:ext cx="571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spc="60">
                <a:solidFill>
                  <a:srgbClr val="5B667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0050" y="819150"/>
            <a:ext cx="9105900" cy="685800"/>
          </a:xfrm>
          <a:prstGeom prst="rect">
            <a:avLst/>
          </a:prstGeom>
          <a:solidFill>
            <a:srgbClr val="D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0050" y="819150"/>
            <a:ext cx="38100" cy="685800"/>
          </a:xfrm>
          <a:prstGeom prst="rect">
            <a:avLst/>
          </a:prstGeom>
          <a:solidFill>
            <a:srgbClr val="1E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1725" y="904875"/>
            <a:ext cx="70104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1725" y="904875"/>
            <a:ext cx="9525" cy="504825"/>
          </a:xfrm>
          <a:prstGeom prst="rect">
            <a:avLst/>
          </a:prstGeom>
          <a:solidFill>
            <a:srgbClr val="A8C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50" y="4133850"/>
            <a:ext cx="8820150" cy="152400"/>
          </a:xfrm>
          <a:prstGeom prst="roundRect">
            <a:avLst>
              <a:gd name="adj" fmla="val 50000"/>
            </a:avLst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2525" y="4019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1550" y="4019550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575" y="3067050"/>
            <a:ext cx="1504950" cy="762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575" y="3067050"/>
            <a:ext cx="1504950" cy="381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67000" y="4400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6025" y="4019550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4050" y="4591050"/>
            <a:ext cx="1504950" cy="762000"/>
          </a:xfrm>
          <a:prstGeom prst="rect">
            <a:avLst/>
          </a:prstGeom>
          <a:solidFill>
            <a:srgbClr val="FDF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4050" y="4591050"/>
            <a:ext cx="1504950" cy="38100"/>
          </a:xfrm>
          <a:prstGeom prst="rect">
            <a:avLst/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1475" y="4019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00500" y="4019550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525" y="2895600"/>
            <a:ext cx="1504950" cy="93345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8525" y="2895600"/>
            <a:ext cx="1504950" cy="381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05475" y="4400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24500" y="4019550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62525" y="4591050"/>
            <a:ext cx="1504950" cy="762000"/>
          </a:xfrm>
          <a:prstGeom prst="rect">
            <a:avLst/>
          </a:prstGeom>
          <a:solidFill>
            <a:srgbClr val="FDF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62525" y="4591050"/>
            <a:ext cx="1504950" cy="38100"/>
          </a:xfrm>
          <a:prstGeom prst="rect">
            <a:avLst/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19950" y="4019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38975" y="4019550"/>
            <a:ext cx="381000" cy="381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0" y="3067050"/>
            <a:ext cx="1504950" cy="762000"/>
          </a:xfrm>
          <a:prstGeom prst="rect">
            <a:avLst/>
          </a:prstGeom>
          <a:solidFill>
            <a:srgbClr val="FDF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77000" y="3067050"/>
            <a:ext cx="1504950" cy="38100"/>
          </a:xfrm>
          <a:prstGeom prst="rect">
            <a:avLst/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34425" y="4400550"/>
            <a:ext cx="19050" cy="266700"/>
          </a:xfrm>
          <a:prstGeom prst="rect">
            <a:avLst/>
          </a:prstGeom>
          <a:solidFill>
            <a:srgbClr val="B9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53450" y="4019550"/>
            <a:ext cx="381000" cy="381000"/>
          </a:xfrm>
          <a:prstGeom prst="ellipse">
            <a:avLst/>
          </a:prstGeom>
          <a:solidFill>
            <a:srgbClr val="1B2431"/>
          </a:solidFill>
          <a:ln w="28575">
            <a:solidFill>
              <a:srgbClr val="1B24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475" y="4591050"/>
            <a:ext cx="1504950" cy="762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1475" y="4591050"/>
            <a:ext cx="1504950" cy="381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9248775" y="4057650"/>
            <a:ext cx="247650" cy="304800"/>
          </a:xfrm>
          <a:prstGeom prst="triangle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075" y="1047750"/>
            <a:ext cx="114300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7"/>
              </a:lnSpc>
            </a:pPr>
            <a:r>
              <a:rPr sz="712" b="1">
                <a:solidFill>
                  <a:srgbClr val="1E7A35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8700" y="1047750"/>
            <a:ext cx="114300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7"/>
              </a:lnSpc>
            </a:pPr>
            <a:r>
              <a:rPr sz="712" b="1">
                <a:solidFill>
                  <a:srgbClr val="1E7A35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2325" y="1047750"/>
            <a:ext cx="114300" cy="119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7"/>
              </a:lnSpc>
            </a:pPr>
            <a:r>
              <a:rPr sz="712" b="1">
                <a:solidFill>
                  <a:srgbClr val="1E7A35"/>
                </a:solidFill>
                <a:latin typeface="Arial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9100" y="1676400"/>
            <a:ext cx="152400" cy="28575"/>
          </a:xfrm>
          <a:prstGeom prst="rect">
            <a:avLst/>
          </a:prstGeom>
          <a:solidFill>
            <a:srgbClr val="E0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96325" y="1676400"/>
            <a:ext cx="152400" cy="28575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15375" y="228600"/>
            <a:ext cx="790575" cy="1943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30"/>
              </a:lnSpc>
            </a:pPr>
            <a:r>
              <a:rPr sz="1275" b="1" i="0" spc="76">
                <a:solidFill>
                  <a:srgbClr val="BC0018"/>
                </a:solidFill>
                <a:latin typeface="Arial"/>
              </a:rPr>
              <a:t>NOMURA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050" y="381000"/>
            <a:ext cx="91059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sz="2100" b="1" i="0">
                <a:solidFill>
                  <a:srgbClr val="1B2431"/>
                </a:solidFill>
                <a:latin typeface="Arial"/>
              </a:rPr>
              <a:t>Path forward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1975" y="904875"/>
            <a:ext cx="16764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89">
                <a:solidFill>
                  <a:srgbClr val="BC0018"/>
                </a:solidFill>
                <a:latin typeface="Arial"/>
              </a:rPr>
              <a:t>TODAY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975" y="1019175"/>
            <a:ext cx="1676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1087" b="1" i="0">
                <a:solidFill>
                  <a:srgbClr val="BC0018"/>
                </a:solidFill>
                <a:latin typeface="Arial"/>
              </a:rPr>
              <a:t>Development near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904875"/>
            <a:ext cx="6867525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83">
                <a:solidFill>
                  <a:srgbClr val="1E7A35"/>
                </a:solidFill>
                <a:latin typeface="Arial"/>
              </a:rPr>
              <a:t>EVERYTHING BEHIND THIS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28900" y="1047750"/>
            <a:ext cx="2085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Compare and match identified as the dominant theme.</a:t>
            </a:r>
            <a:r>
              <a:rPr sz="712" b="0" i="0">
                <a:solidFill>
                  <a:srgbClr val="2C5C38"/>
                </a:solidFill>
                <a:latin typeface="Arial"/>
              </a:rPr>
              <a:t> 80% of activities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62525" y="1047750"/>
            <a:ext cx="2085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Scope agreed with business.</a:t>
            </a:r>
            <a:r>
              <a:rPr sz="712" b="0" i="0">
                <a:solidFill>
                  <a:srgbClr val="2C5C38"/>
                </a:solidFill>
                <a:latin typeface="Arial"/>
              </a:rPr>
              <a:t> OTC settlements pre-matching, fresh counterparty emails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150" y="1047750"/>
            <a:ext cx="20859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sz="750" b="1" i="0">
                <a:solidFill>
                  <a:srgbClr val="1E7A35"/>
                </a:solidFill>
                <a:latin typeface="Arial"/>
              </a:rPr>
              <a:t>Build on ServiceNow.</a:t>
            </a:r>
            <a:r>
              <a:rPr sz="712" b="0" i="0">
                <a:solidFill>
                  <a:srgbClr val="2C5C38"/>
                </a:solidFill>
                <a:latin typeface="Arial"/>
              </a:rPr>
              <a:t> Ingestion, unstructured to structured and compare and match; Chinou LLM integrated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050" y="1638300"/>
            <a:ext cx="9144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1" i="0" spc="81">
                <a:solidFill>
                  <a:srgbClr val="BC0018"/>
                </a:solidFill>
                <a:latin typeface="Arial"/>
              </a:rPr>
              <a:t>THE ROAD AHEAD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9125" y="1638300"/>
            <a:ext cx="5238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>
                <a:solidFill>
                  <a:srgbClr val="5B6673"/>
                </a:solidFill>
                <a:latin typeface="Arial"/>
              </a:rPr>
              <a:t>Ongoing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6350" y="1638300"/>
            <a:ext cx="6096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10"/>
              </a:lnSpc>
            </a:pPr>
            <a:r>
              <a:rPr sz="675" b="0" i="0">
                <a:solidFill>
                  <a:srgbClr val="5B6673"/>
                </a:solidFill>
                <a:latin typeface="Arial"/>
              </a:rPr>
              <a:t>Yet to start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125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400" y="321945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01 · TBC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" y="3352800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End-user testing and feedback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47875" y="474345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02 · FROM 15-SEP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47875" y="4876800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NTI approvals cleared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29075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2350" y="304800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03 · FOLLOWS 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2350" y="3181350"/>
            <a:ext cx="125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Eval code to Nomura dev instance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3075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6350" y="474345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04 · 23 TO 30-OCT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86350" y="4876800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Licensing concluded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67550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0825" y="321945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05 · TBC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0825" y="3352800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Connected to internal 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82025" y="40481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5300" y="4743450"/>
            <a:ext cx="12573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"/>
              </a:lnSpc>
            </a:pPr>
            <a:r>
              <a:rPr sz="637" b="1" i="0" spc="70">
                <a:solidFill>
                  <a:srgbClr val="5B6673"/>
                </a:solidFill>
                <a:latin typeface="Arial"/>
              </a:rPr>
              <a:t>STEP 06 · TBC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5300" y="4876800"/>
            <a:ext cx="1257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>
                <a:solidFill>
                  <a:srgbClr val="1B2431"/>
                </a:solidFill>
                <a:latin typeface="Arial"/>
              </a:rPr>
              <a:t>Parallel run, go-live, hypercare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58350" y="6657975"/>
            <a:ext cx="571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</a:pPr>
            <a:r>
              <a:rPr sz="750" b="0" i="0" spc="60">
                <a:solidFill>
                  <a:srgbClr val="5B667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